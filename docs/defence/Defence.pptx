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7"/>
  </p:notesMasterIdLst>
  <p:sldIdLst>
    <p:sldId id="256" r:id="rId3"/>
    <p:sldId id="280" r:id="rId4"/>
    <p:sldId id="279" r:id="rId5"/>
    <p:sldId id="257" r:id="rId6"/>
    <p:sldId id="276" r:id="rId7"/>
    <p:sldId id="281" r:id="rId8"/>
    <p:sldId id="282" r:id="rId9"/>
    <p:sldId id="283" r:id="rId10"/>
    <p:sldId id="277" r:id="rId11"/>
    <p:sldId id="278" r:id="rId12"/>
    <p:sldId id="285" r:id="rId13"/>
    <p:sldId id="286" r:id="rId14"/>
    <p:sldId id="287" r:id="rId15"/>
    <p:sldId id="273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FFFFC0"/>
    <a:srgbClr val="FF0705"/>
    <a:srgbClr val="585858"/>
    <a:srgbClr val="336791"/>
    <a:srgbClr val="EF552E"/>
    <a:srgbClr val="262626"/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44" autoAdjust="0"/>
    <p:restoredTop sz="94660"/>
  </p:normalViewPr>
  <p:slideViewPr>
    <p:cSldViewPr snapToGrid="0">
      <p:cViewPr>
        <p:scale>
          <a:sx n="150" d="100"/>
          <a:sy n="150" d="100"/>
        </p:scale>
        <p:origin x="108" y="930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9BC80D90-3CDF-EE9F-B986-F854D868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AD4682FC-B3EC-2678-7D17-81881EEA6A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60675AA-EA3C-5205-EE90-0DD4170506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9757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4CDCF8BA-96C4-93FC-7D6C-BB497151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E5305BD-4ECF-43FE-2DCE-9A5170CF35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D25C066-D770-EFAE-D55A-CDBDBCE53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578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33C81560-8DE1-343F-2CE5-3720508C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FA68678-17EF-C4C5-E091-657DA27581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E34EECCF-D3ED-58B6-CAF9-F03E047F23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4260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22FCF4-424B-BE31-2085-4D3750C3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711EBA4-37FD-4F93-A16F-C27A00BD11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DDA07EBF-D098-17D5-80CF-FBA54C6D4A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07714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4ABFAA4-0D5F-2C11-7FD1-737AFEC36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BCECB95F-8073-09EF-BE97-02741F289F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50403A7B-AF7D-2673-853C-086ED7C5E4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7742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147EA35-C048-03B5-3B2A-D97327898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A501384-DA99-AE86-BB52-079F9840A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81D3174D-B695-A353-C208-F6C9ABBB6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4881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0CFDF225-9D6C-070C-7AA2-498661D94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E1E9E779-8DA5-DD3F-C5A3-D7087099B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52B3448-BA03-99AE-1050-A4AFA513BD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4627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5736AA4C-64C7-241C-91A2-B8270FA9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B188B41-0D99-2904-401A-F6B57A1D3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A39897C0-1FF6-78B2-1504-54B4031A85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83432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0.png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7" r:id="rId55"/>
    <p:sldLayoutId id="2147483718" r:id="rId56"/>
    <p:sldLayoutId id="2147483719" r:id="rId57"/>
    <p:sldLayoutId id="2147483720" r:id="rId58"/>
    <p:sldLayoutId id="2147483721" r:id="rId59"/>
    <p:sldLayoutId id="2147483722" r:id="rId60"/>
    <p:sldLayoutId id="2147483723" r:id="rId61"/>
    <p:sldLayoutId id="2147483724" r:id="rId62"/>
    <p:sldLayoutId id="2147483725" r:id="rId63"/>
    <p:sldLayoutId id="2147483726" r:id="rId64"/>
    <p:sldLayoutId id="2147483727" r:id="rId65"/>
    <p:sldLayoutId id="2147483728" r:id="rId66"/>
    <p:sldLayoutId id="2147483729" r:id="rId67"/>
    <p:sldLayoutId id="2147483730" r:id="rId68"/>
    <p:sldLayoutId id="2147483731" r:id="rId69"/>
    <p:sldLayoutId id="2147483732" r:id="rId70"/>
    <p:sldLayoutId id="2147483733" r:id="rId71"/>
    <p:sldLayoutId id="2147483734" r:id="rId7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sv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39.png"/><Relationship Id="rId18" Type="http://schemas.openxmlformats.org/officeDocument/2006/relationships/image" Target="../media/image42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38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3.png"/><Relationship Id="rId11" Type="http://schemas.openxmlformats.org/officeDocument/2006/relationships/image" Target="../media/image37.png"/><Relationship Id="rId5" Type="http://schemas.openxmlformats.org/officeDocument/2006/relationships/image" Target="../media/image32.png"/><Relationship Id="rId15" Type="http://schemas.openxmlformats.org/officeDocument/2006/relationships/image" Target="../media/image24.png"/><Relationship Id="rId10" Type="http://schemas.openxmlformats.org/officeDocument/2006/relationships/image" Target="../media/image36.png"/><Relationship Id="rId4" Type="http://schemas.openxmlformats.org/officeDocument/2006/relationships/image" Target="../media/image31.png"/><Relationship Id="rId9" Type="http://schemas.openxmlformats.org/officeDocument/2006/relationships/image" Target="../media/image23.pn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2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4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45.png"/><Relationship Id="rId18" Type="http://schemas.openxmlformats.org/officeDocument/2006/relationships/image" Target="../media/image32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12" Type="http://schemas.openxmlformats.org/officeDocument/2006/relationships/image" Target="../media/image44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11" Type="http://schemas.openxmlformats.org/officeDocument/2006/relationships/image" Target="../media/image43.png"/><Relationship Id="rId5" Type="http://schemas.openxmlformats.org/officeDocument/2006/relationships/image" Target="../media/image35.png"/><Relationship Id="rId15" Type="http://schemas.openxmlformats.org/officeDocument/2006/relationships/image" Target="../media/image26.png"/><Relationship Id="rId10" Type="http://schemas.openxmlformats.org/officeDocument/2006/relationships/image" Target="../media/image31.png"/><Relationship Id="rId19" Type="http://schemas.openxmlformats.org/officeDocument/2006/relationships/image" Target="../media/image42.png"/><Relationship Id="rId4" Type="http://schemas.openxmlformats.org/officeDocument/2006/relationships/image" Target="../media/image33.png"/><Relationship Id="rId9" Type="http://schemas.openxmlformats.org/officeDocument/2006/relationships/image" Target="../media/image36.png"/><Relationship Id="rId1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3.png"/><Relationship Id="rId5" Type="http://schemas.openxmlformats.org/officeDocument/2006/relationships/image" Target="../media/image27.png"/><Relationship Id="rId10" Type="http://schemas.openxmlformats.org/officeDocument/2006/relationships/image" Target="../media/image45.png"/><Relationship Id="rId4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3.xml"/><Relationship Id="rId6" Type="http://schemas.openxmlformats.org/officeDocument/2006/relationships/image" Target="../media/image51.gif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Defence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153FF118-5BF2-54C9-49B7-D55F38C9A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86E09FE-D9E4-A375-07F2-5FC012A39A4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Motivation &amp; Objectives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043CDD73-932C-53F0-5FFB-7F01798092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087780C-7F2F-998D-C44D-E7DF20CCC24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8068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30460230-DC4A-FBDA-D54A-FCB81BE0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5FF86D-7528-C5BE-FEEB-F35CD53B0B11}"/>
              </a:ext>
            </a:extLst>
          </p:cNvPr>
          <p:cNvSpPr/>
          <p:nvPr/>
        </p:nvSpPr>
        <p:spPr>
          <a:xfrm>
            <a:off x="709544" y="1447339"/>
            <a:ext cx="7664173" cy="198285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CB0A6E1-73E1-2370-D612-F3084943B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127650"/>
              </p:ext>
            </p:extLst>
          </p:nvPr>
        </p:nvGraphicFramePr>
        <p:xfrm>
          <a:off x="770725" y="1539702"/>
          <a:ext cx="7523035" cy="17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607">
                  <a:extLst>
                    <a:ext uri="{9D8B030D-6E8A-4147-A177-3AD203B41FA5}">
                      <a16:colId xmlns:a16="http://schemas.microsoft.com/office/drawing/2014/main" val="4240830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207326481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011442136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157947457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2907646003"/>
                    </a:ext>
                  </a:extLst>
                </a:gridCol>
              </a:tblGrid>
              <a:tr h="599237">
                <a:tc>
                  <a:txBody>
                    <a:bodyPr/>
                    <a:lstStyle/>
                    <a:p>
                      <a:r>
                        <a:rPr lang="en-US" dirty="0"/>
                        <a:t>Frontend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Workflow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Monitoring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655577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4828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848736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4E1C042B-B55F-8898-B5E6-C98C34B21286}"/>
              </a:ext>
            </a:extLst>
          </p:cNvPr>
          <p:cNvSpPr/>
          <p:nvPr/>
        </p:nvSpPr>
        <p:spPr>
          <a:xfrm>
            <a:off x="88932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18E242-7BE0-85F6-4AC0-F97166A6C6E5}"/>
              </a:ext>
            </a:extLst>
          </p:cNvPr>
          <p:cNvSpPr/>
          <p:nvPr/>
        </p:nvSpPr>
        <p:spPr>
          <a:xfrm>
            <a:off x="239224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EC2DF-1561-D453-9750-35163361AE45}"/>
              </a:ext>
            </a:extLst>
          </p:cNvPr>
          <p:cNvSpPr/>
          <p:nvPr/>
        </p:nvSpPr>
        <p:spPr>
          <a:xfrm>
            <a:off x="3903593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B20746-9E81-C098-D2AB-5C1D9B27EF68}"/>
              </a:ext>
            </a:extLst>
          </p:cNvPr>
          <p:cNvSpPr/>
          <p:nvPr/>
        </p:nvSpPr>
        <p:spPr>
          <a:xfrm>
            <a:off x="540651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D0056AC-D77C-7CE2-4EB4-119DA7E73BB1}"/>
              </a:ext>
            </a:extLst>
          </p:cNvPr>
          <p:cNvSpPr/>
          <p:nvPr/>
        </p:nvSpPr>
        <p:spPr>
          <a:xfrm>
            <a:off x="690943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C5AB23-BD00-07B3-BEA9-B076EFF3CC93}"/>
              </a:ext>
            </a:extLst>
          </p:cNvPr>
          <p:cNvSpPr/>
          <p:nvPr/>
        </p:nvSpPr>
        <p:spPr>
          <a:xfrm>
            <a:off x="88932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0F8F97-60CF-5F87-0F83-B6AADDA0ADC6}"/>
              </a:ext>
            </a:extLst>
          </p:cNvPr>
          <p:cNvSpPr/>
          <p:nvPr/>
        </p:nvSpPr>
        <p:spPr>
          <a:xfrm>
            <a:off x="239224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F81BB-9BD9-1278-53A2-0C24827FE2C8}"/>
              </a:ext>
            </a:extLst>
          </p:cNvPr>
          <p:cNvSpPr/>
          <p:nvPr/>
        </p:nvSpPr>
        <p:spPr>
          <a:xfrm>
            <a:off x="3903593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685F019-4642-F6E0-A84F-5C7C990BD0D8}"/>
              </a:ext>
            </a:extLst>
          </p:cNvPr>
          <p:cNvSpPr/>
          <p:nvPr/>
        </p:nvSpPr>
        <p:spPr>
          <a:xfrm>
            <a:off x="540651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D53DD0D-7034-40CB-6890-FC1BAAC4F535}"/>
              </a:ext>
            </a:extLst>
          </p:cNvPr>
          <p:cNvSpPr/>
          <p:nvPr/>
        </p:nvSpPr>
        <p:spPr>
          <a:xfrm>
            <a:off x="690943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6F5A1E8-1EC5-BEC6-C35D-B44FA698FBF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Tech stack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07B7935-F342-9585-3BB0-8B58748079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F5467453-AF2A-A5D1-0386-ADBFE3BA63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Picture 712">
            <a:extLst>
              <a:ext uri="{FF2B5EF4-FFF2-40B4-BE49-F238E27FC236}">
                <a16:creationId xmlns:a16="http://schemas.microsoft.com/office/drawing/2014/main" id="{AD8CEF48-CB9C-19E2-EBC2-2AB8B9F3F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7013" y="2369980"/>
            <a:ext cx="773924" cy="142814"/>
          </a:xfrm>
          <a:prstGeom prst="rect">
            <a:avLst/>
          </a:prstGeom>
        </p:spPr>
      </p:pic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28114944-216A-5077-971C-C1FDF782E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812" y="2304716"/>
            <a:ext cx="245547" cy="2532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29D334-5F8A-FC02-26BB-93FEF818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1196" y="2298441"/>
            <a:ext cx="736364" cy="2857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9942DF-679E-251C-B66D-9434CFC1A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730" y="2333447"/>
            <a:ext cx="1175839" cy="2158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268635-B030-E0CA-7676-4CE0296EC7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154" y="2299911"/>
            <a:ext cx="266387" cy="26638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4B193C8-063D-BA76-F24D-BE2CC2EA4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38576" y="2918039"/>
            <a:ext cx="973070" cy="23756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C438AB-FC16-9D0D-B8A5-54A4BEF8C9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0155" y="2897288"/>
            <a:ext cx="744115" cy="28028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103D174-4CAD-E662-5D14-2468D456B831}"/>
              </a:ext>
            </a:extLst>
          </p:cNvPr>
          <p:cNvSpPr txBox="1"/>
          <p:nvPr/>
        </p:nvSpPr>
        <p:spPr>
          <a:xfrm>
            <a:off x="7227834" y="2294604"/>
            <a:ext cx="10066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F552E"/>
                </a:solidFill>
              </a:rPr>
              <a:t>Prometheus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F35DCC-E3E3-31E5-0F51-52967482C28D}"/>
              </a:ext>
            </a:extLst>
          </p:cNvPr>
          <p:cNvSpPr txBox="1"/>
          <p:nvPr/>
        </p:nvSpPr>
        <p:spPr>
          <a:xfrm>
            <a:off x="4196736" y="2295558"/>
            <a:ext cx="1129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Postgre</a:t>
            </a:r>
            <a:r>
              <a:rPr lang="en-US" sz="1200" dirty="0">
                <a:solidFill>
                  <a:srgbClr val="336791"/>
                </a:solidFill>
              </a:rPr>
              <a:t>SQL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BEDCF0-225C-38E3-A986-DABE7C79C9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85812" y="2911163"/>
            <a:ext cx="1098275" cy="24108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7EFF7D95-9A16-06B3-5853-3583C22384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653" y="2920739"/>
            <a:ext cx="973070" cy="237566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ED5B258F-AFC6-B8BC-6D40-14E31EA9F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54495" y="2910314"/>
            <a:ext cx="973070" cy="237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881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05945" y="546653"/>
            <a:ext cx="7622715" cy="407007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3438876" y="1748938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7121" y="2231011"/>
              <a:ext cx="299163" cy="299163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2930621" y="756895"/>
            <a:ext cx="1874928" cy="423153"/>
            <a:chOff x="952134" y="2258330"/>
            <a:chExt cx="1874928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952134" y="2258330"/>
              <a:ext cx="1874928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 err="1"/>
                <a:t>Arbeitsagentur</a:t>
              </a:r>
              <a:r>
                <a:rPr lang="en-US" sz="1200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7978" y="2316101"/>
              <a:ext cx="326543" cy="326543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991" y="1750129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768" y="1748938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3851910" y="1257177"/>
            <a:ext cx="1580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5073" y="3439301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3868085" y="1180048"/>
            <a:ext cx="3" cy="5688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573271" y="1724195"/>
            <a:ext cx="1856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6612918" y="1519296"/>
            <a:ext cx="1113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(for indexing)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756203" y="2184533"/>
            <a:ext cx="1077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 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0160" y="3980795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1521" y="3423026"/>
            <a:ext cx="690489" cy="509775"/>
          </a:xfrm>
          <a:prstGeom prst="rect">
            <a:avLst/>
          </a:prstGeom>
        </p:spPr>
      </p:pic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25551" y="3993350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23592" y="3123955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761" y="3578758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cxnSpLocks/>
            <a:stCxn id="661" idx="1"/>
            <a:endCxn id="723" idx="3"/>
          </p:cNvCxnSpPr>
          <p:nvPr/>
        </p:nvCxnSpPr>
        <p:spPr>
          <a:xfrm flipH="1" flipV="1">
            <a:off x="2223749" y="3277844"/>
            <a:ext cx="571324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226582" y="3694189"/>
            <a:ext cx="568491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194019" y="3694189"/>
            <a:ext cx="601054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4297300" y="1960515"/>
            <a:ext cx="1850691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3513132" y="3234168"/>
            <a:ext cx="1267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(ordered) jobs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 statistics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290" y="3411669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517977" y="3119061"/>
            <a:ext cx="307907" cy="1173757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509264" y="1960515"/>
            <a:ext cx="1929612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756204" y="620303"/>
            <a:ext cx="5119893" cy="1883507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756203" y="2740982"/>
            <a:ext cx="5119894" cy="178282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756203" y="620303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766079" y="2754037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3646" y="1432798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87069" y="3965352"/>
            <a:ext cx="857296" cy="157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42F1A4-C140-4460-3CA0-48A6F4C1847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92724" y="1435563"/>
            <a:ext cx="253705" cy="2799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A23106-2A25-7B27-978E-FD3725DB8F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435" y="1748938"/>
            <a:ext cx="473331" cy="42315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793FD6-EB05-0FC5-0AE0-D969175F3D22}"/>
              </a:ext>
            </a:extLst>
          </p:cNvPr>
          <p:cNvCxnSpPr>
            <a:cxnSpLocks/>
            <a:stCxn id="44" idx="3"/>
            <a:endCxn id="18" idx="1"/>
          </p:cNvCxnSpPr>
          <p:nvPr/>
        </p:nvCxnSpPr>
        <p:spPr>
          <a:xfrm flipV="1">
            <a:off x="6621322" y="1960515"/>
            <a:ext cx="1121113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9DE97DCC-3122-A5DE-835F-1CCBF7C99D7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37742" y="1439158"/>
            <a:ext cx="282715" cy="282715"/>
          </a:xfrm>
          <a:prstGeom prst="rect">
            <a:avLst/>
          </a:prstGeom>
        </p:spPr>
      </p:pic>
      <p:cxnSp>
        <p:nvCxnSpPr>
          <p:cNvPr id="588" name="Straight Arrow Connector 587">
            <a:extLst>
              <a:ext uri="{FF2B5EF4-FFF2-40B4-BE49-F238E27FC236}">
                <a16:creationId xmlns:a16="http://schemas.microsoft.com/office/drawing/2014/main" id="{184FC1D6-6717-58A9-46F8-8C3C86B99327}"/>
              </a:ext>
            </a:extLst>
          </p:cNvPr>
          <p:cNvCxnSpPr>
            <a:cxnSpLocks/>
            <a:stCxn id="715" idx="1"/>
            <a:endCxn id="661" idx="3"/>
          </p:cNvCxnSpPr>
          <p:nvPr/>
        </p:nvCxnSpPr>
        <p:spPr>
          <a:xfrm flipH="1">
            <a:off x="3436362" y="3677914"/>
            <a:ext cx="1305159" cy="162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5" name="Rectangle 604">
            <a:extLst>
              <a:ext uri="{FF2B5EF4-FFF2-40B4-BE49-F238E27FC236}">
                <a16:creationId xmlns:a16="http://schemas.microsoft.com/office/drawing/2014/main" id="{BB537319-88C9-3161-B33D-8543292F34CA}"/>
              </a:ext>
            </a:extLst>
          </p:cNvPr>
          <p:cNvSpPr/>
          <p:nvPr/>
        </p:nvSpPr>
        <p:spPr>
          <a:xfrm>
            <a:off x="5275518" y="3423025"/>
            <a:ext cx="156492" cy="287438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C5B58E3C-8158-F84D-D865-BA372312EAA2}"/>
              </a:ext>
            </a:extLst>
          </p:cNvPr>
          <p:cNvSpPr/>
          <p:nvPr/>
        </p:nvSpPr>
        <p:spPr>
          <a:xfrm>
            <a:off x="5275518" y="3677914"/>
            <a:ext cx="156492" cy="318880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1" name="Connector: Elbow 610">
            <a:extLst>
              <a:ext uri="{FF2B5EF4-FFF2-40B4-BE49-F238E27FC236}">
                <a16:creationId xmlns:a16="http://schemas.microsoft.com/office/drawing/2014/main" id="{1BBD5613-37FE-E1FD-8160-109F1F602399}"/>
              </a:ext>
            </a:extLst>
          </p:cNvPr>
          <p:cNvCxnSpPr>
            <a:cxnSpLocks/>
            <a:stCxn id="44" idx="2"/>
            <a:endCxn id="605" idx="3"/>
          </p:cNvCxnSpPr>
          <p:nvPr/>
        </p:nvCxnSpPr>
        <p:spPr>
          <a:xfrm rot="5400000">
            <a:off x="5211603" y="2393690"/>
            <a:ext cx="1393462" cy="95264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: Elbow 633">
            <a:extLst>
              <a:ext uri="{FF2B5EF4-FFF2-40B4-BE49-F238E27FC236}">
                <a16:creationId xmlns:a16="http://schemas.microsoft.com/office/drawing/2014/main" id="{B2EDC0BF-AFC2-0DCD-5B2E-9F9DFBB09E6B}"/>
              </a:ext>
            </a:extLst>
          </p:cNvPr>
          <p:cNvCxnSpPr>
            <a:cxnSpLocks/>
            <a:stCxn id="18" idx="2"/>
            <a:endCxn id="609" idx="3"/>
          </p:cNvCxnSpPr>
          <p:nvPr/>
        </p:nvCxnSpPr>
        <p:spPr>
          <a:xfrm rot="5400000">
            <a:off x="5872925" y="1731177"/>
            <a:ext cx="1665263" cy="2547091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B6EFF458-9E48-A793-431D-50C56334DC54}"/>
              </a:ext>
            </a:extLst>
          </p:cNvPr>
          <p:cNvSpPr txBox="1"/>
          <p:nvPr/>
        </p:nvSpPr>
        <p:spPr>
          <a:xfrm>
            <a:off x="4445402" y="1693939"/>
            <a:ext cx="144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structured job data</a:t>
            </a:r>
          </a:p>
        </p:txBody>
      </p:sp>
      <p:sp>
        <p:nvSpPr>
          <p:cNvPr id="677" name="TextBox 676">
            <a:extLst>
              <a:ext uri="{FF2B5EF4-FFF2-40B4-BE49-F238E27FC236}">
                <a16:creationId xmlns:a16="http://schemas.microsoft.com/office/drawing/2014/main" id="{360B69CB-B9B6-034D-EA88-83EE80188FF7}"/>
              </a:ext>
            </a:extLst>
          </p:cNvPr>
          <p:cNvSpPr txBox="1"/>
          <p:nvPr/>
        </p:nvSpPr>
        <p:spPr>
          <a:xfrm rot="16200000">
            <a:off x="5556076" y="2730322"/>
            <a:ext cx="1393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statistics</a:t>
            </a:r>
          </a:p>
        </p:txBody>
      </p:sp>
      <p:sp>
        <p:nvSpPr>
          <p:cNvPr id="682" name="TextBox 681">
            <a:extLst>
              <a:ext uri="{FF2B5EF4-FFF2-40B4-BE49-F238E27FC236}">
                <a16:creationId xmlns:a16="http://schemas.microsoft.com/office/drawing/2014/main" id="{D7776ED6-C7CE-73AE-5C84-FDC04C1FA984}"/>
              </a:ext>
            </a:extLst>
          </p:cNvPr>
          <p:cNvSpPr txBox="1"/>
          <p:nvPr/>
        </p:nvSpPr>
        <p:spPr>
          <a:xfrm rot="16200000">
            <a:off x="7029970" y="2852066"/>
            <a:ext cx="1675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ranked job IDs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99041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68336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68336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68338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Data Ingestion &amp; Enrichment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6245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080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626651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945951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448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323397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330310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325387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5453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86773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202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93581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234912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67982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70496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309313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644897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58441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90270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632842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742944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234912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503185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503185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309313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975EE54-85E5-3D7E-6B24-B886D2DB4A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5975" y="729713"/>
            <a:ext cx="253705" cy="279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95C1F3-4ABB-3509-9B36-3EC51D910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3201" y="2137864"/>
            <a:ext cx="253705" cy="27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86BCAE19-626F-0A4C-20D7-09916762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35DCA47-32C4-3F81-5E1F-3545BA4DAB9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From Job Advertisements to Comparable Data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E52905AB-80C8-4057-C442-3DC5527B7A4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332F1C11-21A7-EA60-2DB3-5D3A8339AC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6304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934A105-1565-8E9E-79D9-C08D8FB30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Rectangle 769">
            <a:extLst>
              <a:ext uri="{FF2B5EF4-FFF2-40B4-BE49-F238E27FC236}">
                <a16:creationId xmlns:a16="http://schemas.microsoft.com/office/drawing/2014/main" id="{F3188604-7F83-AF2E-AFE4-C0D7A6FE202C}"/>
              </a:ext>
            </a:extLst>
          </p:cNvPr>
          <p:cNvSpPr/>
          <p:nvPr/>
        </p:nvSpPr>
        <p:spPr>
          <a:xfrm>
            <a:off x="760414" y="1256612"/>
            <a:ext cx="7672386" cy="32249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4" name="Rectangle: Rounded Corners 613">
            <a:extLst>
              <a:ext uri="{FF2B5EF4-FFF2-40B4-BE49-F238E27FC236}">
                <a16:creationId xmlns:a16="http://schemas.microsoft.com/office/drawing/2014/main" id="{A359472B-AA9D-49AF-F703-5E0F188125BA}"/>
              </a:ext>
            </a:extLst>
          </p:cNvPr>
          <p:cNvSpPr/>
          <p:nvPr/>
        </p:nvSpPr>
        <p:spPr>
          <a:xfrm>
            <a:off x="1266819" y="2751022"/>
            <a:ext cx="2015806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first_publication_date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republish_count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←0</a:t>
            </a:r>
          </a:p>
        </p:txBody>
      </p:sp>
      <p:sp>
        <p:nvSpPr>
          <p:cNvPr id="606" name="Diamond 605">
            <a:extLst>
              <a:ext uri="{FF2B5EF4-FFF2-40B4-BE49-F238E27FC236}">
                <a16:creationId xmlns:a16="http://schemas.microsoft.com/office/drawing/2014/main" id="{485896DF-E7D8-7E7F-C967-F92F681B27B9}"/>
              </a:ext>
            </a:extLst>
          </p:cNvPr>
          <p:cNvSpPr/>
          <p:nvPr/>
        </p:nvSpPr>
        <p:spPr>
          <a:xfrm>
            <a:off x="5827407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 date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changed?</a:t>
            </a:r>
          </a:p>
        </p:txBody>
      </p:sp>
      <p:sp>
        <p:nvSpPr>
          <p:cNvPr id="612" name="Diamond 611">
            <a:extLst>
              <a:ext uri="{FF2B5EF4-FFF2-40B4-BE49-F238E27FC236}">
                <a16:creationId xmlns:a16="http://schemas.microsoft.com/office/drawing/2014/main" id="{FBDF46A3-F257-9BD4-F988-ECBA28A4EA4A}"/>
              </a:ext>
            </a:extLst>
          </p:cNvPr>
          <p:cNvSpPr/>
          <p:nvPr/>
        </p:nvSpPr>
        <p:spPr>
          <a:xfrm>
            <a:off x="3642875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Has </a:t>
            </a:r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changed?</a:t>
            </a:r>
          </a:p>
        </p:txBody>
      </p:sp>
      <p:sp>
        <p:nvSpPr>
          <p:cNvPr id="616" name="Rectangle: Rounded Corners 615">
            <a:extLst>
              <a:ext uri="{FF2B5EF4-FFF2-40B4-BE49-F238E27FC236}">
                <a16:creationId xmlns:a16="http://schemas.microsoft.com/office/drawing/2014/main" id="{AB0F2FF9-9428-5761-E4BB-6AAB4C36EA8A}"/>
              </a:ext>
            </a:extLst>
          </p:cNvPr>
          <p:cNvSpPr/>
          <p:nvPr/>
        </p:nvSpPr>
        <p:spPr>
          <a:xfrm>
            <a:off x="3445986" y="2751023"/>
            <a:ext cx="2015806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modified_at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JSON</a:t>
            </a:r>
            <a:endParaRPr lang="en-US" sz="1000" i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republish_count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← 0</a:t>
            </a:r>
          </a:p>
        </p:txBody>
      </p:sp>
      <p:sp>
        <p:nvSpPr>
          <p:cNvPr id="671" name="Rectangle: Rounded Corners 670">
            <a:extLst>
              <a:ext uri="{FF2B5EF4-FFF2-40B4-BE49-F238E27FC236}">
                <a16:creationId xmlns:a16="http://schemas.microsoft.com/office/drawing/2014/main" id="{071FCF9E-3303-1387-5DD1-F0E80D53215C}"/>
              </a:ext>
            </a:extLst>
          </p:cNvPr>
          <p:cNvSpPr/>
          <p:nvPr/>
        </p:nvSpPr>
        <p:spPr>
          <a:xfrm>
            <a:off x="5630518" y="2751022"/>
            <a:ext cx="2015806" cy="1051589"/>
          </a:xfrm>
          <a:prstGeom prst="roundRect">
            <a:avLst>
              <a:gd name="adj" fmla="val 35334"/>
            </a:avLst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publication_date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← JSON</a:t>
            </a:r>
          </a:p>
          <a:p>
            <a:r>
              <a:rPr lang="en-US" sz="1000" i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republish_count</a:t>
            </a:r>
            <a:r>
              <a:rPr lang="en-US" sz="10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++</a:t>
            </a:r>
            <a:endParaRPr lang="en-US" sz="1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686" name="Diamond 685">
            <a:extLst>
              <a:ext uri="{FF2B5EF4-FFF2-40B4-BE49-F238E27FC236}">
                <a16:creationId xmlns:a16="http://schemas.microsoft.com/office/drawing/2014/main" id="{13C611E5-5462-A97D-D3B5-FF2419235E6B}"/>
              </a:ext>
            </a:extLst>
          </p:cNvPr>
          <p:cNvSpPr/>
          <p:nvPr/>
        </p:nvSpPr>
        <p:spPr>
          <a:xfrm>
            <a:off x="1463708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</a:t>
            </a:r>
            <a:r>
              <a:rPr lang="en-US" sz="1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i</a:t>
            </a:r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database?</a:t>
            </a:r>
          </a:p>
        </p:txBody>
      </p:sp>
      <p:sp>
        <p:nvSpPr>
          <p:cNvPr id="684" name="Oval 683">
            <a:extLst>
              <a:ext uri="{FF2B5EF4-FFF2-40B4-BE49-F238E27FC236}">
                <a16:creationId xmlns:a16="http://schemas.microsoft.com/office/drawing/2014/main" id="{F57A6728-491F-D2E8-B867-69D3AEFBEAD2}"/>
              </a:ext>
            </a:extLst>
          </p:cNvPr>
          <p:cNvSpPr/>
          <p:nvPr/>
        </p:nvSpPr>
        <p:spPr>
          <a:xfrm>
            <a:off x="846525" y="1804547"/>
            <a:ext cx="246221" cy="246221"/>
          </a:xfrm>
          <a:prstGeom prst="ellipse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A3304F64-3404-0A9D-002F-CCC069DA069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Tracking Job Freshness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89C5C5E-FCD5-3523-1CE8-149488591D0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68986EA9-AE22-73FE-AF3D-0D16234CB3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7A35B76-BFE6-5162-98B2-4E3E200FEFE4}"/>
              </a:ext>
            </a:extLst>
          </p:cNvPr>
          <p:cNvSpPr txBox="1"/>
          <p:nvPr/>
        </p:nvSpPr>
        <p:spPr>
          <a:xfrm>
            <a:off x="198000" y="707612"/>
            <a:ext cx="80447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Problem: </a:t>
            </a:r>
            <a:r>
              <a:rPr lang="en-US" dirty="0"/>
              <a:t>recent publication date ≠ necessarily a fresh advertisement.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07FA96-9EA1-B03A-B8EA-3EA59A741B61}"/>
              </a:ext>
            </a:extLst>
          </p:cNvPr>
          <p:cNvSpPr txBox="1"/>
          <p:nvPr/>
        </p:nvSpPr>
        <p:spPr>
          <a:xfrm>
            <a:off x="5252647" y="1673153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7B6FD4-B700-AAF8-7DFB-B08145EC6F33}"/>
              </a:ext>
            </a:extLst>
          </p:cNvPr>
          <p:cNvSpPr txBox="1"/>
          <p:nvPr/>
        </p:nvSpPr>
        <p:spPr>
          <a:xfrm>
            <a:off x="2272039" y="2413576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sp>
        <p:nvSpPr>
          <p:cNvPr id="610" name="Diamond 609">
            <a:extLst>
              <a:ext uri="{FF2B5EF4-FFF2-40B4-BE49-F238E27FC236}">
                <a16:creationId xmlns:a16="http://schemas.microsoft.com/office/drawing/2014/main" id="{70B4DA29-A513-81A7-9DBA-A28C213AD9F1}"/>
              </a:ext>
            </a:extLst>
          </p:cNvPr>
          <p:cNvSpPr/>
          <p:nvPr/>
        </p:nvSpPr>
        <p:spPr>
          <a:xfrm>
            <a:off x="1463708" y="1435886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in database?</a:t>
            </a:r>
          </a:p>
        </p:txBody>
      </p:sp>
      <p:cxnSp>
        <p:nvCxnSpPr>
          <p:cNvPr id="618" name="Straight Arrow Connector 617">
            <a:extLst>
              <a:ext uri="{FF2B5EF4-FFF2-40B4-BE49-F238E27FC236}">
                <a16:creationId xmlns:a16="http://schemas.microsoft.com/office/drawing/2014/main" id="{2316646D-327D-6316-3F14-6D7784A6FC31}"/>
              </a:ext>
            </a:extLst>
          </p:cNvPr>
          <p:cNvCxnSpPr>
            <a:cxnSpLocks/>
            <a:stCxn id="610" idx="2"/>
            <a:endCxn id="614" idx="0"/>
          </p:cNvCxnSpPr>
          <p:nvPr/>
        </p:nvCxnSpPr>
        <p:spPr>
          <a:xfrm>
            <a:off x="2274722" y="2419430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7" name="TextBox 626">
            <a:extLst>
              <a:ext uri="{FF2B5EF4-FFF2-40B4-BE49-F238E27FC236}">
                <a16:creationId xmlns:a16="http://schemas.microsoft.com/office/drawing/2014/main" id="{6C2D0345-CB40-0E8E-46A0-51BA763268DE}"/>
              </a:ext>
            </a:extLst>
          </p:cNvPr>
          <p:cNvSpPr txBox="1"/>
          <p:nvPr/>
        </p:nvSpPr>
        <p:spPr>
          <a:xfrm>
            <a:off x="3068115" y="1660937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28" name="Straight Arrow Connector 627">
            <a:extLst>
              <a:ext uri="{FF2B5EF4-FFF2-40B4-BE49-F238E27FC236}">
                <a16:creationId xmlns:a16="http://schemas.microsoft.com/office/drawing/2014/main" id="{889D8635-6302-837F-0E2D-229DB13CD3FF}"/>
              </a:ext>
            </a:extLst>
          </p:cNvPr>
          <p:cNvCxnSpPr>
            <a:cxnSpLocks/>
            <a:stCxn id="612" idx="2"/>
            <a:endCxn id="616" idx="0"/>
          </p:cNvCxnSpPr>
          <p:nvPr/>
        </p:nvCxnSpPr>
        <p:spPr>
          <a:xfrm>
            <a:off x="4453889" y="2419430"/>
            <a:ext cx="0" cy="33159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1" name="TextBox 630">
            <a:extLst>
              <a:ext uri="{FF2B5EF4-FFF2-40B4-BE49-F238E27FC236}">
                <a16:creationId xmlns:a16="http://schemas.microsoft.com/office/drawing/2014/main" id="{064D94B8-7239-DCFD-8FEC-35CD6F0D07B9}"/>
              </a:ext>
            </a:extLst>
          </p:cNvPr>
          <p:cNvSpPr txBox="1"/>
          <p:nvPr/>
        </p:nvSpPr>
        <p:spPr>
          <a:xfrm>
            <a:off x="6633053" y="2413575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cxnSp>
        <p:nvCxnSpPr>
          <p:cNvPr id="632" name="Straight Arrow Connector 631">
            <a:extLst>
              <a:ext uri="{FF2B5EF4-FFF2-40B4-BE49-F238E27FC236}">
                <a16:creationId xmlns:a16="http://schemas.microsoft.com/office/drawing/2014/main" id="{504E5490-2DFE-145D-3803-262EA3C0FC52}"/>
              </a:ext>
            </a:extLst>
          </p:cNvPr>
          <p:cNvCxnSpPr>
            <a:cxnSpLocks/>
            <a:stCxn id="606" idx="2"/>
            <a:endCxn id="671" idx="0"/>
          </p:cNvCxnSpPr>
          <p:nvPr/>
        </p:nvCxnSpPr>
        <p:spPr>
          <a:xfrm>
            <a:off x="6638421" y="2419430"/>
            <a:ext cx="0" cy="331592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Straight Arrow Connector 633">
            <a:extLst>
              <a:ext uri="{FF2B5EF4-FFF2-40B4-BE49-F238E27FC236}">
                <a16:creationId xmlns:a16="http://schemas.microsoft.com/office/drawing/2014/main" id="{CFEF0901-5039-5D60-44A3-04E3DC451649}"/>
              </a:ext>
            </a:extLst>
          </p:cNvPr>
          <p:cNvCxnSpPr>
            <a:cxnSpLocks/>
            <a:stCxn id="612" idx="3"/>
            <a:endCxn id="606" idx="1"/>
          </p:cNvCxnSpPr>
          <p:nvPr/>
        </p:nvCxnSpPr>
        <p:spPr>
          <a:xfrm>
            <a:off x="5264903" y="1927658"/>
            <a:ext cx="562504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7" name="TextBox 636">
            <a:extLst>
              <a:ext uri="{FF2B5EF4-FFF2-40B4-BE49-F238E27FC236}">
                <a16:creationId xmlns:a16="http://schemas.microsoft.com/office/drawing/2014/main" id="{3844A637-66C6-8235-44E8-2F8346879F96}"/>
              </a:ext>
            </a:extLst>
          </p:cNvPr>
          <p:cNvSpPr txBox="1"/>
          <p:nvPr/>
        </p:nvSpPr>
        <p:spPr>
          <a:xfrm>
            <a:off x="7437179" y="1660936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no</a:t>
            </a:r>
          </a:p>
        </p:txBody>
      </p:sp>
      <p:cxnSp>
        <p:nvCxnSpPr>
          <p:cNvPr id="638" name="Straight Arrow Connector 637">
            <a:extLst>
              <a:ext uri="{FF2B5EF4-FFF2-40B4-BE49-F238E27FC236}">
                <a16:creationId xmlns:a16="http://schemas.microsoft.com/office/drawing/2014/main" id="{9243BF7D-2854-6532-9BF3-2D1543ACDE50}"/>
              </a:ext>
            </a:extLst>
          </p:cNvPr>
          <p:cNvCxnSpPr>
            <a:cxnSpLocks/>
            <a:stCxn id="606" idx="3"/>
            <a:endCxn id="649" idx="2"/>
          </p:cNvCxnSpPr>
          <p:nvPr/>
        </p:nvCxnSpPr>
        <p:spPr>
          <a:xfrm flipV="1">
            <a:off x="7449435" y="1919374"/>
            <a:ext cx="514575" cy="828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2" name="Group 651">
            <a:extLst>
              <a:ext uri="{FF2B5EF4-FFF2-40B4-BE49-F238E27FC236}">
                <a16:creationId xmlns:a16="http://schemas.microsoft.com/office/drawing/2014/main" id="{2502F8BC-E511-5D33-3476-2E7B6D392D5E}"/>
              </a:ext>
            </a:extLst>
          </p:cNvPr>
          <p:cNvGrpSpPr/>
          <p:nvPr/>
        </p:nvGrpSpPr>
        <p:grpSpPr>
          <a:xfrm>
            <a:off x="7964010" y="1735541"/>
            <a:ext cx="367665" cy="367665"/>
            <a:chOff x="7069437" y="3218381"/>
            <a:chExt cx="367665" cy="367665"/>
          </a:xfrm>
        </p:grpSpPr>
        <p:sp>
          <p:nvSpPr>
            <p:cNvPr id="649" name="Oval 648">
              <a:extLst>
                <a:ext uri="{FF2B5EF4-FFF2-40B4-BE49-F238E27FC236}">
                  <a16:creationId xmlns:a16="http://schemas.microsoft.com/office/drawing/2014/main" id="{A4DBFF19-1601-5A82-EB92-507FBF47D1B8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1" name="Oval 650">
              <a:extLst>
                <a:ext uri="{FF2B5EF4-FFF2-40B4-BE49-F238E27FC236}">
                  <a16:creationId xmlns:a16="http://schemas.microsoft.com/office/drawing/2014/main" id="{1A23583B-2609-61FC-D376-4A22D2451D54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65" name="Straight Arrow Connector 664">
            <a:extLst>
              <a:ext uri="{FF2B5EF4-FFF2-40B4-BE49-F238E27FC236}">
                <a16:creationId xmlns:a16="http://schemas.microsoft.com/office/drawing/2014/main" id="{C7758D13-CAE0-0C06-C3BC-E2833B7FAE69}"/>
              </a:ext>
            </a:extLst>
          </p:cNvPr>
          <p:cNvCxnSpPr>
            <a:cxnSpLocks/>
            <a:stCxn id="610" idx="3"/>
            <a:endCxn id="612" idx="1"/>
          </p:cNvCxnSpPr>
          <p:nvPr/>
        </p:nvCxnSpPr>
        <p:spPr>
          <a:xfrm>
            <a:off x="3085736" y="1927658"/>
            <a:ext cx="557139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6" name="Straight Arrow Connector 675">
            <a:extLst>
              <a:ext uri="{FF2B5EF4-FFF2-40B4-BE49-F238E27FC236}">
                <a16:creationId xmlns:a16="http://schemas.microsoft.com/office/drawing/2014/main" id="{BC298AFC-15EC-03C8-E935-21EEFCF7DC35}"/>
              </a:ext>
            </a:extLst>
          </p:cNvPr>
          <p:cNvCxnSpPr>
            <a:cxnSpLocks/>
            <a:stCxn id="684" idx="6"/>
            <a:endCxn id="610" idx="1"/>
          </p:cNvCxnSpPr>
          <p:nvPr/>
        </p:nvCxnSpPr>
        <p:spPr>
          <a:xfrm>
            <a:off x="1092746" y="1927658"/>
            <a:ext cx="370962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7" name="Straight Arrow Connector 696">
            <a:extLst>
              <a:ext uri="{FF2B5EF4-FFF2-40B4-BE49-F238E27FC236}">
                <a16:creationId xmlns:a16="http://schemas.microsoft.com/office/drawing/2014/main" id="{8AE54017-90E3-68C8-9D05-916A50BD605A}"/>
              </a:ext>
            </a:extLst>
          </p:cNvPr>
          <p:cNvCxnSpPr>
            <a:cxnSpLocks/>
            <a:stCxn id="671" idx="2"/>
            <a:endCxn id="764" idx="0"/>
          </p:cNvCxnSpPr>
          <p:nvPr/>
        </p:nvCxnSpPr>
        <p:spPr>
          <a:xfrm flipH="1">
            <a:off x="6630369" y="3802611"/>
            <a:ext cx="8052" cy="23119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Straight Arrow Connector 699">
            <a:extLst>
              <a:ext uri="{FF2B5EF4-FFF2-40B4-BE49-F238E27FC236}">
                <a16:creationId xmlns:a16="http://schemas.microsoft.com/office/drawing/2014/main" id="{E287E345-6D64-2A91-F060-E025896780F4}"/>
              </a:ext>
            </a:extLst>
          </p:cNvPr>
          <p:cNvCxnSpPr>
            <a:cxnSpLocks/>
            <a:stCxn id="616" idx="2"/>
            <a:endCxn id="760" idx="0"/>
          </p:cNvCxnSpPr>
          <p:nvPr/>
        </p:nvCxnSpPr>
        <p:spPr>
          <a:xfrm flipH="1">
            <a:off x="4451204" y="3802612"/>
            <a:ext cx="2685" cy="231193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1" name="Straight Arrow Connector 700">
            <a:extLst>
              <a:ext uri="{FF2B5EF4-FFF2-40B4-BE49-F238E27FC236}">
                <a16:creationId xmlns:a16="http://schemas.microsoft.com/office/drawing/2014/main" id="{C89F839E-A019-99D1-713A-93659FC5204F}"/>
              </a:ext>
            </a:extLst>
          </p:cNvPr>
          <p:cNvCxnSpPr>
            <a:cxnSpLocks/>
            <a:stCxn id="614" idx="2"/>
            <a:endCxn id="756" idx="0"/>
          </p:cNvCxnSpPr>
          <p:nvPr/>
        </p:nvCxnSpPr>
        <p:spPr>
          <a:xfrm flipH="1">
            <a:off x="2272039" y="3802611"/>
            <a:ext cx="2683" cy="231194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0" name="TextBox 749">
            <a:extLst>
              <a:ext uri="{FF2B5EF4-FFF2-40B4-BE49-F238E27FC236}">
                <a16:creationId xmlns:a16="http://schemas.microsoft.com/office/drawing/2014/main" id="{411A48FA-2962-0E4B-E54A-CE05C6F35FE8}"/>
              </a:ext>
            </a:extLst>
          </p:cNvPr>
          <p:cNvSpPr txBox="1"/>
          <p:nvPr/>
        </p:nvSpPr>
        <p:spPr>
          <a:xfrm>
            <a:off x="4444054" y="2413576"/>
            <a:ext cx="4182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yes</a:t>
            </a:r>
          </a:p>
        </p:txBody>
      </p: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15AD99-5A36-C4B5-E305-0B9DBFE5EF82}"/>
              </a:ext>
            </a:extLst>
          </p:cNvPr>
          <p:cNvGrpSpPr/>
          <p:nvPr/>
        </p:nvGrpSpPr>
        <p:grpSpPr>
          <a:xfrm>
            <a:off x="2088206" y="4033805"/>
            <a:ext cx="367665" cy="367665"/>
            <a:chOff x="7069437" y="3218381"/>
            <a:chExt cx="367665" cy="367665"/>
          </a:xfrm>
        </p:grpSpPr>
        <p:sp>
          <p:nvSpPr>
            <p:cNvPr id="756" name="Oval 755">
              <a:extLst>
                <a:ext uri="{FF2B5EF4-FFF2-40B4-BE49-F238E27FC236}">
                  <a16:creationId xmlns:a16="http://schemas.microsoft.com/office/drawing/2014/main" id="{69DAF26F-A09B-D9F5-9992-E7939D4AE85B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7" name="Oval 756">
              <a:extLst>
                <a:ext uri="{FF2B5EF4-FFF2-40B4-BE49-F238E27FC236}">
                  <a16:creationId xmlns:a16="http://schemas.microsoft.com/office/drawing/2014/main" id="{91A658D6-462F-B35C-BBE5-10BF4A6D0CBD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F43FAF5C-AE7F-A745-F034-45319E823858}"/>
              </a:ext>
            </a:extLst>
          </p:cNvPr>
          <p:cNvGrpSpPr/>
          <p:nvPr/>
        </p:nvGrpSpPr>
        <p:grpSpPr>
          <a:xfrm>
            <a:off x="4267371" y="4033805"/>
            <a:ext cx="367665" cy="367665"/>
            <a:chOff x="7069437" y="3218381"/>
            <a:chExt cx="367665" cy="367665"/>
          </a:xfrm>
        </p:grpSpPr>
        <p:sp>
          <p:nvSpPr>
            <p:cNvPr id="760" name="Oval 759">
              <a:extLst>
                <a:ext uri="{FF2B5EF4-FFF2-40B4-BE49-F238E27FC236}">
                  <a16:creationId xmlns:a16="http://schemas.microsoft.com/office/drawing/2014/main" id="{DFD4A558-73B8-2A36-C603-2B268ACBEAA1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1" name="Oval 760">
              <a:extLst>
                <a:ext uri="{FF2B5EF4-FFF2-40B4-BE49-F238E27FC236}">
                  <a16:creationId xmlns:a16="http://schemas.microsoft.com/office/drawing/2014/main" id="{02C1688A-66D2-EB23-6C0E-AE33AA3DF422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DD36BF90-0679-ACC4-3751-4ECCC82D948B}"/>
              </a:ext>
            </a:extLst>
          </p:cNvPr>
          <p:cNvGrpSpPr/>
          <p:nvPr/>
        </p:nvGrpSpPr>
        <p:grpSpPr>
          <a:xfrm>
            <a:off x="6446536" y="4033805"/>
            <a:ext cx="367665" cy="367665"/>
            <a:chOff x="7069437" y="3218381"/>
            <a:chExt cx="367665" cy="367665"/>
          </a:xfrm>
        </p:grpSpPr>
        <p:sp>
          <p:nvSpPr>
            <p:cNvPr id="764" name="Oval 763">
              <a:extLst>
                <a:ext uri="{FF2B5EF4-FFF2-40B4-BE49-F238E27FC236}">
                  <a16:creationId xmlns:a16="http://schemas.microsoft.com/office/drawing/2014/main" id="{353E2324-C9E6-76F8-EB6E-682A28DE45ED}"/>
                </a:ext>
              </a:extLst>
            </p:cNvPr>
            <p:cNvSpPr/>
            <p:nvPr/>
          </p:nvSpPr>
          <p:spPr>
            <a:xfrm>
              <a:off x="7069437" y="3218381"/>
              <a:ext cx="367665" cy="367665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65" name="Oval 764">
              <a:extLst>
                <a:ext uri="{FF2B5EF4-FFF2-40B4-BE49-F238E27FC236}">
                  <a16:creationId xmlns:a16="http://schemas.microsoft.com/office/drawing/2014/main" id="{42F25918-5AAA-DEA6-6146-D13C4B582B23}"/>
                </a:ext>
              </a:extLst>
            </p:cNvPr>
            <p:cNvSpPr/>
            <p:nvPr/>
          </p:nvSpPr>
          <p:spPr>
            <a:xfrm>
              <a:off x="7130281" y="3279306"/>
              <a:ext cx="246221" cy="246221"/>
            </a:xfrm>
            <a:prstGeom prst="ellipse">
              <a:avLst/>
            </a:prstGeom>
            <a:solidFill>
              <a:schemeClr val="tx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68" name="Rectangle 767">
            <a:extLst>
              <a:ext uri="{FF2B5EF4-FFF2-40B4-BE49-F238E27FC236}">
                <a16:creationId xmlns:a16="http://schemas.microsoft.com/office/drawing/2014/main" id="{1E299ED9-3CA3-05F1-F335-3EA4B8072844}"/>
              </a:ext>
            </a:extLst>
          </p:cNvPr>
          <p:cNvSpPr/>
          <p:nvPr/>
        </p:nvSpPr>
        <p:spPr>
          <a:xfrm>
            <a:off x="6112951" y="339769"/>
            <a:ext cx="1916624" cy="728274"/>
          </a:xfrm>
          <a:prstGeom prst="rect">
            <a:avLst/>
          </a:prstGeom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First published: 23 Feb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Last updated: 01 Sep 2026</a:t>
            </a:r>
          </a:p>
          <a:p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Republished without changes since update: 0</a:t>
            </a:r>
          </a:p>
        </p:txBody>
      </p:sp>
      <p:sp>
        <p:nvSpPr>
          <p:cNvPr id="771" name="TextBox 770">
            <a:extLst>
              <a:ext uri="{FF2B5EF4-FFF2-40B4-BE49-F238E27FC236}">
                <a16:creationId xmlns:a16="http://schemas.microsoft.com/office/drawing/2014/main" id="{575B4886-34B0-60DC-3F24-C4375E591EB0}"/>
              </a:ext>
            </a:extLst>
          </p:cNvPr>
          <p:cNvSpPr txBox="1"/>
          <p:nvPr/>
        </p:nvSpPr>
        <p:spPr>
          <a:xfrm rot="16200000">
            <a:off x="-462427" y="2168295"/>
            <a:ext cx="23519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Job returned by </a:t>
            </a:r>
            <a:r>
              <a:rPr lang="en-US" sz="1000" dirty="0" err="1"/>
              <a:t>Arbeitsagentur</a:t>
            </a:r>
            <a:r>
              <a:rPr lang="en-US" sz="1000" dirty="0"/>
              <a:t> search</a:t>
            </a:r>
          </a:p>
        </p:txBody>
      </p:sp>
    </p:spTree>
    <p:extLst>
      <p:ext uri="{BB962C8B-B14F-4D97-AF65-F5344CB8AC3E}">
        <p14:creationId xmlns:p14="http://schemas.microsoft.com/office/powerpoint/2010/main" val="20088835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7BF3A4B-4FD4-17A3-4F5D-5E54755B7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9444DA0-BFF9-97F9-09FE-D2F5A270EE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Full-Text Search with Elasticsearch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AF974A1D-7C6D-BE98-B8E4-C10923CCBE5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A533CFA-D806-6168-BDD7-872536BFE2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C6D91373-B938-5217-FE74-E21E76E836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898990" y="420323"/>
            <a:ext cx="368661" cy="1770142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2D8ACF71-7484-6DF9-07B5-7FBEC35059E7}"/>
              </a:ext>
            </a:extLst>
          </p:cNvPr>
          <p:cNvCxnSpPr>
            <a:cxnSpLocks/>
          </p:cNvCxnSpPr>
          <p:nvPr/>
        </p:nvCxnSpPr>
        <p:spPr>
          <a:xfrm rot="16200000" flipH="1">
            <a:off x="930578" y="1347817"/>
            <a:ext cx="226930" cy="575952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BF5A4AC-7C69-091C-F30D-E664A9DFD00C}"/>
              </a:ext>
            </a:extLst>
          </p:cNvPr>
          <p:cNvSpPr/>
          <p:nvPr/>
        </p:nvSpPr>
        <p:spPr>
          <a:xfrm>
            <a:off x="471139" y="1680881"/>
            <a:ext cx="246221" cy="246221"/>
          </a:xfrm>
          <a:prstGeom prst="ellipse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D4D532FA-B4B9-5E46-C506-47D1E7C04E5B}"/>
              </a:ext>
            </a:extLst>
          </p:cNvPr>
          <p:cNvSpPr/>
          <p:nvPr/>
        </p:nvSpPr>
        <p:spPr>
          <a:xfrm>
            <a:off x="1370726" y="1312220"/>
            <a:ext cx="1622028" cy="983544"/>
          </a:xfrm>
          <a:prstGeom prst="diamond">
            <a:avLst/>
          </a:prstGeom>
          <a:solidFill>
            <a:srgbClr val="FFFFC0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1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Already in database?</a:t>
            </a:r>
          </a:p>
        </p:txBody>
      </p:sp>
    </p:spTree>
    <p:extLst>
      <p:ext uri="{BB962C8B-B14F-4D97-AF65-F5344CB8AC3E}">
        <p14:creationId xmlns:p14="http://schemas.microsoft.com/office/powerpoint/2010/main" val="286430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1100138" y="633413"/>
            <a:ext cx="7305674" cy="41462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83625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14" idx="3"/>
            <a:endCxn id="601" idx="2"/>
          </p:cNvCxnSpPr>
          <p:nvPr/>
        </p:nvCxnSpPr>
        <p:spPr>
          <a:xfrm flipV="1">
            <a:off x="4973053" y="1538616"/>
            <a:ext cx="1857458" cy="11752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01" y="94442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94442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1982661" y="1316067"/>
            <a:ext cx="1112627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64408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78432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098951"/>
            <a:ext cx="2469877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325773" y="1253546"/>
            <a:ext cx="12965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1139471" y="1258464"/>
            <a:ext cx="1247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sz="1200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6071" y="72330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724793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530545"/>
            <a:ext cx="2767" cy="111354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94509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82602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10302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4036724"/>
            <a:ext cx="3267070" cy="37173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210017" y="3712518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6171289" y="1261617"/>
            <a:ext cx="1318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418897"/>
            <a:ext cx="1781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262626"/>
                </a:solidFill>
              </a:rPr>
              <a:t>airflow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90040" y="2115516"/>
            <a:ext cx="2613567" cy="58043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871932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84085" y="2432295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2321" y="2300465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955861"/>
            <a:ext cx="1274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872739"/>
            <a:ext cx="1432798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949118"/>
            <a:ext cx="0" cy="100674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5190" y="2233599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5915" y="245938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6977" y="2888064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301458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400539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423452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892135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244163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25786" y="2029437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74513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306474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424828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797974"/>
            <a:ext cx="1122643" cy="30360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80197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1046793" y="3101578"/>
            <a:ext cx="1600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prometheus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86871" y="3127721"/>
            <a:ext cx="1199666" cy="85595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229827" y="4017033"/>
            <a:ext cx="1228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grafana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64809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64134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16" idx="3"/>
            <a:endCxn id="603" idx="0"/>
          </p:cNvCxnSpPr>
          <p:nvPr/>
        </p:nvCxnSpPr>
        <p:spPr>
          <a:xfrm>
            <a:off x="4973054" y="2875226"/>
            <a:ext cx="354997" cy="54367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753858"/>
            <a:ext cx="2583" cy="263175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3097308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02113" y="373142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83" y="3732389"/>
            <a:ext cx="274988" cy="274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5FDA2A-38E6-790A-16F8-8ADFA35B631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50359" y="1378990"/>
            <a:ext cx="205822" cy="2058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C9BC564-2EAE-04D3-791A-0508D40CEC20}"/>
              </a:ext>
            </a:extLst>
          </p:cNvPr>
          <p:cNvSpPr/>
          <p:nvPr/>
        </p:nvSpPr>
        <p:spPr>
          <a:xfrm>
            <a:off x="4500828" y="2641341"/>
            <a:ext cx="472225" cy="144997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43C439-615B-6934-474E-09C570C7D391}"/>
              </a:ext>
            </a:extLst>
          </p:cNvPr>
          <p:cNvSpPr/>
          <p:nvPr/>
        </p:nvSpPr>
        <p:spPr>
          <a:xfrm>
            <a:off x="4495008" y="2801333"/>
            <a:ext cx="478046" cy="14778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7A3F31A-1512-400D-B86C-E47916CAE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020" y="1600201"/>
            <a:ext cx="345703" cy="309055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82AC757-98D0-1B32-C6CC-742068547CDA}"/>
              </a:ext>
            </a:extLst>
          </p:cNvPr>
          <p:cNvSpPr txBox="1"/>
          <p:nvPr/>
        </p:nvSpPr>
        <p:spPr>
          <a:xfrm>
            <a:off x="4500828" y="1867192"/>
            <a:ext cx="17164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elasticsearch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:9200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83B086B-D46F-B105-4D32-D185B789DBF2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rot="5400000" flipH="1" flipV="1">
            <a:off x="4799416" y="2081716"/>
            <a:ext cx="497150" cy="62210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3" name="Picture 62" descr="Docker Icon in SVG, PNG formats">
            <a:extLst>
              <a:ext uri="{FF2B5EF4-FFF2-40B4-BE49-F238E27FC236}">
                <a16:creationId xmlns:a16="http://schemas.microsoft.com/office/drawing/2014/main" id="{B868BBE7-E83D-C8D7-D6F6-9109A9773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2920" y="2355665"/>
            <a:ext cx="247147" cy="247147"/>
          </a:xfrm>
          <a:prstGeom prst="rect">
            <a:avLst/>
          </a:prstGeom>
        </p:spPr>
      </p:pic>
      <p:cxnSp>
        <p:nvCxnSpPr>
          <p:cNvPr id="576" name="Connector: Elbow 575">
            <a:extLst>
              <a:ext uri="{FF2B5EF4-FFF2-40B4-BE49-F238E27FC236}">
                <a16:creationId xmlns:a16="http://schemas.microsoft.com/office/drawing/2014/main" id="{1F7B340B-9CBE-5F90-754F-3B926E26B842}"/>
              </a:ext>
            </a:extLst>
          </p:cNvPr>
          <p:cNvCxnSpPr>
            <a:cxnSpLocks/>
            <a:stCxn id="715" idx="3"/>
            <a:endCxn id="10" idx="0"/>
          </p:cNvCxnSpPr>
          <p:nvPr/>
        </p:nvCxnSpPr>
        <p:spPr>
          <a:xfrm>
            <a:off x="4191024" y="1103694"/>
            <a:ext cx="1162246" cy="27529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 &amp; Reliability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481022DB-5551-B743-1147-B8B7982DA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99F6F1C5-4FCA-226F-B7D5-DE7394DD994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What Can We Learn from the Data?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1EED32FD-EBBC-715E-5801-7AE9E2CA02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1C175177-E5F8-8040-8FEA-BD04CA40EE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22776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8386343-0DE9-111B-DFC1-410BD6ADE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7C1EE998-61FE-B24F-B9CD-28C6666AC87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Limitations &amp; Next Steps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FC55D9A6-B629-76BB-9517-C0F42D6F154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579BE5E8-3A2C-331C-6D2F-8D9BFAE65D9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89090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9FA05459-0F1A-A82B-C0F8-9B37C834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844DB651-2CB8-750C-B4AA-C704C262FDD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Conclusion / Demo</a:t>
            </a:r>
            <a:endParaRPr lang="en-US"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57DE8AEB-3003-3C23-2B0C-838967B052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C0AA07C5-4B8A-C864-7C1B-7D39D92C2C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330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361</Words>
  <Application>Microsoft Office PowerPoint</Application>
  <PresentationFormat>On-screen Show (16:9)</PresentationFormat>
  <Paragraphs>120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6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169</cp:revision>
  <dcterms:modified xsi:type="dcterms:W3CDTF">2026-09-01T18:21:59Z</dcterms:modified>
</cp:coreProperties>
</file>