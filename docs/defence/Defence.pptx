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22"/>
  </p:notesMasterIdLst>
  <p:sldIdLst>
    <p:sldId id="256" r:id="rId3"/>
    <p:sldId id="280" r:id="rId4"/>
    <p:sldId id="279" r:id="rId5"/>
    <p:sldId id="290" r:id="rId6"/>
    <p:sldId id="292" r:id="rId7"/>
    <p:sldId id="257" r:id="rId8"/>
    <p:sldId id="276" r:id="rId9"/>
    <p:sldId id="293" r:id="rId10"/>
    <p:sldId id="281" r:id="rId11"/>
    <p:sldId id="282" r:id="rId12"/>
    <p:sldId id="283" r:id="rId13"/>
    <p:sldId id="291" r:id="rId14"/>
    <p:sldId id="288" r:id="rId15"/>
    <p:sldId id="277" r:id="rId16"/>
    <p:sldId id="278" r:id="rId17"/>
    <p:sldId id="285" r:id="rId18"/>
    <p:sldId id="286" r:id="rId19"/>
    <p:sldId id="287" r:id="rId20"/>
    <p:sldId id="273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51FD"/>
    <a:srgbClr val="FF0000"/>
    <a:srgbClr val="FFFFC0"/>
    <a:srgbClr val="FF0705"/>
    <a:srgbClr val="585858"/>
    <a:srgbClr val="336791"/>
    <a:srgbClr val="EF552E"/>
    <a:srgbClr val="262626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44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114" y="138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9BC80D90-3CDF-EE9F-B986-F854D868D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AD4682FC-B3EC-2678-7D17-81881EEA6A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860675AA-EA3C-5205-EE90-0DD417050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757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4CDCF8BA-96C4-93FC-7D6C-BB497151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DE5305BD-4ECF-43FE-2DCE-9A5170CF35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D25C066-D770-EFAE-D55A-CDBDBCE53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578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E6C9F87E-9A65-1B42-074F-DA191099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3DE926D-78B7-0912-49FD-AF7AC4FB0D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18F6117-92C7-F89C-A16F-7EA17F9039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42992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C1D38EA-C4C6-17F4-227D-FA63A8F0A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12596813-B486-1BD0-D129-5F899B1629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B30BDEB3-9989-388D-09B6-004CFA9343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58835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791289DF-5EAD-44C9-7BA4-1420A0B0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9C86C68C-6FD6-2C13-44C5-8F5B3892FE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C55805DC-8055-FAEE-3BFB-AEC94417C1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7761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33C81560-8DE1-343F-2CE5-3720508C6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EFA68678-17EF-C4C5-E091-657DA2758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E34EECCF-D3ED-58B6-CAF9-F03E047F23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42606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22FCF4-424B-BE31-2085-4D3750C35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711EBA4-37FD-4F93-A16F-C27A00BD11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DDA07EBF-D098-17D5-80CF-FBA54C6D4A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07714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4ABFAA4-0D5F-2C11-7FD1-737AFEC36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BCECB95F-8073-09EF-BE97-02741F289F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50403A7B-AF7D-2673-853C-086ED7C5E4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77421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E8EB0AA-E530-5E93-C187-E3B41BBC3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59917F2D-DCBB-3153-B614-16A649C7AB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97785C7B-D221-BD14-582F-6060C54C11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26075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70F0DE1-61C8-B949-CF9F-889D5125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AAADD59-477D-A0E5-6A76-02B7BE6313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B00DFA13-910D-3747-D068-FAF410152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443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147EA35-C048-03B5-3B2A-D97327898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A501384-DA99-AE86-BB52-079F9840A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81D3174D-B695-A353-C208-F6C9ABBB6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4881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0CFDF225-9D6C-070C-7AA2-498661D94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E1E9E779-8DA5-DD3F-C5A3-D7087099B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52B3448-BA03-99AE-1050-A4AFA513BD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94627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5736AA4C-64C7-241C-91A2-B8270FA9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B188B41-0D99-2904-401A-F6B57A1D3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A39897C0-1FF6-78B2-1504-54B4031A85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83432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0.png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0.png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theme" Target="../theme/theme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2" r:id="rId41"/>
    <p:sldLayoutId id="2147483703" r:id="rId42"/>
    <p:sldLayoutId id="2147483704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2" r:id="rId51"/>
    <p:sldLayoutId id="2147483713" r:id="rId52"/>
    <p:sldLayoutId id="2147483714" r:id="rId53"/>
    <p:sldLayoutId id="2147483715" r:id="rId54"/>
    <p:sldLayoutId id="2147483717" r:id="rId55"/>
    <p:sldLayoutId id="2147483718" r:id="rId56"/>
    <p:sldLayoutId id="2147483719" r:id="rId57"/>
    <p:sldLayoutId id="2147483720" r:id="rId58"/>
    <p:sldLayoutId id="2147483721" r:id="rId59"/>
    <p:sldLayoutId id="2147483722" r:id="rId60"/>
    <p:sldLayoutId id="2147483723" r:id="rId61"/>
    <p:sldLayoutId id="2147483724" r:id="rId62"/>
    <p:sldLayoutId id="2147483725" r:id="rId63"/>
    <p:sldLayoutId id="2147483726" r:id="rId64"/>
    <p:sldLayoutId id="2147483727" r:id="rId65"/>
    <p:sldLayoutId id="2147483728" r:id="rId66"/>
    <p:sldLayoutId id="2147483729" r:id="rId67"/>
    <p:sldLayoutId id="2147483730" r:id="rId68"/>
    <p:sldLayoutId id="2147483731" r:id="rId69"/>
    <p:sldLayoutId id="2147483732" r:id="rId70"/>
    <p:sldLayoutId id="2147483733" r:id="rId71"/>
    <p:sldLayoutId id="2147483734" r:id="rId7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sv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39.png"/><Relationship Id="rId18" Type="http://schemas.openxmlformats.org/officeDocument/2006/relationships/image" Target="../media/image42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3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24.png"/><Relationship Id="rId10" Type="http://schemas.openxmlformats.org/officeDocument/2006/relationships/image" Target="../media/image36.png"/><Relationship Id="rId4" Type="http://schemas.openxmlformats.org/officeDocument/2006/relationships/image" Target="../media/image32.png"/><Relationship Id="rId9" Type="http://schemas.openxmlformats.org/officeDocument/2006/relationships/image" Target="../media/image23.png"/><Relationship Id="rId1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4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5.png"/><Relationship Id="rId5" Type="http://schemas.openxmlformats.org/officeDocument/2006/relationships/image" Target="../media/image22.png"/><Relationship Id="rId10" Type="http://schemas.openxmlformats.org/officeDocument/2006/relationships/image" Target="../media/image42.png"/><Relationship Id="rId4" Type="http://schemas.openxmlformats.org/officeDocument/2006/relationships/image" Target="../media/image24.png"/><Relationship Id="rId9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45.png"/><Relationship Id="rId18" Type="http://schemas.openxmlformats.org/officeDocument/2006/relationships/image" Target="../media/image31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12" Type="http://schemas.openxmlformats.org/officeDocument/2006/relationships/image" Target="../media/image44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3.png"/><Relationship Id="rId11" Type="http://schemas.openxmlformats.org/officeDocument/2006/relationships/image" Target="../media/image43.png"/><Relationship Id="rId5" Type="http://schemas.openxmlformats.org/officeDocument/2006/relationships/image" Target="../media/image35.png"/><Relationship Id="rId15" Type="http://schemas.openxmlformats.org/officeDocument/2006/relationships/image" Target="../media/image26.png"/><Relationship Id="rId10" Type="http://schemas.openxmlformats.org/officeDocument/2006/relationships/image" Target="../media/image32.png"/><Relationship Id="rId19" Type="http://schemas.openxmlformats.org/officeDocument/2006/relationships/image" Target="../media/image42.png"/><Relationship Id="rId4" Type="http://schemas.openxmlformats.org/officeDocument/2006/relationships/image" Target="../media/image33.png"/><Relationship Id="rId9" Type="http://schemas.openxmlformats.org/officeDocument/2006/relationships/image" Target="../media/image36.png"/><Relationship Id="rId1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3.png"/><Relationship Id="rId5" Type="http://schemas.openxmlformats.org/officeDocument/2006/relationships/image" Target="../media/image27.png"/><Relationship Id="rId10" Type="http://schemas.openxmlformats.org/officeDocument/2006/relationships/image" Target="../media/image45.png"/><Relationship Id="rId4" Type="http://schemas.openxmlformats.org/officeDocument/2006/relationships/image" Target="../media/image47.png"/><Relationship Id="rId9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3.xml"/><Relationship Id="rId6" Type="http://schemas.openxmlformats.org/officeDocument/2006/relationships/image" Target="../media/image51.gif"/><Relationship Id="rId5" Type="http://schemas.openxmlformats.org/officeDocument/2006/relationships/image" Target="../media/image50.png"/><Relationship Id="rId4" Type="http://schemas.openxmlformats.org/officeDocument/2006/relationships/image" Target="../media/image4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Defence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153FF118-5BF2-54C9-49B7-D55F38C9A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86E09FE-D9E4-A375-07F2-5FC012A39A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Motivation &amp; Objectives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043CDD73-932C-53F0-5FFB-7F01798092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087780C-7F2F-998D-C44D-E7DF20CCC24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8068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30460230-DC4A-FBDA-D54A-FCB81BE0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FF5FF86D-7528-C5BE-FEEB-F35CD53B0B11}"/>
              </a:ext>
            </a:extLst>
          </p:cNvPr>
          <p:cNvSpPr/>
          <p:nvPr/>
        </p:nvSpPr>
        <p:spPr>
          <a:xfrm>
            <a:off x="709544" y="1447339"/>
            <a:ext cx="7664173" cy="198285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CB0A6E1-73E1-2370-D612-F3084943BA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127650"/>
              </p:ext>
            </p:extLst>
          </p:nvPr>
        </p:nvGraphicFramePr>
        <p:xfrm>
          <a:off x="770725" y="1539702"/>
          <a:ext cx="7523035" cy="1797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607">
                  <a:extLst>
                    <a:ext uri="{9D8B030D-6E8A-4147-A177-3AD203B41FA5}">
                      <a16:colId xmlns:a16="http://schemas.microsoft.com/office/drawing/2014/main" val="4240830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207326481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011442136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157947457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2907646003"/>
                    </a:ext>
                  </a:extLst>
                </a:gridCol>
              </a:tblGrid>
              <a:tr h="599237">
                <a:tc>
                  <a:txBody>
                    <a:bodyPr/>
                    <a:lstStyle/>
                    <a:p>
                      <a:r>
                        <a:rPr lang="en-US" dirty="0"/>
                        <a:t>Frontend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Workflow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Monitoring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655577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314828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848736"/>
                  </a:ext>
                </a:extLst>
              </a:tr>
            </a:tbl>
          </a:graphicData>
        </a:graphic>
      </p:graphicFrame>
      <p:sp>
        <p:nvSpPr>
          <p:cNvPr id="32" name="Rectangle 31">
            <a:extLst>
              <a:ext uri="{FF2B5EF4-FFF2-40B4-BE49-F238E27FC236}">
                <a16:creationId xmlns:a16="http://schemas.microsoft.com/office/drawing/2014/main" id="{4E1C042B-B55F-8898-B5E6-C98C34B21286}"/>
              </a:ext>
            </a:extLst>
          </p:cNvPr>
          <p:cNvSpPr/>
          <p:nvPr/>
        </p:nvSpPr>
        <p:spPr>
          <a:xfrm>
            <a:off x="88932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18E242-7BE0-85F6-4AC0-F97166A6C6E5}"/>
              </a:ext>
            </a:extLst>
          </p:cNvPr>
          <p:cNvSpPr/>
          <p:nvPr/>
        </p:nvSpPr>
        <p:spPr>
          <a:xfrm>
            <a:off x="239224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FEC2DF-1561-D453-9750-35163361AE45}"/>
              </a:ext>
            </a:extLst>
          </p:cNvPr>
          <p:cNvSpPr/>
          <p:nvPr/>
        </p:nvSpPr>
        <p:spPr>
          <a:xfrm>
            <a:off x="3903593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B20746-9E81-C098-D2AB-5C1D9B27EF68}"/>
              </a:ext>
            </a:extLst>
          </p:cNvPr>
          <p:cNvSpPr/>
          <p:nvPr/>
        </p:nvSpPr>
        <p:spPr>
          <a:xfrm>
            <a:off x="540651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D0056AC-D77C-7CE2-4EB4-119DA7E73BB1}"/>
              </a:ext>
            </a:extLst>
          </p:cNvPr>
          <p:cNvSpPr/>
          <p:nvPr/>
        </p:nvSpPr>
        <p:spPr>
          <a:xfrm>
            <a:off x="690943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C5AB23-BD00-07B3-BEA9-B076EFF3CC93}"/>
              </a:ext>
            </a:extLst>
          </p:cNvPr>
          <p:cNvSpPr/>
          <p:nvPr/>
        </p:nvSpPr>
        <p:spPr>
          <a:xfrm>
            <a:off x="88932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E0F8F97-60CF-5F87-0F83-B6AADDA0ADC6}"/>
              </a:ext>
            </a:extLst>
          </p:cNvPr>
          <p:cNvSpPr/>
          <p:nvPr/>
        </p:nvSpPr>
        <p:spPr>
          <a:xfrm>
            <a:off x="239224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FAF81BB-9BD9-1278-53A2-0C24827FE2C8}"/>
              </a:ext>
            </a:extLst>
          </p:cNvPr>
          <p:cNvSpPr/>
          <p:nvPr/>
        </p:nvSpPr>
        <p:spPr>
          <a:xfrm>
            <a:off x="3903593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685F019-4642-F6E0-A84F-5C7C990BD0D8}"/>
              </a:ext>
            </a:extLst>
          </p:cNvPr>
          <p:cNvSpPr/>
          <p:nvPr/>
        </p:nvSpPr>
        <p:spPr>
          <a:xfrm>
            <a:off x="540651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D53DD0D-7034-40CB-6890-FC1BAAC4F535}"/>
              </a:ext>
            </a:extLst>
          </p:cNvPr>
          <p:cNvSpPr/>
          <p:nvPr/>
        </p:nvSpPr>
        <p:spPr>
          <a:xfrm>
            <a:off x="690943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6F5A1E8-1EC5-BEC6-C35D-B44FA698FBF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Tech stack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D07B7935-F342-9585-3BB0-8B58748079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F5467453-AF2A-A5D1-0386-ADBFE3BA63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Picture 712">
            <a:extLst>
              <a:ext uri="{FF2B5EF4-FFF2-40B4-BE49-F238E27FC236}">
                <a16:creationId xmlns:a16="http://schemas.microsoft.com/office/drawing/2014/main" id="{AD8CEF48-CB9C-19E2-EBC2-2AB8B9F3F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7013" y="2369980"/>
            <a:ext cx="773924" cy="142814"/>
          </a:xfrm>
          <a:prstGeom prst="rect">
            <a:avLst/>
          </a:prstGeom>
        </p:spPr>
      </p:pic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28114944-216A-5077-971C-C1FDF782E7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812" y="2304716"/>
            <a:ext cx="245547" cy="2532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29D334-5F8A-FC02-26BB-93FEF818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1196" y="2298441"/>
            <a:ext cx="736364" cy="2857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9942DF-679E-251C-B66D-9434CFC1A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730" y="2333447"/>
            <a:ext cx="1175839" cy="2158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268635-B030-E0CA-7676-4CE0296EC7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154" y="2299911"/>
            <a:ext cx="266387" cy="26638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4B193C8-063D-BA76-F24D-BE2CC2EA4A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38576" y="2918039"/>
            <a:ext cx="973070" cy="23756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C438AB-FC16-9D0D-B8A5-54A4BEF8C9F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0155" y="2897288"/>
            <a:ext cx="744115" cy="280283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103D174-4CAD-E662-5D14-2468D456B831}"/>
              </a:ext>
            </a:extLst>
          </p:cNvPr>
          <p:cNvSpPr txBox="1"/>
          <p:nvPr/>
        </p:nvSpPr>
        <p:spPr>
          <a:xfrm>
            <a:off x="7227834" y="2294604"/>
            <a:ext cx="10066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F552E"/>
                </a:solidFill>
              </a:rPr>
              <a:t>Prometheus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3F35DCC-E3E3-31E5-0F51-52967482C28D}"/>
              </a:ext>
            </a:extLst>
          </p:cNvPr>
          <p:cNvSpPr txBox="1"/>
          <p:nvPr/>
        </p:nvSpPr>
        <p:spPr>
          <a:xfrm>
            <a:off x="4196736" y="2295558"/>
            <a:ext cx="1129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85858"/>
                </a:solidFill>
              </a:rPr>
              <a:t>Postgre</a:t>
            </a:r>
            <a:r>
              <a:rPr lang="en-US" sz="1200" dirty="0">
                <a:solidFill>
                  <a:srgbClr val="336791"/>
                </a:solidFill>
              </a:rPr>
              <a:t>SQL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BEDCF0-225C-38E3-A986-DABE7C79C9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85812" y="2911163"/>
            <a:ext cx="1098275" cy="241085"/>
          </a:xfrm>
          <a:prstGeom prst="rect">
            <a:avLst/>
          </a:prstGeom>
        </p:spPr>
      </p:pic>
      <p:pic>
        <p:nvPicPr>
          <p:cNvPr id="581" name="Picture 580">
            <a:extLst>
              <a:ext uri="{FF2B5EF4-FFF2-40B4-BE49-F238E27FC236}">
                <a16:creationId xmlns:a16="http://schemas.microsoft.com/office/drawing/2014/main" id="{7EFF7D95-9A16-06B3-5853-3583C22384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653" y="2920739"/>
            <a:ext cx="973070" cy="237566"/>
          </a:xfrm>
          <a:prstGeom prst="rect">
            <a:avLst/>
          </a:prstGeom>
        </p:spPr>
      </p:pic>
      <p:pic>
        <p:nvPicPr>
          <p:cNvPr id="583" name="Picture 582">
            <a:extLst>
              <a:ext uri="{FF2B5EF4-FFF2-40B4-BE49-F238E27FC236}">
                <a16:creationId xmlns:a16="http://schemas.microsoft.com/office/drawing/2014/main" id="{ED5B258F-AFC6-B8BC-6D40-14E31EA9F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54495" y="2910314"/>
            <a:ext cx="973070" cy="237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881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20E490BF-88B9-A419-DD8C-36815D018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Rectangle 694">
            <a:extLst>
              <a:ext uri="{FF2B5EF4-FFF2-40B4-BE49-F238E27FC236}">
                <a16:creationId xmlns:a16="http://schemas.microsoft.com/office/drawing/2014/main" id="{542A867A-3841-9C74-CEA4-B7F71F69431B}"/>
              </a:ext>
            </a:extLst>
          </p:cNvPr>
          <p:cNvSpPr/>
          <p:nvPr/>
        </p:nvSpPr>
        <p:spPr>
          <a:xfrm>
            <a:off x="552450" y="1351138"/>
            <a:ext cx="7753350" cy="227743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3FDAC067-FE7F-244B-6ABB-084E732D2B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 err="1">
                <a:latin typeface="Work Sans"/>
                <a:ea typeface="Work Sans"/>
                <a:cs typeface="Work Sans"/>
                <a:sym typeface="Work Sans"/>
              </a:rPr>
              <a:t>Arbeitsagentur</a:t>
            </a: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 API</a:t>
            </a: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D16916BC-1913-9E16-C388-C93680CC1DD7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8EB040F8-C50E-2B9E-FE6E-2B8311BF254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043243-9A47-B9BB-0256-DF603A9C3E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700" y="1517126"/>
            <a:ext cx="456800" cy="45679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3E83199-6A1D-D6AD-31FD-3B50BF4D648F}"/>
              </a:ext>
            </a:extLst>
          </p:cNvPr>
          <p:cNvSpPr/>
          <p:nvPr/>
        </p:nvSpPr>
        <p:spPr>
          <a:xfrm>
            <a:off x="625922" y="1434821"/>
            <a:ext cx="1333076" cy="304800"/>
          </a:xfrm>
          <a:prstGeom prst="rect">
            <a:avLst/>
          </a:prstGeom>
          <a:solidFill>
            <a:schemeClr val="accent6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Engineer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9E4E6C5-3D7E-36FA-8AD8-08555BE7FF43}"/>
              </a:ext>
            </a:extLst>
          </p:cNvPr>
          <p:cNvSpPr/>
          <p:nvPr/>
        </p:nvSpPr>
        <p:spPr>
          <a:xfrm>
            <a:off x="3051726" y="1587089"/>
            <a:ext cx="733162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58A120E-955F-AEE4-CB78-16E44FD3B0B6}"/>
              </a:ext>
            </a:extLst>
          </p:cNvPr>
          <p:cNvSpPr/>
          <p:nvPr/>
        </p:nvSpPr>
        <p:spPr>
          <a:xfrm>
            <a:off x="3051726" y="2143381"/>
            <a:ext cx="733162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2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1E435B9-FD8B-239B-7931-CBF905ED7B59}"/>
              </a:ext>
            </a:extLst>
          </p:cNvPr>
          <p:cNvSpPr/>
          <p:nvPr/>
        </p:nvSpPr>
        <p:spPr>
          <a:xfrm>
            <a:off x="3032676" y="2699673"/>
            <a:ext cx="733162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…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958F62-A446-FC73-FC9C-7681723C7699}"/>
              </a:ext>
            </a:extLst>
          </p:cNvPr>
          <p:cNvSpPr/>
          <p:nvPr/>
        </p:nvSpPr>
        <p:spPr>
          <a:xfrm>
            <a:off x="5308107" y="1580854"/>
            <a:ext cx="1144897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1 detail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20FC42-A05A-447A-22DD-7E32BB983503}"/>
              </a:ext>
            </a:extLst>
          </p:cNvPr>
          <p:cNvSpPr/>
          <p:nvPr/>
        </p:nvSpPr>
        <p:spPr>
          <a:xfrm>
            <a:off x="625921" y="1791655"/>
            <a:ext cx="1333076" cy="304800"/>
          </a:xfrm>
          <a:prstGeom prst="rect">
            <a:avLst/>
          </a:prstGeom>
          <a:solidFill>
            <a:schemeClr val="accent6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 Engineer</a:t>
            </a:r>
          </a:p>
        </p:txBody>
      </p:sp>
      <p:sp>
        <p:nvSpPr>
          <p:cNvPr id="584" name="Left Brace 583">
            <a:extLst>
              <a:ext uri="{FF2B5EF4-FFF2-40B4-BE49-F238E27FC236}">
                <a16:creationId xmlns:a16="http://schemas.microsoft.com/office/drawing/2014/main" id="{F66B0442-9892-E7AF-42F2-14B636FA1D74}"/>
              </a:ext>
            </a:extLst>
          </p:cNvPr>
          <p:cNvSpPr/>
          <p:nvPr/>
        </p:nvSpPr>
        <p:spPr>
          <a:xfrm rot="16200000">
            <a:off x="1204487" y="1570602"/>
            <a:ext cx="175942" cy="1333076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5" name="TextBox 584">
            <a:extLst>
              <a:ext uri="{FF2B5EF4-FFF2-40B4-BE49-F238E27FC236}">
                <a16:creationId xmlns:a16="http://schemas.microsoft.com/office/drawing/2014/main" id="{B0D16EC0-E034-864D-3E93-4F28AEC141A1}"/>
              </a:ext>
            </a:extLst>
          </p:cNvPr>
          <p:cNvSpPr txBox="1"/>
          <p:nvPr/>
        </p:nvSpPr>
        <p:spPr>
          <a:xfrm>
            <a:off x="821816" y="2278417"/>
            <a:ext cx="832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keywords</a:t>
            </a: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F98FA149-6752-9958-52ED-9FA6E7FCF16F}"/>
              </a:ext>
            </a:extLst>
          </p:cNvPr>
          <p:cNvSpPr/>
          <p:nvPr/>
        </p:nvSpPr>
        <p:spPr>
          <a:xfrm>
            <a:off x="3032676" y="3255965"/>
            <a:ext cx="733162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</a:t>
            </a:r>
          </a:p>
        </p:txBody>
      </p:sp>
      <p:cxnSp>
        <p:nvCxnSpPr>
          <p:cNvPr id="592" name="Straight Arrow Connector 591">
            <a:extLst>
              <a:ext uri="{FF2B5EF4-FFF2-40B4-BE49-F238E27FC236}">
                <a16:creationId xmlns:a16="http://schemas.microsoft.com/office/drawing/2014/main" id="{71D72AA6-1641-D4EC-B009-71D4F7267838}"/>
              </a:ext>
            </a:extLst>
          </p:cNvPr>
          <p:cNvCxnSpPr>
            <a:cxnSpLocks/>
            <a:stCxn id="7" idx="3"/>
            <a:endCxn id="41" idx="1"/>
          </p:cNvCxnSpPr>
          <p:nvPr/>
        </p:nvCxnSpPr>
        <p:spPr>
          <a:xfrm flipV="1">
            <a:off x="2806500" y="1739489"/>
            <a:ext cx="245226" cy="6036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56995CC4-0EB5-2C69-50F9-231945279161}"/>
              </a:ext>
            </a:extLst>
          </p:cNvPr>
          <p:cNvCxnSpPr>
            <a:cxnSpLocks/>
            <a:stCxn id="41" idx="3"/>
            <a:endCxn id="54" idx="1"/>
          </p:cNvCxnSpPr>
          <p:nvPr/>
        </p:nvCxnSpPr>
        <p:spPr>
          <a:xfrm>
            <a:off x="3784888" y="1739489"/>
            <a:ext cx="862798" cy="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Straight Arrow Connector 597">
            <a:extLst>
              <a:ext uri="{FF2B5EF4-FFF2-40B4-BE49-F238E27FC236}">
                <a16:creationId xmlns:a16="http://schemas.microsoft.com/office/drawing/2014/main" id="{15138234-6E44-51BC-92FD-31C4E520360C}"/>
              </a:ext>
            </a:extLst>
          </p:cNvPr>
          <p:cNvCxnSpPr>
            <a:cxnSpLocks/>
            <a:stCxn id="54" idx="3"/>
            <a:endCxn id="58" idx="1"/>
          </p:cNvCxnSpPr>
          <p:nvPr/>
        </p:nvCxnSpPr>
        <p:spPr>
          <a:xfrm flipV="1">
            <a:off x="5092414" y="1733254"/>
            <a:ext cx="215693" cy="6235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515AD38B-552A-5825-3FC7-5C11158D27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7686" y="1517126"/>
            <a:ext cx="444728" cy="444726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TextBox 614">
            <a:extLst>
              <a:ext uri="{FF2B5EF4-FFF2-40B4-BE49-F238E27FC236}">
                <a16:creationId xmlns:a16="http://schemas.microsoft.com/office/drawing/2014/main" id="{D6870E41-0300-36B0-615C-9D7238419388}"/>
              </a:ext>
            </a:extLst>
          </p:cNvPr>
          <p:cNvSpPr txBox="1"/>
          <p:nvPr/>
        </p:nvSpPr>
        <p:spPr>
          <a:xfrm>
            <a:off x="3792434" y="1467460"/>
            <a:ext cx="8107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ref. num.</a:t>
            </a:r>
          </a:p>
        </p:txBody>
      </p:sp>
      <p:cxnSp>
        <p:nvCxnSpPr>
          <p:cNvPr id="623" name="Connector: Elbow 622">
            <a:extLst>
              <a:ext uri="{FF2B5EF4-FFF2-40B4-BE49-F238E27FC236}">
                <a16:creationId xmlns:a16="http://schemas.microsoft.com/office/drawing/2014/main" id="{906B7A1B-45CC-6604-78D9-BFE1CD87BFF9}"/>
              </a:ext>
            </a:extLst>
          </p:cNvPr>
          <p:cNvCxnSpPr>
            <a:cxnSpLocks/>
            <a:stCxn id="7" idx="2"/>
            <a:endCxn id="46" idx="1"/>
          </p:cNvCxnSpPr>
          <p:nvPr/>
        </p:nvCxnSpPr>
        <p:spPr>
          <a:xfrm rot="16200000" flipH="1">
            <a:off x="2653985" y="1898039"/>
            <a:ext cx="321857" cy="473626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: Elbow 623">
            <a:extLst>
              <a:ext uri="{FF2B5EF4-FFF2-40B4-BE49-F238E27FC236}">
                <a16:creationId xmlns:a16="http://schemas.microsoft.com/office/drawing/2014/main" id="{36CE5DE0-37D7-52D0-CE2E-AF5E65D56E38}"/>
              </a:ext>
            </a:extLst>
          </p:cNvPr>
          <p:cNvCxnSpPr>
            <a:cxnSpLocks/>
            <a:stCxn id="7" idx="2"/>
            <a:endCxn id="589" idx="1"/>
          </p:cNvCxnSpPr>
          <p:nvPr/>
        </p:nvCxnSpPr>
        <p:spPr>
          <a:xfrm rot="16200000" flipH="1">
            <a:off x="2088168" y="2463856"/>
            <a:ext cx="1434441" cy="454576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Rectangle 633">
            <a:extLst>
              <a:ext uri="{FF2B5EF4-FFF2-40B4-BE49-F238E27FC236}">
                <a16:creationId xmlns:a16="http://schemas.microsoft.com/office/drawing/2014/main" id="{70925A01-DB99-A641-1B63-B6966253C641}"/>
              </a:ext>
            </a:extLst>
          </p:cNvPr>
          <p:cNvSpPr/>
          <p:nvPr/>
        </p:nvSpPr>
        <p:spPr>
          <a:xfrm>
            <a:off x="5308107" y="2141053"/>
            <a:ext cx="1144897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2 detail</a:t>
            </a:r>
          </a:p>
        </p:txBody>
      </p:sp>
      <p:cxnSp>
        <p:nvCxnSpPr>
          <p:cNvPr id="635" name="Straight Arrow Connector 634">
            <a:extLst>
              <a:ext uri="{FF2B5EF4-FFF2-40B4-BE49-F238E27FC236}">
                <a16:creationId xmlns:a16="http://schemas.microsoft.com/office/drawing/2014/main" id="{4EDEC558-26C9-57CD-7509-2F47D571D526}"/>
              </a:ext>
            </a:extLst>
          </p:cNvPr>
          <p:cNvCxnSpPr>
            <a:cxnSpLocks/>
            <a:stCxn id="46" idx="3"/>
            <a:endCxn id="637" idx="1"/>
          </p:cNvCxnSpPr>
          <p:nvPr/>
        </p:nvCxnSpPr>
        <p:spPr>
          <a:xfrm flipV="1">
            <a:off x="3784888" y="2295780"/>
            <a:ext cx="862798" cy="1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6" name="Straight Arrow Connector 635">
            <a:extLst>
              <a:ext uri="{FF2B5EF4-FFF2-40B4-BE49-F238E27FC236}">
                <a16:creationId xmlns:a16="http://schemas.microsoft.com/office/drawing/2014/main" id="{A4784266-FC74-82C0-948F-CFA24E2C5895}"/>
              </a:ext>
            </a:extLst>
          </p:cNvPr>
          <p:cNvCxnSpPr>
            <a:cxnSpLocks/>
            <a:stCxn id="637" idx="3"/>
            <a:endCxn id="634" idx="1"/>
          </p:cNvCxnSpPr>
          <p:nvPr/>
        </p:nvCxnSpPr>
        <p:spPr>
          <a:xfrm flipV="1">
            <a:off x="5092414" y="2293453"/>
            <a:ext cx="215693" cy="232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7" name="Picture 636">
            <a:extLst>
              <a:ext uri="{FF2B5EF4-FFF2-40B4-BE49-F238E27FC236}">
                <a16:creationId xmlns:a16="http://schemas.microsoft.com/office/drawing/2014/main" id="{1E076C9B-92FE-200C-806B-711FE92086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7686" y="2073417"/>
            <a:ext cx="444728" cy="444726"/>
          </a:xfrm>
          <a:prstGeom prst="rect">
            <a:avLst/>
          </a:prstGeom>
          <a:noFill/>
          <a:ln>
            <a:noFill/>
          </a:ln>
        </p:spPr>
      </p:pic>
      <p:sp>
        <p:nvSpPr>
          <p:cNvPr id="638" name="TextBox 637">
            <a:extLst>
              <a:ext uri="{FF2B5EF4-FFF2-40B4-BE49-F238E27FC236}">
                <a16:creationId xmlns:a16="http://schemas.microsoft.com/office/drawing/2014/main" id="{B1EECF01-56C8-DDB4-93A3-4D78D7A5831E}"/>
              </a:ext>
            </a:extLst>
          </p:cNvPr>
          <p:cNvSpPr txBox="1"/>
          <p:nvPr/>
        </p:nvSpPr>
        <p:spPr>
          <a:xfrm>
            <a:off x="3792434" y="2011518"/>
            <a:ext cx="8107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ref. num.</a:t>
            </a:r>
          </a:p>
        </p:txBody>
      </p:sp>
      <p:sp>
        <p:nvSpPr>
          <p:cNvPr id="645" name="Rectangle 644">
            <a:extLst>
              <a:ext uri="{FF2B5EF4-FFF2-40B4-BE49-F238E27FC236}">
                <a16:creationId xmlns:a16="http://schemas.microsoft.com/office/drawing/2014/main" id="{13D1585E-C127-DE77-D2E3-AD73E25094EA}"/>
              </a:ext>
            </a:extLst>
          </p:cNvPr>
          <p:cNvSpPr/>
          <p:nvPr/>
        </p:nvSpPr>
        <p:spPr>
          <a:xfrm>
            <a:off x="5289057" y="3251478"/>
            <a:ext cx="1144897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detail</a:t>
            </a:r>
          </a:p>
        </p:txBody>
      </p:sp>
      <p:cxnSp>
        <p:nvCxnSpPr>
          <p:cNvPr id="646" name="Straight Arrow Connector 645">
            <a:extLst>
              <a:ext uri="{FF2B5EF4-FFF2-40B4-BE49-F238E27FC236}">
                <a16:creationId xmlns:a16="http://schemas.microsoft.com/office/drawing/2014/main" id="{7CE68FAF-6211-A773-72E7-F312494BC434}"/>
              </a:ext>
            </a:extLst>
          </p:cNvPr>
          <p:cNvCxnSpPr>
            <a:cxnSpLocks/>
            <a:stCxn id="589" idx="3"/>
            <a:endCxn id="648" idx="1"/>
          </p:cNvCxnSpPr>
          <p:nvPr/>
        </p:nvCxnSpPr>
        <p:spPr>
          <a:xfrm flipV="1">
            <a:off x="3765838" y="3406205"/>
            <a:ext cx="862798" cy="216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traight Arrow Connector 646">
            <a:extLst>
              <a:ext uri="{FF2B5EF4-FFF2-40B4-BE49-F238E27FC236}">
                <a16:creationId xmlns:a16="http://schemas.microsoft.com/office/drawing/2014/main" id="{5AA8C00B-53BF-E303-6561-03DD19EF13F1}"/>
              </a:ext>
            </a:extLst>
          </p:cNvPr>
          <p:cNvCxnSpPr>
            <a:cxnSpLocks/>
            <a:stCxn id="648" idx="3"/>
            <a:endCxn id="645" idx="1"/>
          </p:cNvCxnSpPr>
          <p:nvPr/>
        </p:nvCxnSpPr>
        <p:spPr>
          <a:xfrm flipV="1">
            <a:off x="5073364" y="3403878"/>
            <a:ext cx="215693" cy="232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8" name="Picture 647">
            <a:extLst>
              <a:ext uri="{FF2B5EF4-FFF2-40B4-BE49-F238E27FC236}">
                <a16:creationId xmlns:a16="http://schemas.microsoft.com/office/drawing/2014/main" id="{E9B80EA8-C0F6-A83D-C114-D73C7D502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8636" y="3183842"/>
            <a:ext cx="444728" cy="444726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TextBox 650">
            <a:extLst>
              <a:ext uri="{FF2B5EF4-FFF2-40B4-BE49-F238E27FC236}">
                <a16:creationId xmlns:a16="http://schemas.microsoft.com/office/drawing/2014/main" id="{1A2F4AD3-1779-A4DA-E19F-E5A77B99D85E}"/>
              </a:ext>
            </a:extLst>
          </p:cNvPr>
          <p:cNvSpPr txBox="1"/>
          <p:nvPr/>
        </p:nvSpPr>
        <p:spPr>
          <a:xfrm>
            <a:off x="3765838" y="3121942"/>
            <a:ext cx="833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ref. num.</a:t>
            </a:r>
          </a:p>
        </p:txBody>
      </p:sp>
      <p:cxnSp>
        <p:nvCxnSpPr>
          <p:cNvPr id="653" name="Connector: Elbow 652">
            <a:extLst>
              <a:ext uri="{FF2B5EF4-FFF2-40B4-BE49-F238E27FC236}">
                <a16:creationId xmlns:a16="http://schemas.microsoft.com/office/drawing/2014/main" id="{7D531AE7-EBA9-87B5-3E65-BDD9D25D56C2}"/>
              </a:ext>
            </a:extLst>
          </p:cNvPr>
          <p:cNvCxnSpPr>
            <a:cxnSpLocks/>
            <a:stCxn id="7" idx="2"/>
            <a:endCxn id="49" idx="1"/>
          </p:cNvCxnSpPr>
          <p:nvPr/>
        </p:nvCxnSpPr>
        <p:spPr>
          <a:xfrm rot="16200000" flipH="1">
            <a:off x="2366314" y="2185710"/>
            <a:ext cx="878149" cy="454576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: Elbow 664">
            <a:extLst>
              <a:ext uri="{FF2B5EF4-FFF2-40B4-BE49-F238E27FC236}">
                <a16:creationId xmlns:a16="http://schemas.microsoft.com/office/drawing/2014/main" id="{98039151-42CF-4332-0DD8-CDF3CA8DC53F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1958998" y="1587221"/>
            <a:ext cx="390702" cy="15830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: Elbow 667">
            <a:extLst>
              <a:ext uri="{FF2B5EF4-FFF2-40B4-BE49-F238E27FC236}">
                <a16:creationId xmlns:a16="http://schemas.microsoft.com/office/drawing/2014/main" id="{9339A5C1-F157-8023-AD72-228FE733A92D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 flipV="1">
            <a:off x="1958997" y="1745525"/>
            <a:ext cx="390703" cy="1985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Rectangle 715">
            <a:extLst>
              <a:ext uri="{FF2B5EF4-FFF2-40B4-BE49-F238E27FC236}">
                <a16:creationId xmlns:a16="http://schemas.microsoft.com/office/drawing/2014/main" id="{D6967E82-4C29-9106-10F3-024EFB9459EA}"/>
              </a:ext>
            </a:extLst>
          </p:cNvPr>
          <p:cNvSpPr/>
          <p:nvPr/>
        </p:nvSpPr>
        <p:spPr>
          <a:xfrm>
            <a:off x="6753911" y="1587221"/>
            <a:ext cx="1450082" cy="1969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chemeClr val="accent6">
                  <a:lumMod val="95000"/>
                </a:schemeClr>
              </a:buClr>
            </a:pPr>
            <a:r>
              <a:rPr lang="en-US" sz="1200" b="1" dirty="0">
                <a:solidFill>
                  <a:schemeClr val="accent6">
                    <a:lumMod val="95000"/>
                  </a:schemeClr>
                </a:solidFill>
              </a:rPr>
              <a:t>Job Detail: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title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occupation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employer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description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…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publication date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modification date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location(s)</a:t>
            </a:r>
          </a:p>
        </p:txBody>
      </p:sp>
    </p:spTree>
    <p:extLst>
      <p:ext uri="{BB962C8B-B14F-4D97-AF65-F5344CB8AC3E}">
        <p14:creationId xmlns:p14="http://schemas.microsoft.com/office/powerpoint/2010/main" val="652692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AE5DB787-49F6-6F52-C594-225766EA3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Rectangle 694">
            <a:extLst>
              <a:ext uri="{FF2B5EF4-FFF2-40B4-BE49-F238E27FC236}">
                <a16:creationId xmlns:a16="http://schemas.microsoft.com/office/drawing/2014/main" id="{C9067D10-3746-5A8D-B315-7C1E563F14A2}"/>
              </a:ext>
            </a:extLst>
          </p:cNvPr>
          <p:cNvSpPr/>
          <p:nvPr/>
        </p:nvSpPr>
        <p:spPr>
          <a:xfrm>
            <a:off x="552450" y="1351138"/>
            <a:ext cx="7753350" cy="227743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EC0A4C23-127C-D8BF-C523-07738D36CD8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 err="1">
                <a:latin typeface="Work Sans"/>
                <a:ea typeface="Work Sans"/>
                <a:cs typeface="Work Sans"/>
                <a:sym typeface="Work Sans"/>
              </a:rPr>
              <a:t>Arbeitsagentur</a:t>
            </a: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 API</a:t>
            </a: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76E91F7-E390-4B81-F6C0-439FF1728917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84C39954-145A-9612-8BBA-58A1C7B382B6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2E2160-6499-8454-E4F7-613090506E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700" y="1517126"/>
            <a:ext cx="456800" cy="45679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111F675-B226-3C2E-2A85-B2DA38EF7445}"/>
              </a:ext>
            </a:extLst>
          </p:cNvPr>
          <p:cNvSpPr/>
          <p:nvPr/>
        </p:nvSpPr>
        <p:spPr>
          <a:xfrm>
            <a:off x="625922" y="1434821"/>
            <a:ext cx="1333076" cy="304800"/>
          </a:xfrm>
          <a:prstGeom prst="rect">
            <a:avLst/>
          </a:prstGeom>
          <a:solidFill>
            <a:schemeClr val="accent6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Engineer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D5AD6B8-3F82-E3EA-52CB-C3BBE764384C}"/>
              </a:ext>
            </a:extLst>
          </p:cNvPr>
          <p:cNvSpPr/>
          <p:nvPr/>
        </p:nvSpPr>
        <p:spPr>
          <a:xfrm>
            <a:off x="3051726" y="1587089"/>
            <a:ext cx="733162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3F76DB6-B46D-AB7E-654E-279544BCD648}"/>
              </a:ext>
            </a:extLst>
          </p:cNvPr>
          <p:cNvSpPr/>
          <p:nvPr/>
        </p:nvSpPr>
        <p:spPr>
          <a:xfrm>
            <a:off x="3051726" y="2143381"/>
            <a:ext cx="733162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2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BDF2D95-2030-0D8C-D9F1-B02D0F7950C6}"/>
              </a:ext>
            </a:extLst>
          </p:cNvPr>
          <p:cNvSpPr/>
          <p:nvPr/>
        </p:nvSpPr>
        <p:spPr>
          <a:xfrm>
            <a:off x="3032676" y="2699673"/>
            <a:ext cx="733162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…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8B72C62-99F9-89CD-015A-2E60ECCD858B}"/>
              </a:ext>
            </a:extLst>
          </p:cNvPr>
          <p:cNvSpPr/>
          <p:nvPr/>
        </p:nvSpPr>
        <p:spPr>
          <a:xfrm>
            <a:off x="5308107" y="1580854"/>
            <a:ext cx="1144897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1 detail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63FC65-B8ED-97F8-A34A-39D78C9412F9}"/>
              </a:ext>
            </a:extLst>
          </p:cNvPr>
          <p:cNvSpPr/>
          <p:nvPr/>
        </p:nvSpPr>
        <p:spPr>
          <a:xfrm>
            <a:off x="625921" y="1791655"/>
            <a:ext cx="1333076" cy="304800"/>
          </a:xfrm>
          <a:prstGeom prst="rect">
            <a:avLst/>
          </a:prstGeom>
          <a:solidFill>
            <a:schemeClr val="accent6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 Engineer</a:t>
            </a:r>
          </a:p>
        </p:txBody>
      </p:sp>
      <p:sp>
        <p:nvSpPr>
          <p:cNvPr id="584" name="Left Brace 583">
            <a:extLst>
              <a:ext uri="{FF2B5EF4-FFF2-40B4-BE49-F238E27FC236}">
                <a16:creationId xmlns:a16="http://schemas.microsoft.com/office/drawing/2014/main" id="{C041A930-B481-5661-7233-26353D52A127}"/>
              </a:ext>
            </a:extLst>
          </p:cNvPr>
          <p:cNvSpPr/>
          <p:nvPr/>
        </p:nvSpPr>
        <p:spPr>
          <a:xfrm rot="16200000">
            <a:off x="1204487" y="1570602"/>
            <a:ext cx="175942" cy="1333076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5" name="TextBox 584">
            <a:extLst>
              <a:ext uri="{FF2B5EF4-FFF2-40B4-BE49-F238E27FC236}">
                <a16:creationId xmlns:a16="http://schemas.microsoft.com/office/drawing/2014/main" id="{3F33040D-B6B7-A986-99B5-170B9BB0A444}"/>
              </a:ext>
            </a:extLst>
          </p:cNvPr>
          <p:cNvSpPr txBox="1"/>
          <p:nvPr/>
        </p:nvSpPr>
        <p:spPr>
          <a:xfrm>
            <a:off x="821816" y="2278417"/>
            <a:ext cx="832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keywords</a:t>
            </a:r>
          </a:p>
        </p:txBody>
      </p:sp>
      <p:sp>
        <p:nvSpPr>
          <p:cNvPr id="589" name="Rectangle 588">
            <a:extLst>
              <a:ext uri="{FF2B5EF4-FFF2-40B4-BE49-F238E27FC236}">
                <a16:creationId xmlns:a16="http://schemas.microsoft.com/office/drawing/2014/main" id="{D28CE7DC-F511-BBAF-7526-5B6283740D29}"/>
              </a:ext>
            </a:extLst>
          </p:cNvPr>
          <p:cNvSpPr/>
          <p:nvPr/>
        </p:nvSpPr>
        <p:spPr>
          <a:xfrm>
            <a:off x="3032676" y="3255965"/>
            <a:ext cx="733162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</a:t>
            </a:r>
          </a:p>
        </p:txBody>
      </p:sp>
      <p:cxnSp>
        <p:nvCxnSpPr>
          <p:cNvPr id="592" name="Straight Arrow Connector 591">
            <a:extLst>
              <a:ext uri="{FF2B5EF4-FFF2-40B4-BE49-F238E27FC236}">
                <a16:creationId xmlns:a16="http://schemas.microsoft.com/office/drawing/2014/main" id="{0E3835DF-8A6D-E378-CBB1-84A6AD3AE290}"/>
              </a:ext>
            </a:extLst>
          </p:cNvPr>
          <p:cNvCxnSpPr>
            <a:cxnSpLocks/>
            <a:stCxn id="7" idx="3"/>
            <a:endCxn id="41" idx="1"/>
          </p:cNvCxnSpPr>
          <p:nvPr/>
        </p:nvCxnSpPr>
        <p:spPr>
          <a:xfrm flipV="1">
            <a:off x="2806500" y="1739489"/>
            <a:ext cx="245226" cy="6036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6342D843-D478-1DF7-1D70-B3D197B76C12}"/>
              </a:ext>
            </a:extLst>
          </p:cNvPr>
          <p:cNvCxnSpPr>
            <a:cxnSpLocks/>
            <a:stCxn id="41" idx="3"/>
            <a:endCxn id="54" idx="1"/>
          </p:cNvCxnSpPr>
          <p:nvPr/>
        </p:nvCxnSpPr>
        <p:spPr>
          <a:xfrm>
            <a:off x="3784888" y="1739489"/>
            <a:ext cx="862798" cy="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Straight Arrow Connector 597">
            <a:extLst>
              <a:ext uri="{FF2B5EF4-FFF2-40B4-BE49-F238E27FC236}">
                <a16:creationId xmlns:a16="http://schemas.microsoft.com/office/drawing/2014/main" id="{B00F60F0-FBE7-7F34-68F2-500EFF2D86EE}"/>
              </a:ext>
            </a:extLst>
          </p:cNvPr>
          <p:cNvCxnSpPr>
            <a:cxnSpLocks/>
            <a:stCxn id="54" idx="3"/>
            <a:endCxn id="58" idx="1"/>
          </p:cNvCxnSpPr>
          <p:nvPr/>
        </p:nvCxnSpPr>
        <p:spPr>
          <a:xfrm flipV="1">
            <a:off x="5092414" y="1733254"/>
            <a:ext cx="215693" cy="6235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F6E547F8-3F7D-5ADC-47FD-16CE30EFA9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7686" y="1517126"/>
            <a:ext cx="444728" cy="444726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TextBox 614">
            <a:extLst>
              <a:ext uri="{FF2B5EF4-FFF2-40B4-BE49-F238E27FC236}">
                <a16:creationId xmlns:a16="http://schemas.microsoft.com/office/drawing/2014/main" id="{C907D94D-058E-71F4-D17C-403351FD11FE}"/>
              </a:ext>
            </a:extLst>
          </p:cNvPr>
          <p:cNvSpPr txBox="1"/>
          <p:nvPr/>
        </p:nvSpPr>
        <p:spPr>
          <a:xfrm>
            <a:off x="3792434" y="1467460"/>
            <a:ext cx="8107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ref. num.</a:t>
            </a:r>
          </a:p>
        </p:txBody>
      </p:sp>
      <p:cxnSp>
        <p:nvCxnSpPr>
          <p:cNvPr id="623" name="Connector: Elbow 622">
            <a:extLst>
              <a:ext uri="{FF2B5EF4-FFF2-40B4-BE49-F238E27FC236}">
                <a16:creationId xmlns:a16="http://schemas.microsoft.com/office/drawing/2014/main" id="{E4175216-B516-988A-A079-7768DA703F11}"/>
              </a:ext>
            </a:extLst>
          </p:cNvPr>
          <p:cNvCxnSpPr>
            <a:cxnSpLocks/>
            <a:stCxn id="7" idx="2"/>
            <a:endCxn id="46" idx="1"/>
          </p:cNvCxnSpPr>
          <p:nvPr/>
        </p:nvCxnSpPr>
        <p:spPr>
          <a:xfrm rot="16200000" flipH="1">
            <a:off x="2653985" y="1898039"/>
            <a:ext cx="321857" cy="473626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: Elbow 623">
            <a:extLst>
              <a:ext uri="{FF2B5EF4-FFF2-40B4-BE49-F238E27FC236}">
                <a16:creationId xmlns:a16="http://schemas.microsoft.com/office/drawing/2014/main" id="{AB28BD68-8375-BC64-481B-A8328CA6649C}"/>
              </a:ext>
            </a:extLst>
          </p:cNvPr>
          <p:cNvCxnSpPr>
            <a:cxnSpLocks/>
            <a:stCxn id="7" idx="2"/>
            <a:endCxn id="589" idx="1"/>
          </p:cNvCxnSpPr>
          <p:nvPr/>
        </p:nvCxnSpPr>
        <p:spPr>
          <a:xfrm rot="16200000" flipH="1">
            <a:off x="2088168" y="2463856"/>
            <a:ext cx="1434441" cy="454576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Rectangle 633">
            <a:extLst>
              <a:ext uri="{FF2B5EF4-FFF2-40B4-BE49-F238E27FC236}">
                <a16:creationId xmlns:a16="http://schemas.microsoft.com/office/drawing/2014/main" id="{C7E10563-9A4E-AD41-8205-FC0B99C2E394}"/>
              </a:ext>
            </a:extLst>
          </p:cNvPr>
          <p:cNvSpPr/>
          <p:nvPr/>
        </p:nvSpPr>
        <p:spPr>
          <a:xfrm>
            <a:off x="5308107" y="2141053"/>
            <a:ext cx="1144897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2 detail</a:t>
            </a:r>
          </a:p>
        </p:txBody>
      </p:sp>
      <p:cxnSp>
        <p:nvCxnSpPr>
          <p:cNvPr id="635" name="Straight Arrow Connector 634">
            <a:extLst>
              <a:ext uri="{FF2B5EF4-FFF2-40B4-BE49-F238E27FC236}">
                <a16:creationId xmlns:a16="http://schemas.microsoft.com/office/drawing/2014/main" id="{439BD675-F204-A1BC-9F3E-12850154C89F}"/>
              </a:ext>
            </a:extLst>
          </p:cNvPr>
          <p:cNvCxnSpPr>
            <a:cxnSpLocks/>
            <a:stCxn id="46" idx="3"/>
            <a:endCxn id="637" idx="1"/>
          </p:cNvCxnSpPr>
          <p:nvPr/>
        </p:nvCxnSpPr>
        <p:spPr>
          <a:xfrm flipV="1">
            <a:off x="3784888" y="2295780"/>
            <a:ext cx="862798" cy="1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6" name="Straight Arrow Connector 635">
            <a:extLst>
              <a:ext uri="{FF2B5EF4-FFF2-40B4-BE49-F238E27FC236}">
                <a16:creationId xmlns:a16="http://schemas.microsoft.com/office/drawing/2014/main" id="{E68825F8-6330-3FD0-7F0E-B67198937D9F}"/>
              </a:ext>
            </a:extLst>
          </p:cNvPr>
          <p:cNvCxnSpPr>
            <a:cxnSpLocks/>
            <a:stCxn id="637" idx="3"/>
            <a:endCxn id="634" idx="1"/>
          </p:cNvCxnSpPr>
          <p:nvPr/>
        </p:nvCxnSpPr>
        <p:spPr>
          <a:xfrm flipV="1">
            <a:off x="5092414" y="2293453"/>
            <a:ext cx="215693" cy="232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7" name="Picture 636">
            <a:extLst>
              <a:ext uri="{FF2B5EF4-FFF2-40B4-BE49-F238E27FC236}">
                <a16:creationId xmlns:a16="http://schemas.microsoft.com/office/drawing/2014/main" id="{EDBF890F-4AB2-7992-B1DA-16AFEA64EE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7686" y="2073417"/>
            <a:ext cx="444728" cy="444726"/>
          </a:xfrm>
          <a:prstGeom prst="rect">
            <a:avLst/>
          </a:prstGeom>
          <a:noFill/>
          <a:ln>
            <a:noFill/>
          </a:ln>
        </p:spPr>
      </p:pic>
      <p:sp>
        <p:nvSpPr>
          <p:cNvPr id="638" name="TextBox 637">
            <a:extLst>
              <a:ext uri="{FF2B5EF4-FFF2-40B4-BE49-F238E27FC236}">
                <a16:creationId xmlns:a16="http://schemas.microsoft.com/office/drawing/2014/main" id="{A594E176-F609-056F-9C6A-5F7927D603EE}"/>
              </a:ext>
            </a:extLst>
          </p:cNvPr>
          <p:cNvSpPr txBox="1"/>
          <p:nvPr/>
        </p:nvSpPr>
        <p:spPr>
          <a:xfrm>
            <a:off x="3792434" y="2011518"/>
            <a:ext cx="8107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ref. num.</a:t>
            </a:r>
          </a:p>
        </p:txBody>
      </p:sp>
      <p:sp>
        <p:nvSpPr>
          <p:cNvPr id="645" name="Rectangle 644">
            <a:extLst>
              <a:ext uri="{FF2B5EF4-FFF2-40B4-BE49-F238E27FC236}">
                <a16:creationId xmlns:a16="http://schemas.microsoft.com/office/drawing/2014/main" id="{A5090F92-132E-9C5B-0F35-17EDF36F7765}"/>
              </a:ext>
            </a:extLst>
          </p:cNvPr>
          <p:cNvSpPr/>
          <p:nvPr/>
        </p:nvSpPr>
        <p:spPr>
          <a:xfrm>
            <a:off x="5289057" y="3251478"/>
            <a:ext cx="1144897" cy="30480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Job </a:t>
            </a:r>
            <a:r>
              <a:rPr lang="en-US" sz="12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</a:t>
            </a: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detail</a:t>
            </a:r>
          </a:p>
        </p:txBody>
      </p:sp>
      <p:cxnSp>
        <p:nvCxnSpPr>
          <p:cNvPr id="646" name="Straight Arrow Connector 645">
            <a:extLst>
              <a:ext uri="{FF2B5EF4-FFF2-40B4-BE49-F238E27FC236}">
                <a16:creationId xmlns:a16="http://schemas.microsoft.com/office/drawing/2014/main" id="{4680BA15-B98D-DE10-4658-AA38038F9970}"/>
              </a:ext>
            </a:extLst>
          </p:cNvPr>
          <p:cNvCxnSpPr>
            <a:cxnSpLocks/>
            <a:stCxn id="589" idx="3"/>
            <a:endCxn id="648" idx="1"/>
          </p:cNvCxnSpPr>
          <p:nvPr/>
        </p:nvCxnSpPr>
        <p:spPr>
          <a:xfrm flipV="1">
            <a:off x="3765838" y="3406205"/>
            <a:ext cx="862798" cy="216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traight Arrow Connector 646">
            <a:extLst>
              <a:ext uri="{FF2B5EF4-FFF2-40B4-BE49-F238E27FC236}">
                <a16:creationId xmlns:a16="http://schemas.microsoft.com/office/drawing/2014/main" id="{E8149D7A-5FB9-0BA9-0087-5674B651301E}"/>
              </a:ext>
            </a:extLst>
          </p:cNvPr>
          <p:cNvCxnSpPr>
            <a:cxnSpLocks/>
            <a:stCxn id="648" idx="3"/>
            <a:endCxn id="645" idx="1"/>
          </p:cNvCxnSpPr>
          <p:nvPr/>
        </p:nvCxnSpPr>
        <p:spPr>
          <a:xfrm flipV="1">
            <a:off x="5073364" y="3403878"/>
            <a:ext cx="215693" cy="232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8" name="Picture 647">
            <a:extLst>
              <a:ext uri="{FF2B5EF4-FFF2-40B4-BE49-F238E27FC236}">
                <a16:creationId xmlns:a16="http://schemas.microsoft.com/office/drawing/2014/main" id="{D14FD688-7120-6F03-9D9C-F7DE0223C1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8636" y="3183842"/>
            <a:ext cx="444728" cy="444726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TextBox 650">
            <a:extLst>
              <a:ext uri="{FF2B5EF4-FFF2-40B4-BE49-F238E27FC236}">
                <a16:creationId xmlns:a16="http://schemas.microsoft.com/office/drawing/2014/main" id="{2205FD4F-AEFB-B549-C419-24BD407D92D1}"/>
              </a:ext>
            </a:extLst>
          </p:cNvPr>
          <p:cNvSpPr txBox="1"/>
          <p:nvPr/>
        </p:nvSpPr>
        <p:spPr>
          <a:xfrm>
            <a:off x="3765838" y="3121942"/>
            <a:ext cx="833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ref. num.</a:t>
            </a:r>
          </a:p>
        </p:txBody>
      </p:sp>
      <p:cxnSp>
        <p:nvCxnSpPr>
          <p:cNvPr id="653" name="Connector: Elbow 652">
            <a:extLst>
              <a:ext uri="{FF2B5EF4-FFF2-40B4-BE49-F238E27FC236}">
                <a16:creationId xmlns:a16="http://schemas.microsoft.com/office/drawing/2014/main" id="{65833438-AD0B-3EAB-D827-8602EEB5C874}"/>
              </a:ext>
            </a:extLst>
          </p:cNvPr>
          <p:cNvCxnSpPr>
            <a:cxnSpLocks/>
            <a:stCxn id="7" idx="2"/>
            <a:endCxn id="49" idx="1"/>
          </p:cNvCxnSpPr>
          <p:nvPr/>
        </p:nvCxnSpPr>
        <p:spPr>
          <a:xfrm rot="16200000" flipH="1">
            <a:off x="2366314" y="2185710"/>
            <a:ext cx="878149" cy="454576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: Elbow 664">
            <a:extLst>
              <a:ext uri="{FF2B5EF4-FFF2-40B4-BE49-F238E27FC236}">
                <a16:creationId xmlns:a16="http://schemas.microsoft.com/office/drawing/2014/main" id="{6C7AF956-3757-2A3C-FDA5-CDF013455CA7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1958998" y="1587221"/>
            <a:ext cx="390702" cy="15830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: Elbow 667">
            <a:extLst>
              <a:ext uri="{FF2B5EF4-FFF2-40B4-BE49-F238E27FC236}">
                <a16:creationId xmlns:a16="http://schemas.microsoft.com/office/drawing/2014/main" id="{BC37C225-5A70-985B-B6D4-AC6C6DBF24DA}"/>
              </a:ext>
            </a:extLst>
          </p:cNvPr>
          <p:cNvCxnSpPr>
            <a:cxnSpLocks/>
            <a:stCxn id="10" idx="3"/>
            <a:endCxn id="7" idx="1"/>
          </p:cNvCxnSpPr>
          <p:nvPr/>
        </p:nvCxnSpPr>
        <p:spPr>
          <a:xfrm flipV="1">
            <a:off x="1958997" y="1745525"/>
            <a:ext cx="390703" cy="1985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Rectangle 715">
            <a:extLst>
              <a:ext uri="{FF2B5EF4-FFF2-40B4-BE49-F238E27FC236}">
                <a16:creationId xmlns:a16="http://schemas.microsoft.com/office/drawing/2014/main" id="{F350340C-E444-115D-A172-52858EE4490E}"/>
              </a:ext>
            </a:extLst>
          </p:cNvPr>
          <p:cNvSpPr/>
          <p:nvPr/>
        </p:nvSpPr>
        <p:spPr>
          <a:xfrm>
            <a:off x="6753911" y="1587221"/>
            <a:ext cx="1450082" cy="1969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chemeClr val="accent6">
                  <a:lumMod val="95000"/>
                </a:schemeClr>
              </a:buClr>
            </a:pPr>
            <a:r>
              <a:rPr lang="en-US" sz="1200" b="1" dirty="0">
                <a:solidFill>
                  <a:schemeClr val="accent6">
                    <a:lumMod val="95000"/>
                  </a:schemeClr>
                </a:solidFill>
              </a:rPr>
              <a:t>Job Detail: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title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occupation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employer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description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…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publication date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modification date</a:t>
            </a:r>
          </a:p>
          <a:p>
            <a:pPr marL="171450" indent="-171450">
              <a:buClr>
                <a:schemeClr val="accent6">
                  <a:lumMod val="95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accent6">
                    <a:lumMod val="95000"/>
                  </a:schemeClr>
                </a:solidFill>
              </a:rPr>
              <a:t>location(s)</a:t>
            </a:r>
          </a:p>
        </p:txBody>
      </p:sp>
    </p:spTree>
    <p:extLst>
      <p:ext uri="{BB962C8B-B14F-4D97-AF65-F5344CB8AC3E}">
        <p14:creationId xmlns:p14="http://schemas.microsoft.com/office/powerpoint/2010/main" val="849637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705945" y="546653"/>
            <a:ext cx="7622715" cy="407007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3438876" y="1748938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37121" y="2231011"/>
              <a:ext cx="299163" cy="299163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2930621" y="756895"/>
            <a:ext cx="1874928" cy="423153"/>
            <a:chOff x="952134" y="2258330"/>
            <a:chExt cx="1874928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952134" y="2258330"/>
              <a:ext cx="1874928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 err="1"/>
                <a:t>Arbeitsagentur</a:t>
              </a:r>
              <a:r>
                <a:rPr lang="en-US" sz="1200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7978" y="2316101"/>
              <a:ext cx="326543" cy="326543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7991" y="1750129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5768" y="1748938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3851910" y="1257177"/>
            <a:ext cx="15801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5073" y="3439301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3868085" y="1180048"/>
            <a:ext cx="3" cy="56889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1573271" y="1724195"/>
            <a:ext cx="1856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JSON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6612918" y="1519296"/>
            <a:ext cx="1113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(for indexing)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756203" y="2184533"/>
            <a:ext cx="1077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 Archive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0160" y="3980795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1521" y="3423026"/>
            <a:ext cx="690489" cy="509775"/>
          </a:xfrm>
          <a:prstGeom prst="rect">
            <a:avLst/>
          </a:prstGeom>
        </p:spPr>
      </p:pic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25551" y="3993350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23592" y="3123955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0761" y="3578758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cxnSpLocks/>
            <a:stCxn id="661" idx="1"/>
            <a:endCxn id="723" idx="3"/>
          </p:cNvCxnSpPr>
          <p:nvPr/>
        </p:nvCxnSpPr>
        <p:spPr>
          <a:xfrm flipH="1" flipV="1">
            <a:off x="2223749" y="3277844"/>
            <a:ext cx="571324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226582" y="3694189"/>
            <a:ext cx="568491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194019" y="3694189"/>
            <a:ext cx="601054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4297300" y="1960515"/>
            <a:ext cx="1850691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3513132" y="3234168"/>
            <a:ext cx="1267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(ordered) jobs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 statistics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290" y="3411669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1517977" y="3119061"/>
            <a:ext cx="307907" cy="1173757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1509264" y="1960515"/>
            <a:ext cx="1929612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756204" y="620303"/>
            <a:ext cx="5119893" cy="1883507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756203" y="2740982"/>
            <a:ext cx="5119894" cy="178282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756203" y="620303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766079" y="2754037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53646" y="1432798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87069" y="3965352"/>
            <a:ext cx="857296" cy="1573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42F1A4-C140-4460-3CA0-48A6F4C1847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92724" y="1435563"/>
            <a:ext cx="253705" cy="2799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3A23106-2A25-7B27-978E-FD3725DB8F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435" y="1748938"/>
            <a:ext cx="473331" cy="423153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793FD6-EB05-0FC5-0AE0-D969175F3D22}"/>
              </a:ext>
            </a:extLst>
          </p:cNvPr>
          <p:cNvCxnSpPr>
            <a:cxnSpLocks/>
            <a:stCxn id="44" idx="3"/>
            <a:endCxn id="18" idx="1"/>
          </p:cNvCxnSpPr>
          <p:nvPr/>
        </p:nvCxnSpPr>
        <p:spPr>
          <a:xfrm flipV="1">
            <a:off x="6621322" y="1960515"/>
            <a:ext cx="1121113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9DE97DCC-3122-A5DE-835F-1CCBF7C99D7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37742" y="1439158"/>
            <a:ext cx="282715" cy="282715"/>
          </a:xfrm>
          <a:prstGeom prst="rect">
            <a:avLst/>
          </a:prstGeom>
        </p:spPr>
      </p:pic>
      <p:cxnSp>
        <p:nvCxnSpPr>
          <p:cNvPr id="588" name="Straight Arrow Connector 587">
            <a:extLst>
              <a:ext uri="{FF2B5EF4-FFF2-40B4-BE49-F238E27FC236}">
                <a16:creationId xmlns:a16="http://schemas.microsoft.com/office/drawing/2014/main" id="{184FC1D6-6717-58A9-46F8-8C3C86B99327}"/>
              </a:ext>
            </a:extLst>
          </p:cNvPr>
          <p:cNvCxnSpPr>
            <a:cxnSpLocks/>
            <a:stCxn id="715" idx="1"/>
            <a:endCxn id="661" idx="3"/>
          </p:cNvCxnSpPr>
          <p:nvPr/>
        </p:nvCxnSpPr>
        <p:spPr>
          <a:xfrm flipH="1">
            <a:off x="3436362" y="3677914"/>
            <a:ext cx="1305159" cy="162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5" name="Rectangle 604">
            <a:extLst>
              <a:ext uri="{FF2B5EF4-FFF2-40B4-BE49-F238E27FC236}">
                <a16:creationId xmlns:a16="http://schemas.microsoft.com/office/drawing/2014/main" id="{BB537319-88C9-3161-B33D-8543292F34CA}"/>
              </a:ext>
            </a:extLst>
          </p:cNvPr>
          <p:cNvSpPr/>
          <p:nvPr/>
        </p:nvSpPr>
        <p:spPr>
          <a:xfrm>
            <a:off x="5275518" y="3423025"/>
            <a:ext cx="156492" cy="287438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C5B58E3C-8158-F84D-D865-BA372312EAA2}"/>
              </a:ext>
            </a:extLst>
          </p:cNvPr>
          <p:cNvSpPr/>
          <p:nvPr/>
        </p:nvSpPr>
        <p:spPr>
          <a:xfrm>
            <a:off x="5275518" y="3677914"/>
            <a:ext cx="156492" cy="318880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1" name="Connector: Elbow 610">
            <a:extLst>
              <a:ext uri="{FF2B5EF4-FFF2-40B4-BE49-F238E27FC236}">
                <a16:creationId xmlns:a16="http://schemas.microsoft.com/office/drawing/2014/main" id="{1BBD5613-37FE-E1FD-8160-109F1F602399}"/>
              </a:ext>
            </a:extLst>
          </p:cNvPr>
          <p:cNvCxnSpPr>
            <a:cxnSpLocks/>
            <a:stCxn id="44" idx="2"/>
            <a:endCxn id="605" idx="3"/>
          </p:cNvCxnSpPr>
          <p:nvPr/>
        </p:nvCxnSpPr>
        <p:spPr>
          <a:xfrm rot="5400000">
            <a:off x="5211603" y="2393690"/>
            <a:ext cx="1393462" cy="95264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: Elbow 633">
            <a:extLst>
              <a:ext uri="{FF2B5EF4-FFF2-40B4-BE49-F238E27FC236}">
                <a16:creationId xmlns:a16="http://schemas.microsoft.com/office/drawing/2014/main" id="{B2EDC0BF-AFC2-0DCD-5B2E-9F9DFBB09E6B}"/>
              </a:ext>
            </a:extLst>
          </p:cNvPr>
          <p:cNvCxnSpPr>
            <a:cxnSpLocks/>
            <a:stCxn id="18" idx="2"/>
            <a:endCxn id="609" idx="3"/>
          </p:cNvCxnSpPr>
          <p:nvPr/>
        </p:nvCxnSpPr>
        <p:spPr>
          <a:xfrm rot="5400000">
            <a:off x="5872925" y="1731177"/>
            <a:ext cx="1665263" cy="2547091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7" name="TextBox 646">
            <a:extLst>
              <a:ext uri="{FF2B5EF4-FFF2-40B4-BE49-F238E27FC236}">
                <a16:creationId xmlns:a16="http://schemas.microsoft.com/office/drawing/2014/main" id="{B6EFF458-9E48-A793-431D-50C56334DC54}"/>
              </a:ext>
            </a:extLst>
          </p:cNvPr>
          <p:cNvSpPr txBox="1"/>
          <p:nvPr/>
        </p:nvSpPr>
        <p:spPr>
          <a:xfrm>
            <a:off x="4445402" y="1693939"/>
            <a:ext cx="144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structured job data</a:t>
            </a:r>
          </a:p>
        </p:txBody>
      </p:sp>
      <p:sp>
        <p:nvSpPr>
          <p:cNvPr id="677" name="TextBox 676">
            <a:extLst>
              <a:ext uri="{FF2B5EF4-FFF2-40B4-BE49-F238E27FC236}">
                <a16:creationId xmlns:a16="http://schemas.microsoft.com/office/drawing/2014/main" id="{360B69CB-B9B6-034D-EA88-83EE80188FF7}"/>
              </a:ext>
            </a:extLst>
          </p:cNvPr>
          <p:cNvSpPr txBox="1"/>
          <p:nvPr/>
        </p:nvSpPr>
        <p:spPr>
          <a:xfrm rot="16200000">
            <a:off x="5556076" y="2730322"/>
            <a:ext cx="13934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statistics</a:t>
            </a:r>
          </a:p>
        </p:txBody>
      </p:sp>
      <p:sp>
        <p:nvSpPr>
          <p:cNvPr id="682" name="TextBox 681">
            <a:extLst>
              <a:ext uri="{FF2B5EF4-FFF2-40B4-BE49-F238E27FC236}">
                <a16:creationId xmlns:a16="http://schemas.microsoft.com/office/drawing/2014/main" id="{D7776ED6-C7CE-73AE-5C84-FDC04C1FA984}"/>
              </a:ext>
            </a:extLst>
          </p:cNvPr>
          <p:cNvSpPr txBox="1"/>
          <p:nvPr/>
        </p:nvSpPr>
        <p:spPr>
          <a:xfrm rot="16200000">
            <a:off x="7029970" y="2852066"/>
            <a:ext cx="1675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ranked job IDs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99041" y="515898"/>
            <a:ext cx="7827064" cy="373995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68336" y="3083680"/>
            <a:ext cx="7353124" cy="1037904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68336" y="1874384"/>
            <a:ext cx="7353124" cy="1037904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68338" y="664298"/>
            <a:ext cx="7354956" cy="1037904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Data Ingestion &amp; Enrichment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549" y="3426310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080" y="963907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626651" y="1186955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5035415" y="1358339"/>
            <a:ext cx="1009104" cy="1125723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449" y="2201286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392193" y="1034322"/>
            <a:ext cx="104624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399106" y="2243619"/>
            <a:ext cx="104624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393951" y="3451154"/>
            <a:ext cx="104273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694" y="3155189"/>
            <a:ext cx="231040" cy="238314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903276" y="2296947"/>
            <a:ext cx="983860" cy="1698019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202" y="1010049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93581" y="809985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234912" y="801852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67982" y="1186955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70496" y="801852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309313" y="1186955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644897" y="1186955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58442" y="2054902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902704" y="2054902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632843" y="2425752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742945" y="2425752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244216" y="3267037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503185" y="1876342"/>
            <a:ext cx="1818275" cy="10379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503185" y="659574"/>
            <a:ext cx="1818275" cy="10379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318617" y="3637887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975EE54-85E5-3D7E-6B24-B886D2DB4A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08646" y="691786"/>
            <a:ext cx="207645" cy="2291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95C1F3-4ABB-3509-9B36-3EC51D910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4723" y="1923609"/>
            <a:ext cx="207645" cy="22912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B7110E9-19F6-1DEF-4900-FCE0B48247F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747" y="4354845"/>
            <a:ext cx="736364" cy="28570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2E764D6E-DA91-7F0D-FC43-0D2528EDDD29}"/>
              </a:ext>
            </a:extLst>
          </p:cNvPr>
          <p:cNvSpPr txBox="1"/>
          <p:nvPr/>
        </p:nvSpPr>
        <p:spPr>
          <a:xfrm>
            <a:off x="3818107" y="4380480"/>
            <a:ext cx="45033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Extract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→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Transform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→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Load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→ Update Freshness → Sync Elasticsearch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374BB4-C656-AE7F-C9B2-DA2956EE5DE0}"/>
              </a:ext>
            </a:extLst>
          </p:cNvPr>
          <p:cNvSpPr txBox="1"/>
          <p:nvPr/>
        </p:nvSpPr>
        <p:spPr>
          <a:xfrm>
            <a:off x="768340" y="4367614"/>
            <a:ext cx="22225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Automated daily at 06:00 with </a:t>
            </a:r>
          </a:p>
        </p:txBody>
      </p: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F97FE87B-7472-CD42-506E-A45868250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5F9E52CB-B0D3-9E6D-5F1C-2CBE5009A9C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Location Enrichment</a:t>
            </a: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C587DEAB-0FBE-86E7-FA3D-82463C67CD3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2CBF42E-F08B-4A5A-03A4-54DAF1E25E2E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39445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86BCAE19-626F-0A4C-20D7-09916762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B4DFAF18-B280-861B-8053-3C0E71346A42}"/>
              </a:ext>
            </a:extLst>
          </p:cNvPr>
          <p:cNvSpPr/>
          <p:nvPr/>
        </p:nvSpPr>
        <p:spPr>
          <a:xfrm>
            <a:off x="1095375" y="1057275"/>
            <a:ext cx="6296025" cy="211722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35DCA47-32C4-3F81-5E1F-3545BA4DAB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From Job Advertisements to Comparable Data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E52905AB-80C8-4057-C442-3DC5527B7A4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332F1C11-21A7-EA60-2DB3-5D3A8339AC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7526F36-899D-A9B6-26DC-620C1FE30E55}"/>
              </a:ext>
            </a:extLst>
          </p:cNvPr>
          <p:cNvSpPr/>
          <p:nvPr/>
        </p:nvSpPr>
        <p:spPr>
          <a:xfrm>
            <a:off x="1179585" y="1123122"/>
            <a:ext cx="2154994" cy="141336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Engineer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Senior Data Platform Engineer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Backend Engineer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Machine Learning Engineer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 Data Specialist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Python Developer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...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2FAFB4-C365-A9C8-0428-BB40BCCDC4BA}"/>
              </a:ext>
            </a:extLst>
          </p:cNvPr>
          <p:cNvSpPr/>
          <p:nvPr/>
        </p:nvSpPr>
        <p:spPr>
          <a:xfrm>
            <a:off x="5148471" y="1123122"/>
            <a:ext cx="2154994" cy="1413360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/ Machine Learning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Engineering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 Analysis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Cloud / DevOps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 Development</a:t>
            </a:r>
          </a:p>
          <a:p>
            <a:pPr marL="228600" indent="-228600">
              <a:buFont typeface="Courier New" panose="02070309020205020404" pitchFamily="49" charset="0"/>
              <a:buChar char="o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Other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497B89A-E88D-C0A2-B042-997509BB5C2F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3334579" y="1829802"/>
            <a:ext cx="1813892" cy="0"/>
          </a:xfrm>
          <a:prstGeom prst="straightConnector1">
            <a:avLst/>
          </a:prstGeom>
          <a:ln w="15875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F97B41B-10D5-8F9B-C134-9C036E59C7DF}"/>
              </a:ext>
            </a:extLst>
          </p:cNvPr>
          <p:cNvSpPr txBox="1"/>
          <p:nvPr/>
        </p:nvSpPr>
        <p:spPr>
          <a:xfrm>
            <a:off x="1179585" y="2607622"/>
            <a:ext cx="215499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Raw titles are too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heterogeneous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for consistent analysis and visualization.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43BC4A-AFB7-ACD6-0C63-A7D083DF12FD}"/>
              </a:ext>
            </a:extLst>
          </p:cNvPr>
          <p:cNvSpPr txBox="1"/>
          <p:nvPr/>
        </p:nvSpPr>
        <p:spPr>
          <a:xfrm>
            <a:off x="5148471" y="2607019"/>
            <a:ext cx="215499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Broad standardized categories derived from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title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and 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occupation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with “Other” as fallback.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979BEE-7BA6-2F43-E283-EA8B994D252A}"/>
              </a:ext>
            </a:extLst>
          </p:cNvPr>
          <p:cNvSpPr txBox="1"/>
          <p:nvPr/>
        </p:nvSpPr>
        <p:spPr>
          <a:xfrm>
            <a:off x="3334579" y="1583581"/>
            <a:ext cx="18138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rule-based classification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CA642B-3E30-7625-F750-89191B7DE988}"/>
              </a:ext>
            </a:extLst>
          </p:cNvPr>
          <p:cNvSpPr txBox="1"/>
          <p:nvPr/>
        </p:nvSpPr>
        <p:spPr>
          <a:xfrm>
            <a:off x="1179585" y="3512546"/>
            <a:ext cx="61238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i="1" dirty="0"/>
              <a:t>Priority example: </a:t>
            </a:r>
            <a:r>
              <a:rPr lang="en-US" sz="1000" i="1" dirty="0"/>
              <a:t>“Backend Developer for Machine Learning” → “AI / Machine Learning”</a:t>
            </a:r>
          </a:p>
        </p:txBody>
      </p:sp>
    </p:spTree>
    <p:extLst>
      <p:ext uri="{BB962C8B-B14F-4D97-AF65-F5344CB8AC3E}">
        <p14:creationId xmlns:p14="http://schemas.microsoft.com/office/powerpoint/2010/main" val="2136304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934A105-1565-8E9E-79D9-C08D8FB3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769">
            <a:extLst>
              <a:ext uri="{FF2B5EF4-FFF2-40B4-BE49-F238E27FC236}">
                <a16:creationId xmlns:a16="http://schemas.microsoft.com/office/drawing/2014/main" id="{F3188604-7F83-AF2E-AFE4-C0D7A6FE202C}"/>
              </a:ext>
            </a:extLst>
          </p:cNvPr>
          <p:cNvSpPr/>
          <p:nvPr/>
        </p:nvSpPr>
        <p:spPr>
          <a:xfrm>
            <a:off x="580826" y="1210986"/>
            <a:ext cx="7817927" cy="32249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4" name="Rectangle: Rounded Corners 613">
            <a:extLst>
              <a:ext uri="{FF2B5EF4-FFF2-40B4-BE49-F238E27FC236}">
                <a16:creationId xmlns:a16="http://schemas.microsoft.com/office/drawing/2014/main" id="{A359472B-AA9D-49AF-F703-5E0F188125BA}"/>
              </a:ext>
            </a:extLst>
          </p:cNvPr>
          <p:cNvSpPr/>
          <p:nvPr/>
        </p:nvSpPr>
        <p:spPr>
          <a:xfrm>
            <a:off x="1291524" y="2705396"/>
            <a:ext cx="1898302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first_publication_date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← JSON</a:t>
            </a: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unchanged_republish_count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0</a:t>
            </a:r>
          </a:p>
        </p:txBody>
      </p:sp>
      <p:sp>
        <p:nvSpPr>
          <p:cNvPr id="606" name="Diamond 605">
            <a:extLst>
              <a:ext uri="{FF2B5EF4-FFF2-40B4-BE49-F238E27FC236}">
                <a16:creationId xmlns:a16="http://schemas.microsoft.com/office/drawing/2014/main" id="{485896DF-E7D8-7E7F-C967-F92F681B27B9}"/>
              </a:ext>
            </a:extLst>
          </p:cNvPr>
          <p:cNvSpPr/>
          <p:nvPr/>
        </p:nvSpPr>
        <p:spPr>
          <a:xfrm>
            <a:off x="5793360" y="1390260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Has 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 date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changed?</a:t>
            </a:r>
          </a:p>
        </p:txBody>
      </p:sp>
      <p:sp>
        <p:nvSpPr>
          <p:cNvPr id="612" name="Diamond 611">
            <a:extLst>
              <a:ext uri="{FF2B5EF4-FFF2-40B4-BE49-F238E27FC236}">
                <a16:creationId xmlns:a16="http://schemas.microsoft.com/office/drawing/2014/main" id="{FBDF46A3-F257-9BD4-F988-ECBA28A4EA4A}"/>
              </a:ext>
            </a:extLst>
          </p:cNvPr>
          <p:cNvSpPr/>
          <p:nvPr/>
        </p:nvSpPr>
        <p:spPr>
          <a:xfrm>
            <a:off x="3608828" y="1390260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Has </a:t>
            </a:r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changed?</a:t>
            </a:r>
          </a:p>
        </p:txBody>
      </p:sp>
      <p:sp>
        <p:nvSpPr>
          <p:cNvPr id="616" name="Rectangle: Rounded Corners 615">
            <a:extLst>
              <a:ext uri="{FF2B5EF4-FFF2-40B4-BE49-F238E27FC236}">
                <a16:creationId xmlns:a16="http://schemas.microsoft.com/office/drawing/2014/main" id="{AB0F2FF9-9428-5761-E4BB-6AAB4C36EA8A}"/>
              </a:ext>
            </a:extLst>
          </p:cNvPr>
          <p:cNvSpPr/>
          <p:nvPr/>
        </p:nvSpPr>
        <p:spPr>
          <a:xfrm>
            <a:off x="3470691" y="2705397"/>
            <a:ext cx="1898302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unchanged_republish_count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9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0</a:t>
            </a:r>
          </a:p>
        </p:txBody>
      </p:sp>
      <p:sp>
        <p:nvSpPr>
          <p:cNvPr id="671" name="Rectangle: Rounded Corners 670">
            <a:extLst>
              <a:ext uri="{FF2B5EF4-FFF2-40B4-BE49-F238E27FC236}">
                <a16:creationId xmlns:a16="http://schemas.microsoft.com/office/drawing/2014/main" id="{071FCF9E-3303-1387-5DD1-F0E80D53215C}"/>
              </a:ext>
            </a:extLst>
          </p:cNvPr>
          <p:cNvSpPr/>
          <p:nvPr/>
        </p:nvSpPr>
        <p:spPr>
          <a:xfrm>
            <a:off x="5655223" y="2705396"/>
            <a:ext cx="1898302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← JSON</a:t>
            </a:r>
          </a:p>
          <a:p>
            <a:endParaRPr lang="en-US" sz="9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9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unchanged_republish_count</a:t>
            </a:r>
            <a:r>
              <a:rPr lang="en-US" sz="9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++</a:t>
            </a:r>
            <a:endParaRPr lang="en-US" sz="9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86" name="Diamond 685">
            <a:extLst>
              <a:ext uri="{FF2B5EF4-FFF2-40B4-BE49-F238E27FC236}">
                <a16:creationId xmlns:a16="http://schemas.microsoft.com/office/drawing/2014/main" id="{13C611E5-5462-A97D-D3B5-FF2419235E6B}"/>
              </a:ext>
            </a:extLst>
          </p:cNvPr>
          <p:cNvSpPr/>
          <p:nvPr/>
        </p:nvSpPr>
        <p:spPr>
          <a:xfrm>
            <a:off x="1429661" y="1390260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Already </a:t>
            </a:r>
            <a:r>
              <a:rPr lang="en-US" sz="1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database?</a:t>
            </a:r>
          </a:p>
        </p:txBody>
      </p:sp>
      <p:sp>
        <p:nvSpPr>
          <p:cNvPr id="684" name="Oval 683">
            <a:extLst>
              <a:ext uri="{FF2B5EF4-FFF2-40B4-BE49-F238E27FC236}">
                <a16:creationId xmlns:a16="http://schemas.microsoft.com/office/drawing/2014/main" id="{F57A6728-491F-D2E8-B867-69D3AEFBEAD2}"/>
              </a:ext>
            </a:extLst>
          </p:cNvPr>
          <p:cNvSpPr/>
          <p:nvPr/>
        </p:nvSpPr>
        <p:spPr>
          <a:xfrm>
            <a:off x="812479" y="1776457"/>
            <a:ext cx="211150" cy="211150"/>
          </a:xfrm>
          <a:prstGeom prst="ellipse">
            <a:avLst/>
          </a:prstGeom>
          <a:solidFill>
            <a:schemeClr val="tx1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A3304F64-3404-0A9D-002F-CCC069DA069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Tracking Job Freshness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589C5C5E-FCD5-3523-1CE8-149488591D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68986EA9-AE22-73FE-AF3D-0D16234CB3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A35B76-BFE6-5162-98B2-4E3E200FEFE4}"/>
              </a:ext>
            </a:extLst>
          </p:cNvPr>
          <p:cNvSpPr txBox="1"/>
          <p:nvPr/>
        </p:nvSpPr>
        <p:spPr>
          <a:xfrm>
            <a:off x="198000" y="707612"/>
            <a:ext cx="8044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Problem: </a:t>
            </a:r>
            <a:r>
              <a:rPr lang="en-US" dirty="0"/>
              <a:t>recent publication date ≠ necessarily a fresh advertisement.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07FA96-9EA1-B03A-B8EA-3EA59A741B61}"/>
              </a:ext>
            </a:extLst>
          </p:cNvPr>
          <p:cNvSpPr txBox="1"/>
          <p:nvPr/>
        </p:nvSpPr>
        <p:spPr>
          <a:xfrm>
            <a:off x="5218600" y="1627527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7B6FD4-B700-AAF8-7DFB-B08145EC6F33}"/>
              </a:ext>
            </a:extLst>
          </p:cNvPr>
          <p:cNvSpPr txBox="1"/>
          <p:nvPr/>
        </p:nvSpPr>
        <p:spPr>
          <a:xfrm>
            <a:off x="2237992" y="2367950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610" name="Diamond 609">
            <a:extLst>
              <a:ext uri="{FF2B5EF4-FFF2-40B4-BE49-F238E27FC236}">
                <a16:creationId xmlns:a16="http://schemas.microsoft.com/office/drawing/2014/main" id="{70B4DA29-A513-81A7-9DBA-A28C213AD9F1}"/>
              </a:ext>
            </a:extLst>
          </p:cNvPr>
          <p:cNvSpPr/>
          <p:nvPr/>
        </p:nvSpPr>
        <p:spPr>
          <a:xfrm>
            <a:off x="1429661" y="1390260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Already in database?</a:t>
            </a:r>
          </a:p>
        </p:txBody>
      </p:sp>
      <p:cxnSp>
        <p:nvCxnSpPr>
          <p:cNvPr id="618" name="Straight Arrow Connector 617">
            <a:extLst>
              <a:ext uri="{FF2B5EF4-FFF2-40B4-BE49-F238E27FC236}">
                <a16:creationId xmlns:a16="http://schemas.microsoft.com/office/drawing/2014/main" id="{2316646D-327D-6316-3F14-6D7784A6FC31}"/>
              </a:ext>
            </a:extLst>
          </p:cNvPr>
          <p:cNvCxnSpPr>
            <a:cxnSpLocks/>
            <a:stCxn id="610" idx="2"/>
            <a:endCxn id="614" idx="0"/>
          </p:cNvCxnSpPr>
          <p:nvPr/>
        </p:nvCxnSpPr>
        <p:spPr>
          <a:xfrm>
            <a:off x="2240675" y="2373804"/>
            <a:ext cx="0" cy="33159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7" name="TextBox 626">
            <a:extLst>
              <a:ext uri="{FF2B5EF4-FFF2-40B4-BE49-F238E27FC236}">
                <a16:creationId xmlns:a16="http://schemas.microsoft.com/office/drawing/2014/main" id="{6C2D0345-CB40-0E8E-46A0-51BA763268DE}"/>
              </a:ext>
            </a:extLst>
          </p:cNvPr>
          <p:cNvSpPr txBox="1"/>
          <p:nvPr/>
        </p:nvSpPr>
        <p:spPr>
          <a:xfrm>
            <a:off x="3034068" y="1615311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628" name="Straight Arrow Connector 627">
            <a:extLst>
              <a:ext uri="{FF2B5EF4-FFF2-40B4-BE49-F238E27FC236}">
                <a16:creationId xmlns:a16="http://schemas.microsoft.com/office/drawing/2014/main" id="{889D8635-6302-837F-0E2D-229DB13CD3FF}"/>
              </a:ext>
            </a:extLst>
          </p:cNvPr>
          <p:cNvCxnSpPr>
            <a:cxnSpLocks/>
            <a:stCxn id="612" idx="2"/>
            <a:endCxn id="616" idx="0"/>
          </p:cNvCxnSpPr>
          <p:nvPr/>
        </p:nvCxnSpPr>
        <p:spPr>
          <a:xfrm>
            <a:off x="4419842" y="2373804"/>
            <a:ext cx="0" cy="33159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1" name="TextBox 630">
            <a:extLst>
              <a:ext uri="{FF2B5EF4-FFF2-40B4-BE49-F238E27FC236}">
                <a16:creationId xmlns:a16="http://schemas.microsoft.com/office/drawing/2014/main" id="{064D94B8-7239-DCFD-8FEC-35CD6F0D07B9}"/>
              </a:ext>
            </a:extLst>
          </p:cNvPr>
          <p:cNvSpPr txBox="1"/>
          <p:nvPr/>
        </p:nvSpPr>
        <p:spPr>
          <a:xfrm>
            <a:off x="6599006" y="2367949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632" name="Straight Arrow Connector 631">
            <a:extLst>
              <a:ext uri="{FF2B5EF4-FFF2-40B4-BE49-F238E27FC236}">
                <a16:creationId xmlns:a16="http://schemas.microsoft.com/office/drawing/2014/main" id="{504E5490-2DFE-145D-3803-262EA3C0FC52}"/>
              </a:ext>
            </a:extLst>
          </p:cNvPr>
          <p:cNvCxnSpPr>
            <a:cxnSpLocks/>
            <a:stCxn id="606" idx="2"/>
            <a:endCxn id="671" idx="0"/>
          </p:cNvCxnSpPr>
          <p:nvPr/>
        </p:nvCxnSpPr>
        <p:spPr>
          <a:xfrm>
            <a:off x="6604374" y="2373804"/>
            <a:ext cx="0" cy="33159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Straight Arrow Connector 633">
            <a:extLst>
              <a:ext uri="{FF2B5EF4-FFF2-40B4-BE49-F238E27FC236}">
                <a16:creationId xmlns:a16="http://schemas.microsoft.com/office/drawing/2014/main" id="{CFEF0901-5039-5D60-44A3-04E3DC451649}"/>
              </a:ext>
            </a:extLst>
          </p:cNvPr>
          <p:cNvCxnSpPr>
            <a:cxnSpLocks/>
            <a:stCxn id="612" idx="3"/>
            <a:endCxn id="606" idx="1"/>
          </p:cNvCxnSpPr>
          <p:nvPr/>
        </p:nvCxnSpPr>
        <p:spPr>
          <a:xfrm>
            <a:off x="5230856" y="1882032"/>
            <a:ext cx="5625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7" name="TextBox 636">
            <a:extLst>
              <a:ext uri="{FF2B5EF4-FFF2-40B4-BE49-F238E27FC236}">
                <a16:creationId xmlns:a16="http://schemas.microsoft.com/office/drawing/2014/main" id="{3844A637-66C6-8235-44E8-2F8346879F96}"/>
              </a:ext>
            </a:extLst>
          </p:cNvPr>
          <p:cNvSpPr txBox="1"/>
          <p:nvPr/>
        </p:nvSpPr>
        <p:spPr>
          <a:xfrm>
            <a:off x="7403132" y="1615310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cxnSp>
        <p:nvCxnSpPr>
          <p:cNvPr id="638" name="Straight Arrow Connector 637">
            <a:extLst>
              <a:ext uri="{FF2B5EF4-FFF2-40B4-BE49-F238E27FC236}">
                <a16:creationId xmlns:a16="http://schemas.microsoft.com/office/drawing/2014/main" id="{9243BF7D-2854-6532-9BF3-2D1543ACDE50}"/>
              </a:ext>
            </a:extLst>
          </p:cNvPr>
          <p:cNvCxnSpPr>
            <a:cxnSpLocks/>
            <a:stCxn id="606" idx="3"/>
            <a:endCxn id="649" idx="2"/>
          </p:cNvCxnSpPr>
          <p:nvPr/>
        </p:nvCxnSpPr>
        <p:spPr>
          <a:xfrm>
            <a:off x="7415388" y="1882032"/>
            <a:ext cx="402944" cy="68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2" name="Group 651">
            <a:extLst>
              <a:ext uri="{FF2B5EF4-FFF2-40B4-BE49-F238E27FC236}">
                <a16:creationId xmlns:a16="http://schemas.microsoft.com/office/drawing/2014/main" id="{2502F8BC-E511-5D33-3476-2E7B6D392D5E}"/>
              </a:ext>
            </a:extLst>
          </p:cNvPr>
          <p:cNvGrpSpPr/>
          <p:nvPr/>
        </p:nvGrpSpPr>
        <p:grpSpPr>
          <a:xfrm>
            <a:off x="7818332" y="1737035"/>
            <a:ext cx="291356" cy="291356"/>
            <a:chOff x="7069437" y="3218381"/>
            <a:chExt cx="367665" cy="367665"/>
          </a:xfrm>
        </p:grpSpPr>
        <p:sp>
          <p:nvSpPr>
            <p:cNvPr id="649" name="Oval 648">
              <a:extLst>
                <a:ext uri="{FF2B5EF4-FFF2-40B4-BE49-F238E27FC236}">
                  <a16:creationId xmlns:a16="http://schemas.microsoft.com/office/drawing/2014/main" id="{A4DBFF19-1601-5A82-EB92-507FBF47D1B8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1" name="Oval 650">
              <a:extLst>
                <a:ext uri="{FF2B5EF4-FFF2-40B4-BE49-F238E27FC236}">
                  <a16:creationId xmlns:a16="http://schemas.microsoft.com/office/drawing/2014/main" id="{1A23583B-2609-61FC-D376-4A22D2451D54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C7758D13-CAE0-0C06-C3BC-E2833B7FAE69}"/>
              </a:ext>
            </a:extLst>
          </p:cNvPr>
          <p:cNvCxnSpPr>
            <a:cxnSpLocks/>
            <a:stCxn id="610" idx="3"/>
            <a:endCxn id="612" idx="1"/>
          </p:cNvCxnSpPr>
          <p:nvPr/>
        </p:nvCxnSpPr>
        <p:spPr>
          <a:xfrm>
            <a:off x="3051689" y="1882032"/>
            <a:ext cx="557139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6" name="Straight Arrow Connector 675">
            <a:extLst>
              <a:ext uri="{FF2B5EF4-FFF2-40B4-BE49-F238E27FC236}">
                <a16:creationId xmlns:a16="http://schemas.microsoft.com/office/drawing/2014/main" id="{BC298AFC-15EC-03C8-E935-21EEFCF7DC35}"/>
              </a:ext>
            </a:extLst>
          </p:cNvPr>
          <p:cNvCxnSpPr>
            <a:cxnSpLocks/>
            <a:stCxn id="684" idx="6"/>
            <a:endCxn id="610" idx="1"/>
          </p:cNvCxnSpPr>
          <p:nvPr/>
        </p:nvCxnSpPr>
        <p:spPr>
          <a:xfrm>
            <a:off x="1023629" y="1882032"/>
            <a:ext cx="406032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Straight Arrow Connector 699">
            <a:extLst>
              <a:ext uri="{FF2B5EF4-FFF2-40B4-BE49-F238E27FC236}">
                <a16:creationId xmlns:a16="http://schemas.microsoft.com/office/drawing/2014/main" id="{E287E345-6D64-2A91-F060-E025896780F4}"/>
              </a:ext>
            </a:extLst>
          </p:cNvPr>
          <p:cNvCxnSpPr>
            <a:cxnSpLocks/>
            <a:stCxn id="616" idx="2"/>
            <a:endCxn id="760" idx="0"/>
          </p:cNvCxnSpPr>
          <p:nvPr/>
        </p:nvCxnSpPr>
        <p:spPr>
          <a:xfrm>
            <a:off x="4419842" y="3756986"/>
            <a:ext cx="0" cy="35144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0" name="TextBox 749">
            <a:extLst>
              <a:ext uri="{FF2B5EF4-FFF2-40B4-BE49-F238E27FC236}">
                <a16:creationId xmlns:a16="http://schemas.microsoft.com/office/drawing/2014/main" id="{411A48FA-2962-0E4B-E54A-CE05C6F35FE8}"/>
              </a:ext>
            </a:extLst>
          </p:cNvPr>
          <p:cNvSpPr txBox="1"/>
          <p:nvPr/>
        </p:nvSpPr>
        <p:spPr>
          <a:xfrm>
            <a:off x="4410007" y="2367950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grpSp>
        <p:nvGrpSpPr>
          <p:cNvPr id="759" name="Group 758">
            <a:extLst>
              <a:ext uri="{FF2B5EF4-FFF2-40B4-BE49-F238E27FC236}">
                <a16:creationId xmlns:a16="http://schemas.microsoft.com/office/drawing/2014/main" id="{F43FAF5C-AE7F-A745-F034-45319E823858}"/>
              </a:ext>
            </a:extLst>
          </p:cNvPr>
          <p:cNvGrpSpPr/>
          <p:nvPr/>
        </p:nvGrpSpPr>
        <p:grpSpPr>
          <a:xfrm>
            <a:off x="4274164" y="4108426"/>
            <a:ext cx="291356" cy="291356"/>
            <a:chOff x="7069437" y="3218381"/>
            <a:chExt cx="367665" cy="367665"/>
          </a:xfrm>
        </p:grpSpPr>
        <p:sp>
          <p:nvSpPr>
            <p:cNvPr id="760" name="Oval 759">
              <a:extLst>
                <a:ext uri="{FF2B5EF4-FFF2-40B4-BE49-F238E27FC236}">
                  <a16:creationId xmlns:a16="http://schemas.microsoft.com/office/drawing/2014/main" id="{DFD4A558-73B8-2A36-C603-2B268ACBEAA1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1" name="Oval 760">
              <a:extLst>
                <a:ext uri="{FF2B5EF4-FFF2-40B4-BE49-F238E27FC236}">
                  <a16:creationId xmlns:a16="http://schemas.microsoft.com/office/drawing/2014/main" id="{02C1688A-66D2-EB23-6C0E-AE33AA3DF422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68" name="Rectangle 767">
            <a:extLst>
              <a:ext uri="{FF2B5EF4-FFF2-40B4-BE49-F238E27FC236}">
                <a16:creationId xmlns:a16="http://schemas.microsoft.com/office/drawing/2014/main" id="{1E299ED9-3CA3-05F1-F335-3EA4B8072844}"/>
              </a:ext>
            </a:extLst>
          </p:cNvPr>
          <p:cNvSpPr/>
          <p:nvPr/>
        </p:nvSpPr>
        <p:spPr>
          <a:xfrm>
            <a:off x="6047386" y="317937"/>
            <a:ext cx="1916624" cy="728274"/>
          </a:xfrm>
          <a:prstGeom prst="rect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First published: 23 Feb 2026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Last updated: 01 Sep 2026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Republished without changes since update: 0</a:t>
            </a:r>
          </a:p>
        </p:txBody>
      </p:sp>
      <p:sp>
        <p:nvSpPr>
          <p:cNvPr id="771" name="TextBox 770">
            <a:extLst>
              <a:ext uri="{FF2B5EF4-FFF2-40B4-BE49-F238E27FC236}">
                <a16:creationId xmlns:a16="http://schemas.microsoft.com/office/drawing/2014/main" id="{575B4886-34B0-60DC-3F24-C4375E591EB0}"/>
              </a:ext>
            </a:extLst>
          </p:cNvPr>
          <p:cNvSpPr txBox="1"/>
          <p:nvPr/>
        </p:nvSpPr>
        <p:spPr>
          <a:xfrm rot="16200000">
            <a:off x="-472026" y="2312847"/>
            <a:ext cx="23519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Job returned by </a:t>
            </a:r>
            <a:r>
              <a:rPr lang="en-US" sz="1000" dirty="0" err="1"/>
              <a:t>Arbeitsagentur</a:t>
            </a:r>
            <a:r>
              <a:rPr lang="en-US" sz="1000" dirty="0"/>
              <a:t> search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A21FF539-1F1E-5C9D-DDE9-6626EEA6AF3F}"/>
              </a:ext>
            </a:extLst>
          </p:cNvPr>
          <p:cNvCxnSpPr>
            <a:cxnSpLocks/>
            <a:stCxn id="671" idx="2"/>
            <a:endCxn id="760" idx="6"/>
          </p:cNvCxnSpPr>
          <p:nvPr/>
        </p:nvCxnSpPr>
        <p:spPr>
          <a:xfrm rot="5400000">
            <a:off x="5336388" y="2986117"/>
            <a:ext cx="497119" cy="2038854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71FB3B1-3D1C-866C-112E-CCFB28573C7F}"/>
              </a:ext>
            </a:extLst>
          </p:cNvPr>
          <p:cNvCxnSpPr>
            <a:cxnSpLocks/>
            <a:stCxn id="614" idx="2"/>
            <a:endCxn id="760" idx="2"/>
          </p:cNvCxnSpPr>
          <p:nvPr/>
        </p:nvCxnSpPr>
        <p:spPr>
          <a:xfrm rot="16200000" flipH="1">
            <a:off x="3008860" y="2988799"/>
            <a:ext cx="497119" cy="2033489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8883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7BF3A4B-4FD4-17A3-4F5D-5E54755B7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DB733A3-783E-8201-7A10-8815327A7CFA}"/>
              </a:ext>
            </a:extLst>
          </p:cNvPr>
          <p:cNvSpPr/>
          <p:nvPr/>
        </p:nvSpPr>
        <p:spPr>
          <a:xfrm>
            <a:off x="753894" y="790160"/>
            <a:ext cx="7639701" cy="3886199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19" name="Group 618">
            <a:extLst>
              <a:ext uri="{FF2B5EF4-FFF2-40B4-BE49-F238E27FC236}">
                <a16:creationId xmlns:a16="http://schemas.microsoft.com/office/drawing/2014/main" id="{2E2751E3-0F9C-6904-2F76-5DA751B6B8C2}"/>
              </a:ext>
            </a:extLst>
          </p:cNvPr>
          <p:cNvGrpSpPr/>
          <p:nvPr/>
        </p:nvGrpSpPr>
        <p:grpSpPr>
          <a:xfrm>
            <a:off x="7776275" y="1121613"/>
            <a:ext cx="560704" cy="501260"/>
            <a:chOff x="7034107" y="2235929"/>
            <a:chExt cx="720852" cy="644430"/>
          </a:xfrm>
        </p:grpSpPr>
        <p:pic>
          <p:nvPicPr>
            <p:cNvPr id="612" name="Picture 611">
              <a:extLst>
                <a:ext uri="{FF2B5EF4-FFF2-40B4-BE49-F238E27FC236}">
                  <a16:creationId xmlns:a16="http://schemas.microsoft.com/office/drawing/2014/main" id="{BAF2917A-F10A-6A49-DE54-59183DF29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4107" y="2235929"/>
              <a:ext cx="720852" cy="644430"/>
            </a:xfrm>
            <a:prstGeom prst="rect">
              <a:avLst/>
            </a:prstGeom>
          </p:spPr>
        </p:pic>
        <p:pic>
          <p:nvPicPr>
            <p:cNvPr id="616" name="Picture 615" descr="File:PostgreSQL logo.3colors.540x557.png">
              <a:extLst>
                <a:ext uri="{FF2B5EF4-FFF2-40B4-BE49-F238E27FC236}">
                  <a16:creationId xmlns:a16="http://schemas.microsoft.com/office/drawing/2014/main" id="{4E9E6C79-7CE0-9FBD-74F7-DAE5BDF876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6004" y="2265292"/>
              <a:ext cx="274086" cy="193439"/>
            </a:xfrm>
            <a:prstGeom prst="rect">
              <a:avLst/>
            </a:prstGeom>
          </p:spPr>
        </p:pic>
      </p:grp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9444DA0-BFF9-97F9-09FE-D2F5A270EE6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Full-Text Search with Elasticsearch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AF974A1D-7C6D-BE98-B8E4-C10923CCBE5D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A533CFA-D806-6168-BDD7-872536BFE2D2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5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1955852-1131-622A-F8E1-872D71825852}"/>
              </a:ext>
            </a:extLst>
          </p:cNvPr>
          <p:cNvSpPr txBox="1"/>
          <p:nvPr/>
        </p:nvSpPr>
        <p:spPr>
          <a:xfrm rot="16200000">
            <a:off x="3938344" y="2324521"/>
            <a:ext cx="11728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❺ ordered jobs</a:t>
            </a:r>
          </a:p>
        </p:txBody>
      </p:sp>
      <p:grpSp>
        <p:nvGrpSpPr>
          <p:cNvPr id="683" name="Group 682">
            <a:extLst>
              <a:ext uri="{FF2B5EF4-FFF2-40B4-BE49-F238E27FC236}">
                <a16:creationId xmlns:a16="http://schemas.microsoft.com/office/drawing/2014/main" id="{FFADE1A3-5550-F3A2-71F7-A241D138BFE3}"/>
              </a:ext>
            </a:extLst>
          </p:cNvPr>
          <p:cNvGrpSpPr/>
          <p:nvPr/>
        </p:nvGrpSpPr>
        <p:grpSpPr>
          <a:xfrm>
            <a:off x="4351246" y="3025073"/>
            <a:ext cx="620030" cy="643963"/>
            <a:chOff x="897968" y="2512603"/>
            <a:chExt cx="620030" cy="643963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87DFF0A-A82F-05F6-4564-6202F80153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7968" y="2512603"/>
              <a:ext cx="620030" cy="492874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91E842F-C94C-00F2-0BF2-969E164D8C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97968" y="3042732"/>
              <a:ext cx="620030" cy="113834"/>
            </a:xfrm>
            <a:prstGeom prst="rect">
              <a:avLst/>
            </a:prstGeom>
          </p:spPr>
        </p:pic>
      </p:grpSp>
      <p:grpSp>
        <p:nvGrpSpPr>
          <p:cNvPr id="682" name="Group 681">
            <a:extLst>
              <a:ext uri="{FF2B5EF4-FFF2-40B4-BE49-F238E27FC236}">
                <a16:creationId xmlns:a16="http://schemas.microsoft.com/office/drawing/2014/main" id="{6081EEB7-F4FF-DADA-77D7-6F02DB88E5B8}"/>
              </a:ext>
            </a:extLst>
          </p:cNvPr>
          <p:cNvGrpSpPr/>
          <p:nvPr/>
        </p:nvGrpSpPr>
        <p:grpSpPr>
          <a:xfrm>
            <a:off x="5106664" y="1936024"/>
            <a:ext cx="698519" cy="652343"/>
            <a:chOff x="3149408" y="2499587"/>
            <a:chExt cx="698519" cy="65234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DC698E7-027C-0AD2-4640-24A07C43F2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225706" y="3051190"/>
              <a:ext cx="545920" cy="10074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F8C1B66-2EAB-9CF5-8E52-4E03EB6E283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149408" y="2499587"/>
              <a:ext cx="698518" cy="515700"/>
            </a:xfrm>
            <a:prstGeom prst="rect">
              <a:avLst/>
            </a:prstGeom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50B5E76-8327-F1DB-30A8-27BD8FFD7D2F}"/>
                </a:ext>
              </a:extLst>
            </p:cNvPr>
            <p:cNvSpPr/>
            <p:nvPr/>
          </p:nvSpPr>
          <p:spPr>
            <a:xfrm>
              <a:off x="3695700" y="2499587"/>
              <a:ext cx="128837" cy="139132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B057569E-CBB7-F8B2-A4FA-52E9F2849527}"/>
                </a:ext>
              </a:extLst>
            </p:cNvPr>
            <p:cNvSpPr/>
            <p:nvPr/>
          </p:nvSpPr>
          <p:spPr>
            <a:xfrm>
              <a:off x="3719089" y="2872063"/>
              <a:ext cx="128838" cy="139132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3590DD56-55A6-F50C-CA31-E06258DD0EA6}"/>
              </a:ext>
            </a:extLst>
          </p:cNvPr>
          <p:cNvCxnSpPr>
            <a:cxnSpLocks/>
            <a:stCxn id="612" idx="0"/>
            <a:endCxn id="19" idx="0"/>
          </p:cNvCxnSpPr>
          <p:nvPr/>
        </p:nvCxnSpPr>
        <p:spPr>
          <a:xfrm rot="16200000" flipH="1" flipV="1">
            <a:off x="6349069" y="228466"/>
            <a:ext cx="814411" cy="2600704"/>
          </a:xfrm>
          <a:prstGeom prst="bentConnector3">
            <a:avLst>
              <a:gd name="adj1" fmla="val -28069"/>
            </a:avLst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F5D8EA16-E996-D193-BA44-E42CC66E6CD0}"/>
              </a:ext>
            </a:extLst>
          </p:cNvPr>
          <p:cNvCxnSpPr>
            <a:cxnSpLocks/>
            <a:stCxn id="595" idx="2"/>
            <a:endCxn id="18" idx="2"/>
          </p:cNvCxnSpPr>
          <p:nvPr/>
        </p:nvCxnSpPr>
        <p:spPr>
          <a:xfrm rot="5400000" flipH="1">
            <a:off x="6395252" y="1649038"/>
            <a:ext cx="722046" cy="2600705"/>
          </a:xfrm>
          <a:prstGeom prst="bentConnector3">
            <a:avLst>
              <a:gd name="adj1" fmla="val -31660"/>
            </a:avLst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" name="Group 630">
            <a:extLst>
              <a:ext uri="{FF2B5EF4-FFF2-40B4-BE49-F238E27FC236}">
                <a16:creationId xmlns:a16="http://schemas.microsoft.com/office/drawing/2014/main" id="{A267B7E0-DA89-6E8A-DD31-77C9D9E95EA6}"/>
              </a:ext>
            </a:extLst>
          </p:cNvPr>
          <p:cNvGrpSpPr/>
          <p:nvPr/>
        </p:nvGrpSpPr>
        <p:grpSpPr>
          <a:xfrm>
            <a:off x="7776275" y="2809153"/>
            <a:ext cx="560704" cy="501260"/>
            <a:chOff x="7180642" y="3871913"/>
            <a:chExt cx="720852" cy="644430"/>
          </a:xfrm>
        </p:grpSpPr>
        <p:pic>
          <p:nvPicPr>
            <p:cNvPr id="595" name="Picture 594">
              <a:extLst>
                <a:ext uri="{FF2B5EF4-FFF2-40B4-BE49-F238E27FC236}">
                  <a16:creationId xmlns:a16="http://schemas.microsoft.com/office/drawing/2014/main" id="{117ECACA-0E0F-F9CA-4765-C09B26BBA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80642" y="3871913"/>
              <a:ext cx="720852" cy="644430"/>
            </a:xfrm>
            <a:prstGeom prst="rect">
              <a:avLst/>
            </a:prstGeom>
          </p:spPr>
        </p:pic>
        <p:pic>
          <p:nvPicPr>
            <p:cNvPr id="609" name="Picture 608">
              <a:extLst>
                <a:ext uri="{FF2B5EF4-FFF2-40B4-BE49-F238E27FC236}">
                  <a16:creationId xmlns:a16="http://schemas.microsoft.com/office/drawing/2014/main" id="{0EB714E7-1A0E-2DE5-5FC6-A793126B8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98870" y="3901277"/>
              <a:ext cx="282715" cy="193438"/>
            </a:xfrm>
            <a:prstGeom prst="rect">
              <a:avLst/>
            </a:prstGeom>
          </p:spPr>
        </p:pic>
      </p:grpSp>
      <p:cxnSp>
        <p:nvCxnSpPr>
          <p:cNvPr id="637" name="Connector: Elbow 636">
            <a:extLst>
              <a:ext uri="{FF2B5EF4-FFF2-40B4-BE49-F238E27FC236}">
                <a16:creationId xmlns:a16="http://schemas.microsoft.com/office/drawing/2014/main" id="{31A9B4FA-6430-A227-EAFE-2618F571193C}"/>
              </a:ext>
            </a:extLst>
          </p:cNvPr>
          <p:cNvCxnSpPr>
            <a:cxnSpLocks/>
            <a:stCxn id="42" idx="3"/>
            <a:endCxn id="612" idx="2"/>
          </p:cNvCxnSpPr>
          <p:nvPr/>
        </p:nvCxnSpPr>
        <p:spPr>
          <a:xfrm flipV="1">
            <a:off x="5781793" y="1622873"/>
            <a:ext cx="2274834" cy="38271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: Elbow 641">
            <a:extLst>
              <a:ext uri="{FF2B5EF4-FFF2-40B4-BE49-F238E27FC236}">
                <a16:creationId xmlns:a16="http://schemas.microsoft.com/office/drawing/2014/main" id="{AA1D942E-E2BD-F272-2EB8-C24CA71AA8CD}"/>
              </a:ext>
            </a:extLst>
          </p:cNvPr>
          <p:cNvCxnSpPr>
            <a:cxnSpLocks/>
            <a:stCxn id="43" idx="3"/>
            <a:endCxn id="595" idx="0"/>
          </p:cNvCxnSpPr>
          <p:nvPr/>
        </p:nvCxnSpPr>
        <p:spPr>
          <a:xfrm>
            <a:off x="5805183" y="2378066"/>
            <a:ext cx="2251444" cy="43108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7" name="TextBox 646">
            <a:extLst>
              <a:ext uri="{FF2B5EF4-FFF2-40B4-BE49-F238E27FC236}">
                <a16:creationId xmlns:a16="http://schemas.microsoft.com/office/drawing/2014/main" id="{CC71CCE5-5D41-20C4-2A52-6061BCBB0ED3}"/>
              </a:ext>
            </a:extLst>
          </p:cNvPr>
          <p:cNvSpPr txBox="1"/>
          <p:nvPr/>
        </p:nvSpPr>
        <p:spPr>
          <a:xfrm>
            <a:off x="5805182" y="2389141"/>
            <a:ext cx="22514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❶ search with a keyword</a:t>
            </a:r>
          </a:p>
        </p:txBody>
      </p:sp>
      <p:sp>
        <p:nvSpPr>
          <p:cNvPr id="649" name="TextBox 648">
            <a:extLst>
              <a:ext uri="{FF2B5EF4-FFF2-40B4-BE49-F238E27FC236}">
                <a16:creationId xmlns:a16="http://schemas.microsoft.com/office/drawing/2014/main" id="{561ABE6D-1692-E1C6-F184-2AF1140497FB}"/>
              </a:ext>
            </a:extLst>
          </p:cNvPr>
          <p:cNvSpPr txBox="1"/>
          <p:nvPr/>
        </p:nvSpPr>
        <p:spPr>
          <a:xfrm>
            <a:off x="5455921" y="3303139"/>
            <a:ext cx="26007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❷ ranked reference numbers</a:t>
            </a:r>
          </a:p>
        </p:txBody>
      </p:sp>
      <p:sp>
        <p:nvSpPr>
          <p:cNvPr id="651" name="TextBox 650">
            <a:extLst>
              <a:ext uri="{FF2B5EF4-FFF2-40B4-BE49-F238E27FC236}">
                <a16:creationId xmlns:a16="http://schemas.microsoft.com/office/drawing/2014/main" id="{32A388AB-CC74-534A-2995-8F32D2319E04}"/>
              </a:ext>
            </a:extLst>
          </p:cNvPr>
          <p:cNvSpPr txBox="1"/>
          <p:nvPr/>
        </p:nvSpPr>
        <p:spPr>
          <a:xfrm>
            <a:off x="5740763" y="1751521"/>
            <a:ext cx="23158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❸ fetch jobs by reference number</a:t>
            </a: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05208CCA-66C4-602C-0CF4-88E5D82DED32}"/>
              </a:ext>
            </a:extLst>
          </p:cNvPr>
          <p:cNvSpPr txBox="1"/>
          <p:nvPr/>
        </p:nvSpPr>
        <p:spPr>
          <a:xfrm>
            <a:off x="5455921" y="902434"/>
            <a:ext cx="260070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❹ job records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BC9C1D7B-62FD-0EBA-83D3-2D8F6F584FF2}"/>
              </a:ext>
            </a:extLst>
          </p:cNvPr>
          <p:cNvSpPr/>
          <p:nvPr/>
        </p:nvSpPr>
        <p:spPr>
          <a:xfrm>
            <a:off x="6116854" y="3598735"/>
            <a:ext cx="1278838" cy="982783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Search relevance: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Title ×4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Occupation ×3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Company ×2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Category ×2</a:t>
            </a:r>
            <a:b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Description ×1</a:t>
            </a:r>
          </a:p>
        </p:txBody>
      </p:sp>
      <p:sp>
        <p:nvSpPr>
          <p:cNvPr id="724" name="TextBox 723">
            <a:extLst>
              <a:ext uri="{FF2B5EF4-FFF2-40B4-BE49-F238E27FC236}">
                <a16:creationId xmlns:a16="http://schemas.microsoft.com/office/drawing/2014/main" id="{E30231C9-5DEE-0150-5636-ECE41C1571F7}"/>
              </a:ext>
            </a:extLst>
          </p:cNvPr>
          <p:cNvSpPr txBox="1"/>
          <p:nvPr/>
        </p:nvSpPr>
        <p:spPr>
          <a:xfrm>
            <a:off x="1471890" y="1650317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725" name="Diamond 724">
            <a:extLst>
              <a:ext uri="{FF2B5EF4-FFF2-40B4-BE49-F238E27FC236}">
                <a16:creationId xmlns:a16="http://schemas.microsoft.com/office/drawing/2014/main" id="{B3A5A0BC-7DE4-F064-1A9E-090F4F5BABF0}"/>
              </a:ext>
            </a:extLst>
          </p:cNvPr>
          <p:cNvSpPr/>
          <p:nvPr/>
        </p:nvSpPr>
        <p:spPr>
          <a:xfrm>
            <a:off x="1775628" y="1381956"/>
            <a:ext cx="1129278" cy="1044510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Keyword provided?</a:t>
            </a:r>
          </a:p>
        </p:txBody>
      </p:sp>
      <p:sp>
        <p:nvSpPr>
          <p:cNvPr id="726" name="TextBox 725">
            <a:extLst>
              <a:ext uri="{FF2B5EF4-FFF2-40B4-BE49-F238E27FC236}">
                <a16:creationId xmlns:a16="http://schemas.microsoft.com/office/drawing/2014/main" id="{D27BA92E-8FCE-482C-A3B4-B4905ED5032F}"/>
              </a:ext>
            </a:extLst>
          </p:cNvPr>
          <p:cNvSpPr txBox="1"/>
          <p:nvPr/>
        </p:nvSpPr>
        <p:spPr>
          <a:xfrm>
            <a:off x="2885905" y="1650939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grpSp>
        <p:nvGrpSpPr>
          <p:cNvPr id="727" name="Group 726">
            <a:extLst>
              <a:ext uri="{FF2B5EF4-FFF2-40B4-BE49-F238E27FC236}">
                <a16:creationId xmlns:a16="http://schemas.microsoft.com/office/drawing/2014/main" id="{DBCDB624-8F1A-2E4E-05DF-1A81980CFE97}"/>
              </a:ext>
            </a:extLst>
          </p:cNvPr>
          <p:cNvGrpSpPr/>
          <p:nvPr/>
        </p:nvGrpSpPr>
        <p:grpSpPr>
          <a:xfrm>
            <a:off x="828780" y="2574034"/>
            <a:ext cx="1443854" cy="838350"/>
            <a:chOff x="5661388" y="2978068"/>
            <a:chExt cx="1443854" cy="838350"/>
          </a:xfrm>
        </p:grpSpPr>
        <p:sp>
          <p:nvSpPr>
            <p:cNvPr id="728" name="Rectangle: Rounded Corners 727">
              <a:extLst>
                <a:ext uri="{FF2B5EF4-FFF2-40B4-BE49-F238E27FC236}">
                  <a16:creationId xmlns:a16="http://schemas.microsoft.com/office/drawing/2014/main" id="{FE16D183-21A0-DA9E-2EEB-7E98FD6F0825}"/>
                </a:ext>
              </a:extLst>
            </p:cNvPr>
            <p:cNvSpPr/>
            <p:nvPr/>
          </p:nvSpPr>
          <p:spPr>
            <a:xfrm>
              <a:off x="5661388" y="2978068"/>
              <a:ext cx="1443854" cy="838350"/>
            </a:xfrm>
            <a:prstGeom prst="roundRect">
              <a:avLst>
                <a:gd name="adj" fmla="val 24465"/>
              </a:avLst>
            </a:prstGeom>
            <a:solidFill>
              <a:srgbClr val="FFFFC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Apply structured filters. Order by publication date, newest first.</a:t>
              </a:r>
            </a:p>
          </p:txBody>
        </p:sp>
        <p:pic>
          <p:nvPicPr>
            <p:cNvPr id="729" name="Picture 728" descr="File:PostgreSQL logo.3colors.540x557.png">
              <a:extLst>
                <a:ext uri="{FF2B5EF4-FFF2-40B4-BE49-F238E27FC236}">
                  <a16:creationId xmlns:a16="http://schemas.microsoft.com/office/drawing/2014/main" id="{E22F6A8B-D417-F57D-DB72-B130057B86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55192" y="3044384"/>
              <a:ext cx="181196" cy="186901"/>
            </a:xfrm>
            <a:prstGeom prst="rect">
              <a:avLst/>
            </a:prstGeom>
          </p:spPr>
        </p:pic>
      </p:grpSp>
      <p:cxnSp>
        <p:nvCxnSpPr>
          <p:cNvPr id="730" name="Connector: Elbow 729">
            <a:extLst>
              <a:ext uri="{FF2B5EF4-FFF2-40B4-BE49-F238E27FC236}">
                <a16:creationId xmlns:a16="http://schemas.microsoft.com/office/drawing/2014/main" id="{DCAA579F-7B0A-13F2-0018-8281E09919DD}"/>
              </a:ext>
            </a:extLst>
          </p:cNvPr>
          <p:cNvCxnSpPr>
            <a:cxnSpLocks/>
            <a:stCxn id="725" idx="1"/>
            <a:endCxn id="728" idx="0"/>
          </p:cNvCxnSpPr>
          <p:nvPr/>
        </p:nvCxnSpPr>
        <p:spPr>
          <a:xfrm rot="10800000" flipV="1">
            <a:off x="1550708" y="1904210"/>
            <a:ext cx="224921" cy="669823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: Elbow 730">
            <a:extLst>
              <a:ext uri="{FF2B5EF4-FFF2-40B4-BE49-F238E27FC236}">
                <a16:creationId xmlns:a16="http://schemas.microsoft.com/office/drawing/2014/main" id="{1876835A-A93B-2E64-D7DB-61D807172805}"/>
              </a:ext>
            </a:extLst>
          </p:cNvPr>
          <p:cNvCxnSpPr>
            <a:cxnSpLocks/>
            <a:stCxn id="725" idx="3"/>
            <a:endCxn id="733" idx="0"/>
          </p:cNvCxnSpPr>
          <p:nvPr/>
        </p:nvCxnSpPr>
        <p:spPr>
          <a:xfrm>
            <a:off x="2904906" y="1904211"/>
            <a:ext cx="258786" cy="667539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ED6EC862-5E29-09F1-BD19-07385893C25E}"/>
              </a:ext>
            </a:extLst>
          </p:cNvPr>
          <p:cNvGrpSpPr/>
          <p:nvPr/>
        </p:nvGrpSpPr>
        <p:grpSpPr>
          <a:xfrm>
            <a:off x="2441765" y="2571750"/>
            <a:ext cx="1443854" cy="838352"/>
            <a:chOff x="7371477" y="2971818"/>
            <a:chExt cx="1443854" cy="838352"/>
          </a:xfrm>
        </p:grpSpPr>
        <p:sp>
          <p:nvSpPr>
            <p:cNvPr id="733" name="Rectangle: Rounded Corners 732">
              <a:extLst>
                <a:ext uri="{FF2B5EF4-FFF2-40B4-BE49-F238E27FC236}">
                  <a16:creationId xmlns:a16="http://schemas.microsoft.com/office/drawing/2014/main" id="{F647C8D1-D4A4-9227-CB74-00F21A33EFC7}"/>
                </a:ext>
              </a:extLst>
            </p:cNvPr>
            <p:cNvSpPr/>
            <p:nvPr/>
          </p:nvSpPr>
          <p:spPr>
            <a:xfrm>
              <a:off x="7371477" y="2971818"/>
              <a:ext cx="1443854" cy="838352"/>
            </a:xfrm>
            <a:prstGeom prst="roundRect">
              <a:avLst>
                <a:gd name="adj" fmla="val 24465"/>
              </a:avLst>
            </a:prstGeom>
            <a:solidFill>
              <a:srgbClr val="FFFFC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Apply full-text search + structured filters.</a:t>
              </a: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Rank by relevance.</a:t>
              </a:r>
            </a:p>
          </p:txBody>
        </p:sp>
        <p:pic>
          <p:nvPicPr>
            <p:cNvPr id="734" name="Picture 733">
              <a:extLst>
                <a:ext uri="{FF2B5EF4-FFF2-40B4-BE49-F238E27FC236}">
                  <a16:creationId xmlns:a16="http://schemas.microsoft.com/office/drawing/2014/main" id="{70BF3CFB-0853-5F34-9BAF-7BEA1CE9A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467898" y="3037630"/>
              <a:ext cx="189689" cy="189689"/>
            </a:xfrm>
            <a:prstGeom prst="rect">
              <a:avLst/>
            </a:prstGeom>
          </p:spPr>
        </p:pic>
      </p:grpSp>
      <p:cxnSp>
        <p:nvCxnSpPr>
          <p:cNvPr id="736" name="Straight Arrow Connector 735">
            <a:extLst>
              <a:ext uri="{FF2B5EF4-FFF2-40B4-BE49-F238E27FC236}">
                <a16:creationId xmlns:a16="http://schemas.microsoft.com/office/drawing/2014/main" id="{47998689-CC99-028C-26A4-CCFE61FB34F5}"/>
              </a:ext>
            </a:extLst>
          </p:cNvPr>
          <p:cNvCxnSpPr>
            <a:cxnSpLocks/>
            <a:stCxn id="9" idx="4"/>
            <a:endCxn id="725" idx="0"/>
          </p:cNvCxnSpPr>
          <p:nvPr/>
        </p:nvCxnSpPr>
        <p:spPr>
          <a:xfrm flipH="1">
            <a:off x="2340267" y="1152073"/>
            <a:ext cx="3515" cy="22988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7" name="TextBox 736">
            <a:extLst>
              <a:ext uri="{FF2B5EF4-FFF2-40B4-BE49-F238E27FC236}">
                <a16:creationId xmlns:a16="http://schemas.microsoft.com/office/drawing/2014/main" id="{A636A6E1-A76A-7EB0-6C0F-3240D0452105}"/>
              </a:ext>
            </a:extLst>
          </p:cNvPr>
          <p:cNvSpPr txBox="1"/>
          <p:nvPr/>
        </p:nvSpPr>
        <p:spPr>
          <a:xfrm>
            <a:off x="2466815" y="909529"/>
            <a:ext cx="112723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Search triggered</a:t>
            </a:r>
          </a:p>
        </p:txBody>
      </p:sp>
      <p:cxnSp>
        <p:nvCxnSpPr>
          <p:cNvPr id="738" name="Connector: Elbow 737">
            <a:extLst>
              <a:ext uri="{FF2B5EF4-FFF2-40B4-BE49-F238E27FC236}">
                <a16:creationId xmlns:a16="http://schemas.microsoft.com/office/drawing/2014/main" id="{1AD88943-EFFC-97FC-66A9-1BCABD41CBD7}"/>
              </a:ext>
            </a:extLst>
          </p:cNvPr>
          <p:cNvCxnSpPr>
            <a:cxnSpLocks/>
            <a:stCxn id="19" idx="1"/>
            <a:endCxn id="13" idx="0"/>
          </p:cNvCxnSpPr>
          <p:nvPr/>
        </p:nvCxnSpPr>
        <p:spPr>
          <a:xfrm rot="10800000" flipV="1">
            <a:off x="4661262" y="2193873"/>
            <a:ext cx="445403" cy="831199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4" name="Straight Arrow Connector 743">
            <a:extLst>
              <a:ext uri="{FF2B5EF4-FFF2-40B4-BE49-F238E27FC236}">
                <a16:creationId xmlns:a16="http://schemas.microsoft.com/office/drawing/2014/main" id="{D4E922EC-3467-9297-C6E5-8A99F758B705}"/>
              </a:ext>
            </a:extLst>
          </p:cNvPr>
          <p:cNvCxnSpPr>
            <a:cxnSpLocks/>
            <a:stCxn id="733" idx="2"/>
            <a:endCxn id="749" idx="0"/>
          </p:cNvCxnSpPr>
          <p:nvPr/>
        </p:nvCxnSpPr>
        <p:spPr>
          <a:xfrm>
            <a:off x="3163692" y="3410102"/>
            <a:ext cx="0" cy="29010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8" name="Group 747">
            <a:extLst>
              <a:ext uri="{FF2B5EF4-FFF2-40B4-BE49-F238E27FC236}">
                <a16:creationId xmlns:a16="http://schemas.microsoft.com/office/drawing/2014/main" id="{01B619E9-29AC-CA33-92AA-E38B26F58CED}"/>
              </a:ext>
            </a:extLst>
          </p:cNvPr>
          <p:cNvGrpSpPr/>
          <p:nvPr/>
        </p:nvGrpSpPr>
        <p:grpSpPr>
          <a:xfrm>
            <a:off x="2441765" y="3700205"/>
            <a:ext cx="1443854" cy="838350"/>
            <a:chOff x="5661388" y="2978068"/>
            <a:chExt cx="1443854" cy="838350"/>
          </a:xfrm>
        </p:grpSpPr>
        <p:sp>
          <p:nvSpPr>
            <p:cNvPr id="749" name="Rectangle: Rounded Corners 748">
              <a:extLst>
                <a:ext uri="{FF2B5EF4-FFF2-40B4-BE49-F238E27FC236}">
                  <a16:creationId xmlns:a16="http://schemas.microsoft.com/office/drawing/2014/main" id="{A252A059-F40A-10CA-34F7-450689BB4327}"/>
                </a:ext>
              </a:extLst>
            </p:cNvPr>
            <p:cNvSpPr/>
            <p:nvPr/>
          </p:nvSpPr>
          <p:spPr>
            <a:xfrm>
              <a:off x="5661388" y="2978068"/>
              <a:ext cx="1443854" cy="838350"/>
            </a:xfrm>
            <a:prstGeom prst="roundRect">
              <a:avLst>
                <a:gd name="adj" fmla="val 24465"/>
              </a:avLst>
            </a:prstGeom>
            <a:solidFill>
              <a:srgbClr val="FFFFC0"/>
            </a:solidFill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t"/>
            <a:lstStyle/>
            <a:p>
              <a:endParaRPr 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r>
                <a:rPr lang="en-US" sz="1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Retrieve job records in ranked order.</a:t>
              </a:r>
            </a:p>
          </p:txBody>
        </p:sp>
        <p:pic>
          <p:nvPicPr>
            <p:cNvPr id="750" name="Picture 749" descr="File:PostgreSQL logo.3colors.540x557.png">
              <a:extLst>
                <a:ext uri="{FF2B5EF4-FFF2-40B4-BE49-F238E27FC236}">
                  <a16:creationId xmlns:a16="http://schemas.microsoft.com/office/drawing/2014/main" id="{4CDF3100-64C8-A095-832F-108DED7919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55193" y="3044385"/>
              <a:ext cx="174948" cy="180456"/>
            </a:xfrm>
            <a:prstGeom prst="rect">
              <a:avLst/>
            </a:prstGeom>
          </p:spPr>
        </p:pic>
      </p:grpSp>
      <p:sp>
        <p:nvSpPr>
          <p:cNvPr id="753" name="Rectangle 752">
            <a:extLst>
              <a:ext uri="{FF2B5EF4-FFF2-40B4-BE49-F238E27FC236}">
                <a16:creationId xmlns:a16="http://schemas.microsoft.com/office/drawing/2014/main" id="{C50FC7E7-084E-4C8C-DCB6-AD45A27AB67E}"/>
              </a:ext>
            </a:extLst>
          </p:cNvPr>
          <p:cNvSpPr/>
          <p:nvPr/>
        </p:nvSpPr>
        <p:spPr>
          <a:xfrm>
            <a:off x="6141516" y="2661219"/>
            <a:ext cx="1514356" cy="29586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"Python Kubernetes"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1E8367D-6963-E6FE-B833-E173A45593F3}"/>
              </a:ext>
            </a:extLst>
          </p:cNvPr>
          <p:cNvCxnSpPr>
            <a:cxnSpLocks/>
          </p:cNvCxnSpPr>
          <p:nvPr/>
        </p:nvCxnSpPr>
        <p:spPr>
          <a:xfrm>
            <a:off x="4142898" y="790160"/>
            <a:ext cx="0" cy="388619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3F299F7-A4CB-B46F-4F96-481661DAA388}"/>
              </a:ext>
            </a:extLst>
          </p:cNvPr>
          <p:cNvSpPr/>
          <p:nvPr/>
        </p:nvSpPr>
        <p:spPr>
          <a:xfrm>
            <a:off x="2238207" y="940923"/>
            <a:ext cx="211150" cy="211150"/>
          </a:xfrm>
          <a:prstGeom prst="ellipse">
            <a:avLst/>
          </a:prstGeom>
          <a:solidFill>
            <a:schemeClr val="tx1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30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117148D3-AD04-D616-EAD6-3841638FC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299F153-179F-27A6-A60D-F443F3A890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Data Modeling</a:t>
            </a: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01AB3AE-1CEF-4285-5BD2-3F5F8D81A62E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9725ABE1-A631-B906-5982-D8A112D26ABE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143060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30079A4-ADC4-21D2-AC5B-2E48FA41EB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EFDEC9-0F55-F1C5-27B3-30E25CFA3A07}"/>
              </a:ext>
            </a:extLst>
          </p:cNvPr>
          <p:cNvSpPr txBox="1"/>
          <p:nvPr/>
        </p:nvSpPr>
        <p:spPr>
          <a:xfrm>
            <a:off x="5556604" y="438150"/>
            <a:ext cx="1719263" cy="5310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❶, ❷, ❸, ❹, ❺, ❻, ❼,</a:t>
            </a:r>
          </a:p>
        </p:txBody>
      </p:sp>
    </p:spTree>
    <p:extLst>
      <p:ext uri="{BB962C8B-B14F-4D97-AF65-F5344CB8AC3E}">
        <p14:creationId xmlns:p14="http://schemas.microsoft.com/office/powerpoint/2010/main" val="1139150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1100138" y="633413"/>
            <a:ext cx="7305674" cy="414623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83625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14" idx="3"/>
            <a:endCxn id="601" idx="2"/>
          </p:cNvCxnSpPr>
          <p:nvPr/>
        </p:nvCxnSpPr>
        <p:spPr>
          <a:xfrm flipV="1">
            <a:off x="4973053" y="1538616"/>
            <a:ext cx="1857458" cy="117522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01" y="944423"/>
            <a:ext cx="345703" cy="309055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00" y="944424"/>
            <a:ext cx="399024" cy="31719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1982661" y="1316067"/>
            <a:ext cx="1112627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64408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0433" y="784324"/>
            <a:ext cx="575868" cy="106267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4191024" y="1098951"/>
            <a:ext cx="2469877" cy="4743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325773" y="1253546"/>
            <a:ext cx="12965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1139471" y="1258464"/>
            <a:ext cx="12475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sz="1200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6071" y="723300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724793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530545"/>
            <a:ext cx="2767" cy="111354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1387" y="945097"/>
            <a:ext cx="429637" cy="3171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82602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>
            <a:off x="1991624" y="1103021"/>
            <a:ext cx="1769763" cy="673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4036724"/>
            <a:ext cx="3267070" cy="371733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210017" y="3712518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6171289" y="1261617"/>
            <a:ext cx="13184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418897"/>
            <a:ext cx="17816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262626"/>
                </a:solidFill>
              </a:rPr>
              <a:t>airflow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990040" y="2115516"/>
            <a:ext cx="2613567" cy="580437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6005200" y="3871932"/>
            <a:ext cx="1234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84085" y="2432295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2321" y="2300465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955861"/>
            <a:ext cx="12745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872739"/>
            <a:ext cx="1432798" cy="1882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4155677" y="2949118"/>
            <a:ext cx="0" cy="1006743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35190" y="2233599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5915" y="2459384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6977" y="2888064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301458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400539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423452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90033" y="3892135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24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</a:t>
              </a: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244163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625786" y="2029437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6806" y="74513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306474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424828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797974"/>
            <a:ext cx="1122643" cy="303603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80197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1046793" y="3101578"/>
            <a:ext cx="1600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prometheus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23" idx="3"/>
          </p:cNvCxnSpPr>
          <p:nvPr/>
        </p:nvCxnSpPr>
        <p:spPr>
          <a:xfrm rot="5400000">
            <a:off x="2286871" y="3127721"/>
            <a:ext cx="1199666" cy="85595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229827" y="4017033"/>
            <a:ext cx="1228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grafana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64809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64134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16" idx="3"/>
            <a:endCxn id="603" idx="0"/>
          </p:cNvCxnSpPr>
          <p:nvPr/>
        </p:nvCxnSpPr>
        <p:spPr>
          <a:xfrm>
            <a:off x="4973054" y="2875226"/>
            <a:ext cx="354997" cy="543671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753858"/>
            <a:ext cx="2583" cy="263175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3097308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02113" y="373142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2B738-2CE3-E13E-34F1-23CDE1424AA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7683" y="3732389"/>
            <a:ext cx="274988" cy="274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5FDA2A-38E6-790A-16F8-8ADFA35B631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250359" y="1378990"/>
            <a:ext cx="205822" cy="20582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C9BC564-2EAE-04D3-791A-0508D40CEC20}"/>
              </a:ext>
            </a:extLst>
          </p:cNvPr>
          <p:cNvSpPr/>
          <p:nvPr/>
        </p:nvSpPr>
        <p:spPr>
          <a:xfrm>
            <a:off x="4500828" y="2641341"/>
            <a:ext cx="472225" cy="144997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43C439-615B-6934-474E-09C570C7D391}"/>
              </a:ext>
            </a:extLst>
          </p:cNvPr>
          <p:cNvSpPr/>
          <p:nvPr/>
        </p:nvSpPr>
        <p:spPr>
          <a:xfrm>
            <a:off x="4495008" y="2801333"/>
            <a:ext cx="478046" cy="14778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7A3F31A-1512-400D-B86C-E47916CAE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020" y="1600201"/>
            <a:ext cx="345703" cy="309055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182AC757-98D0-1B32-C6CC-742068547CDA}"/>
              </a:ext>
            </a:extLst>
          </p:cNvPr>
          <p:cNvSpPr txBox="1"/>
          <p:nvPr/>
        </p:nvSpPr>
        <p:spPr>
          <a:xfrm>
            <a:off x="4500828" y="1867192"/>
            <a:ext cx="17164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elasticsearch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:9200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83B086B-D46F-B105-4D32-D185B789DBF2}"/>
              </a:ext>
            </a:extLst>
          </p:cNvPr>
          <p:cNvCxnSpPr>
            <a:cxnSpLocks/>
            <a:stCxn id="14" idx="0"/>
            <a:endCxn id="45" idx="2"/>
          </p:cNvCxnSpPr>
          <p:nvPr/>
        </p:nvCxnSpPr>
        <p:spPr>
          <a:xfrm rot="5400000" flipH="1" flipV="1">
            <a:off x="4799416" y="2081716"/>
            <a:ext cx="497150" cy="62210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3" name="Picture 62" descr="Docker Icon in SVG, PNG formats">
            <a:extLst>
              <a:ext uri="{FF2B5EF4-FFF2-40B4-BE49-F238E27FC236}">
                <a16:creationId xmlns:a16="http://schemas.microsoft.com/office/drawing/2014/main" id="{B868BBE7-E83D-C8D7-D6F6-9109A97734A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2920" y="2355665"/>
            <a:ext cx="247147" cy="247147"/>
          </a:xfrm>
          <a:prstGeom prst="rect">
            <a:avLst/>
          </a:prstGeom>
        </p:spPr>
      </p:pic>
      <p:cxnSp>
        <p:nvCxnSpPr>
          <p:cNvPr id="576" name="Connector: Elbow 575">
            <a:extLst>
              <a:ext uri="{FF2B5EF4-FFF2-40B4-BE49-F238E27FC236}">
                <a16:creationId xmlns:a16="http://schemas.microsoft.com/office/drawing/2014/main" id="{1F7B340B-9CBE-5F90-754F-3B926E26B842}"/>
              </a:ext>
            </a:extLst>
          </p:cNvPr>
          <p:cNvCxnSpPr>
            <a:cxnSpLocks/>
            <a:stCxn id="715" idx="3"/>
            <a:endCxn id="10" idx="0"/>
          </p:cNvCxnSpPr>
          <p:nvPr/>
        </p:nvCxnSpPr>
        <p:spPr>
          <a:xfrm>
            <a:off x="4191024" y="1103694"/>
            <a:ext cx="1162246" cy="275296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25D6388D-7F14-3E67-49C1-31C320D9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6143E3F-51A4-E2D2-5E42-6AEBBFC62ABF}"/>
              </a:ext>
            </a:extLst>
          </p:cNvPr>
          <p:cNvSpPr/>
          <p:nvPr/>
        </p:nvSpPr>
        <p:spPr>
          <a:xfrm>
            <a:off x="851790" y="747600"/>
            <a:ext cx="6997709" cy="389397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F0AAE9E-1295-E879-B412-9C84573A24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Monitoring &amp; Reliability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6F2F4812-FA30-A89E-C6DC-56E69DDCC0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78182C36-2717-2611-DBA5-962E12F4D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A0673A0-350B-40B5-00AF-9C15BB8093DC}"/>
              </a:ext>
            </a:extLst>
          </p:cNvPr>
          <p:cNvSpPr txBox="1"/>
          <p:nvPr/>
        </p:nvSpPr>
        <p:spPr>
          <a:xfrm>
            <a:off x="3638564" y="1351401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0F6E1F-1C79-C899-3E44-16B8A4F4905B}"/>
              </a:ext>
            </a:extLst>
          </p:cNvPr>
          <p:cNvCxnSpPr>
            <a:cxnSpLocks/>
            <a:stCxn id="581" idx="1"/>
            <a:endCxn id="14" idx="3"/>
          </p:cNvCxnSpPr>
          <p:nvPr/>
        </p:nvCxnSpPr>
        <p:spPr>
          <a:xfrm flipH="1">
            <a:off x="5408472" y="4071926"/>
            <a:ext cx="1127944" cy="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D39A2A2-8CE7-3C28-1E73-CBE2C0968EA2}"/>
              </a:ext>
            </a:extLst>
          </p:cNvPr>
          <p:cNvCxnSpPr>
            <a:cxnSpLocks/>
            <a:stCxn id="23" idx="3"/>
            <a:endCxn id="18" idx="1"/>
          </p:cNvCxnSpPr>
          <p:nvPr/>
        </p:nvCxnSpPr>
        <p:spPr>
          <a:xfrm>
            <a:off x="2224112" y="2616221"/>
            <a:ext cx="1388901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AFE0CC99-FBB4-00E3-CB59-2C5B36CFA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379" y="2751773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D8B95-8869-5497-249B-D24279E7D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530" y="2786967"/>
            <a:ext cx="329030" cy="3290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450A45C-3208-78B9-967B-BCC33938943D}"/>
              </a:ext>
            </a:extLst>
          </p:cNvPr>
          <p:cNvSpPr txBox="1"/>
          <p:nvPr/>
        </p:nvSpPr>
        <p:spPr>
          <a:xfrm>
            <a:off x="3613013" y="2463717"/>
            <a:ext cx="1722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42E218-7ABB-C458-7336-60CA5068A45B}"/>
              </a:ext>
            </a:extLst>
          </p:cNvPr>
          <p:cNvSpPr txBox="1"/>
          <p:nvPr/>
        </p:nvSpPr>
        <p:spPr>
          <a:xfrm>
            <a:off x="851790" y="2462332"/>
            <a:ext cx="1372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E1905950-D315-140C-131A-88DEF5687B08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H="1" flipV="1">
            <a:off x="4467327" y="1659178"/>
            <a:ext cx="6718" cy="804539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1" name="TextBox 590">
            <a:extLst>
              <a:ext uri="{FF2B5EF4-FFF2-40B4-BE49-F238E27FC236}">
                <a16:creationId xmlns:a16="http://schemas.microsoft.com/office/drawing/2014/main" id="{81B57F9E-5249-3F65-F037-5C82320F6BBE}"/>
              </a:ext>
            </a:extLst>
          </p:cNvPr>
          <p:cNvSpPr txBox="1"/>
          <p:nvPr/>
        </p:nvSpPr>
        <p:spPr>
          <a:xfrm>
            <a:off x="4440999" y="1904480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03BB34-0766-BB5A-C46A-D800D40BE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087" y="4311189"/>
            <a:ext cx="210480" cy="2104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0749A3-6888-0CB6-1756-AE886F5D2494}"/>
              </a:ext>
            </a:extLst>
          </p:cNvPr>
          <p:cNvSpPr txBox="1"/>
          <p:nvPr/>
        </p:nvSpPr>
        <p:spPr>
          <a:xfrm>
            <a:off x="3539618" y="3918038"/>
            <a:ext cx="1868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pushgateway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50C08-7B82-E70F-85BB-882789E21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093" y="2845750"/>
            <a:ext cx="208694" cy="208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449022C-0587-DE76-015E-ABE806BAB5CE}"/>
              </a:ext>
            </a:extLst>
          </p:cNvPr>
          <p:cNvSpPr txBox="1"/>
          <p:nvPr/>
        </p:nvSpPr>
        <p:spPr>
          <a:xfrm>
            <a:off x="5978879" y="2462332"/>
            <a:ext cx="18706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alertmanager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6AE44C0-DC0E-4CE8-43F0-D877C05D8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8260" y="874272"/>
            <a:ext cx="538134" cy="9930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143B77-256C-687D-43EE-E04999FEC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766" y="1034586"/>
            <a:ext cx="455123" cy="33600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34235F-2EB5-8C95-CEB3-595C00763BA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474045" y="3192894"/>
            <a:ext cx="0" cy="725144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D520FAE-5827-8165-9CB3-D90AFA1CB165}"/>
              </a:ext>
            </a:extLst>
          </p:cNvPr>
          <p:cNvSpPr txBox="1"/>
          <p:nvPr/>
        </p:nvSpPr>
        <p:spPr>
          <a:xfrm>
            <a:off x="4440999" y="3427633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82F2ECC-9AE3-BAE2-99AB-EE673C1C414B}"/>
              </a:ext>
            </a:extLst>
          </p:cNvPr>
          <p:cNvSpPr txBox="1"/>
          <p:nvPr/>
        </p:nvSpPr>
        <p:spPr>
          <a:xfrm>
            <a:off x="5576952" y="3794927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push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DA73CB-5265-1EB0-7EC7-7BED2A26980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 flipV="1">
            <a:off x="5335077" y="2616221"/>
            <a:ext cx="643802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324F5F-0858-12F5-BBCB-12B6DE9B48BF}"/>
              </a:ext>
            </a:extLst>
          </p:cNvPr>
          <p:cNvSpPr txBox="1"/>
          <p:nvPr/>
        </p:nvSpPr>
        <p:spPr>
          <a:xfrm>
            <a:off x="5232405" y="2332415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alerts</a:t>
            </a:r>
          </a:p>
        </p:txBody>
      </p: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CB043595-B58D-58AA-BB7C-E696BEFEDDFA}"/>
              </a:ext>
            </a:extLst>
          </p:cNvPr>
          <p:cNvGrpSpPr/>
          <p:nvPr/>
        </p:nvGrpSpPr>
        <p:grpSpPr>
          <a:xfrm>
            <a:off x="6536416" y="3909823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E39F9BE9-E058-03D7-69CD-5E75550AE287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82" name="Picture 581" descr="Python (programming language) - Wikipedia">
              <a:extLst>
                <a:ext uri="{FF2B5EF4-FFF2-40B4-BE49-F238E27FC236}">
                  <a16:creationId xmlns:a16="http://schemas.microsoft.com/office/drawing/2014/main" id="{7C1135C2-5EA6-75C2-72CA-51F7F8FE7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92" name="TextBox 591">
            <a:extLst>
              <a:ext uri="{FF2B5EF4-FFF2-40B4-BE49-F238E27FC236}">
                <a16:creationId xmlns:a16="http://schemas.microsoft.com/office/drawing/2014/main" id="{6F1FF3A5-25ED-0909-E98D-0D2F2BEB54A9}"/>
              </a:ext>
            </a:extLst>
          </p:cNvPr>
          <p:cNvSpPr txBox="1"/>
          <p:nvPr/>
        </p:nvSpPr>
        <p:spPr>
          <a:xfrm>
            <a:off x="2523071" y="234118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query</a:t>
            </a:r>
          </a:p>
        </p:txBody>
      </p:sp>
      <p:pic>
        <p:nvPicPr>
          <p:cNvPr id="594" name="Picture 593">
            <a:extLst>
              <a:ext uri="{FF2B5EF4-FFF2-40B4-BE49-F238E27FC236}">
                <a16:creationId xmlns:a16="http://schemas.microsoft.com/office/drawing/2014/main" id="{5CC4CAC5-50AD-9D10-1DB2-F9B7919C164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6551484" y="1640945"/>
            <a:ext cx="697149" cy="178372"/>
          </a:xfrm>
          <a:prstGeom prst="rect">
            <a:avLst/>
          </a:prstGeom>
        </p:spPr>
      </p:pic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A24BFB29-B4BB-15A7-F1B9-783BDAFF5EB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914189" y="1908884"/>
            <a:ext cx="0" cy="553448"/>
          </a:xfrm>
          <a:prstGeom prst="straightConnector1">
            <a:avLst/>
          </a:prstGeom>
          <a:ln w="19050">
            <a:solidFill>
              <a:schemeClr val="accent5">
                <a:shade val="95000"/>
                <a:satMod val="105000"/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9" name="TextBox 598">
            <a:extLst>
              <a:ext uri="{FF2B5EF4-FFF2-40B4-BE49-F238E27FC236}">
                <a16:creationId xmlns:a16="http://schemas.microsoft.com/office/drawing/2014/main" id="{550295F5-9D8E-FE76-C1EE-4A15C55C2955}"/>
              </a:ext>
            </a:extLst>
          </p:cNvPr>
          <p:cNvSpPr txBox="1"/>
          <p:nvPr/>
        </p:nvSpPr>
        <p:spPr>
          <a:xfrm>
            <a:off x="6767842" y="205541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  <a:alpha val="50000"/>
                  </a:schemeClr>
                </a:solidFill>
              </a:rPr>
              <a:t>notify</a:t>
            </a:r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A8AB6CFD-0D7B-C20F-648C-0FC26FA29E7E}"/>
              </a:ext>
            </a:extLst>
          </p:cNvPr>
          <p:cNvGrpSpPr/>
          <p:nvPr/>
        </p:nvGrpSpPr>
        <p:grpSpPr>
          <a:xfrm>
            <a:off x="4038297" y="1923151"/>
            <a:ext cx="429030" cy="266298"/>
            <a:chOff x="5836602" y="3526478"/>
            <a:chExt cx="429030" cy="266298"/>
          </a:xfrm>
        </p:grpSpPr>
        <p:pic>
          <p:nvPicPr>
            <p:cNvPr id="638" name="Picture 637">
              <a:extLst>
                <a:ext uri="{FF2B5EF4-FFF2-40B4-BE49-F238E27FC236}">
                  <a16:creationId xmlns:a16="http://schemas.microsoft.com/office/drawing/2014/main" id="{C4AFF481-565D-FA7B-463F-0A1E4E82D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786F5BB7-182B-3545-18C2-4224F3718DC5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1BEE0611-A2BE-4650-73D3-1BC25D19880C}"/>
              </a:ext>
            </a:extLst>
          </p:cNvPr>
          <p:cNvGrpSpPr/>
          <p:nvPr/>
        </p:nvGrpSpPr>
        <p:grpSpPr>
          <a:xfrm>
            <a:off x="4024304" y="3444342"/>
            <a:ext cx="429030" cy="266298"/>
            <a:chOff x="5836602" y="3526478"/>
            <a:chExt cx="429030" cy="266298"/>
          </a:xfrm>
        </p:grpSpPr>
        <p:pic>
          <p:nvPicPr>
            <p:cNvPr id="643" name="Picture 642">
              <a:extLst>
                <a:ext uri="{FF2B5EF4-FFF2-40B4-BE49-F238E27FC236}">
                  <a16:creationId xmlns:a16="http://schemas.microsoft.com/office/drawing/2014/main" id="{8EF3ED6F-C831-AE11-4788-DE3CD6310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4" name="TextBox 643">
              <a:extLst>
                <a:ext uri="{FF2B5EF4-FFF2-40B4-BE49-F238E27FC236}">
                  <a16:creationId xmlns:a16="http://schemas.microsoft.com/office/drawing/2014/main" id="{4F7C82B6-5884-95DE-B7FA-E5594D81B03B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5" name="Group 644">
            <a:extLst>
              <a:ext uri="{FF2B5EF4-FFF2-40B4-BE49-F238E27FC236}">
                <a16:creationId xmlns:a16="http://schemas.microsoft.com/office/drawing/2014/main" id="{28CB518E-F23A-59F9-1BD8-B06BF2C2A87F}"/>
              </a:ext>
            </a:extLst>
          </p:cNvPr>
          <p:cNvGrpSpPr/>
          <p:nvPr/>
        </p:nvGrpSpPr>
        <p:grpSpPr>
          <a:xfrm>
            <a:off x="5447402" y="2666321"/>
            <a:ext cx="429030" cy="266298"/>
            <a:chOff x="5837250" y="3526478"/>
            <a:chExt cx="429030" cy="266298"/>
          </a:xfrm>
        </p:grpSpPr>
        <p:pic>
          <p:nvPicPr>
            <p:cNvPr id="647" name="Picture 646">
              <a:extLst>
                <a:ext uri="{FF2B5EF4-FFF2-40B4-BE49-F238E27FC236}">
                  <a16:creationId xmlns:a16="http://schemas.microsoft.com/office/drawing/2014/main" id="{6B2342F8-E6CA-01AA-38AA-CB8D13D9B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8" name="TextBox 647">
              <a:extLst>
                <a:ext uri="{FF2B5EF4-FFF2-40B4-BE49-F238E27FC236}">
                  <a16:creationId xmlns:a16="http://schemas.microsoft.com/office/drawing/2014/main" id="{C89E22B0-E42B-59EF-1913-BEEA2F47EECB}"/>
                </a:ext>
              </a:extLst>
            </p:cNvPr>
            <p:cNvSpPr txBox="1"/>
            <p:nvPr/>
          </p:nvSpPr>
          <p:spPr>
            <a:xfrm>
              <a:off x="5837250" y="3539585"/>
              <a:ext cx="4290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ETL</a:t>
              </a:r>
              <a:b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</a:br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&gt;26 h</a:t>
              </a:r>
            </a:p>
          </p:txBody>
        </p:sp>
      </p:grpSp>
      <p:sp>
        <p:nvSpPr>
          <p:cNvPr id="649" name="Rectangle 648">
            <a:extLst>
              <a:ext uri="{FF2B5EF4-FFF2-40B4-BE49-F238E27FC236}">
                <a16:creationId xmlns:a16="http://schemas.microsoft.com/office/drawing/2014/main" id="{1332BD09-E8E1-3666-B811-349B98DA9565}"/>
              </a:ext>
            </a:extLst>
          </p:cNvPr>
          <p:cNvSpPr/>
          <p:nvPr/>
        </p:nvSpPr>
        <p:spPr>
          <a:xfrm>
            <a:off x="2348086" y="292306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Time Since Last Successful ETL</a:t>
            </a:r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CAA198F-3520-49A7-5C28-3B3FC81744D2}"/>
              </a:ext>
            </a:extLst>
          </p:cNvPr>
          <p:cNvSpPr/>
          <p:nvPr/>
        </p:nvSpPr>
        <p:spPr>
          <a:xfrm>
            <a:off x="2348086" y="3394532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Last ETL Duration</a:t>
            </a:r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32F40984-0A08-B9E5-13BE-3CD960D26F0A}"/>
              </a:ext>
            </a:extLst>
          </p:cNvPr>
          <p:cNvSpPr/>
          <p:nvPr/>
        </p:nvSpPr>
        <p:spPr>
          <a:xfrm>
            <a:off x="2348086" y="3869309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Geocoding Failures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1D270ED-EDB8-55E8-EA44-A22CBDFCD29B}"/>
              </a:ext>
            </a:extLst>
          </p:cNvPr>
          <p:cNvSpPr/>
          <p:nvPr/>
        </p:nvSpPr>
        <p:spPr>
          <a:xfrm>
            <a:off x="2397466" y="840657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Requests</a:t>
            </a:r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D7F02F9D-54BE-C679-CAC0-B6FABCF94A80}"/>
              </a:ext>
            </a:extLst>
          </p:cNvPr>
          <p:cNvSpPr/>
          <p:nvPr/>
        </p:nvSpPr>
        <p:spPr>
          <a:xfrm>
            <a:off x="2397466" y="1315434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Duration (p95)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1C02109E-EDF0-BC2C-9FF4-90052E0D4356}"/>
              </a:ext>
            </a:extLst>
          </p:cNvPr>
          <p:cNvSpPr/>
          <p:nvPr/>
        </p:nvSpPr>
        <p:spPr>
          <a:xfrm>
            <a:off x="2397466" y="179021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Active Database Connections</a:t>
            </a:r>
          </a:p>
        </p:txBody>
      </p:sp>
    </p:spTree>
    <p:extLst>
      <p:ext uri="{BB962C8B-B14F-4D97-AF65-F5344CB8AC3E}">
        <p14:creationId xmlns:p14="http://schemas.microsoft.com/office/powerpoint/2010/main" val="65768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481022DB-5551-B743-1147-B8B7982DA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99F6F1C5-4FCA-226F-B7D5-DE7394DD994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What Can We Learn from the Data?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1EED32FD-EBBC-715E-5801-7AE9E2CA02C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C175177-E5F8-8040-8FEA-BD04CA40EE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22776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98386343-0DE9-111B-DFC1-410BD6ADE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7C1EE998-61FE-B24F-B9CD-28C6666AC87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Limitations &amp; Next Steps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FC55D9A6-B629-76BB-9517-C0F42D6F154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579BE5E8-3A2C-331C-6D2F-8D9BFAE65D9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8909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9FA05459-0F1A-A82B-C0F8-9B37C834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844DB651-2CB8-750C-B4AA-C704C262FDD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Conclusion / Demo</a:t>
            </a:r>
            <a:endParaRPr lang="en-US"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57DE8AEB-3003-3C23-2B0C-838967B052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C0AA07C5-4B8A-C864-7C1B-7D39D92C2C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330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661</Words>
  <Application>Microsoft Office PowerPoint</Application>
  <PresentationFormat>On-screen Show (16:9)</PresentationFormat>
  <Paragraphs>212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32" baseType="lpstr">
      <vt:lpstr>Arial</vt:lpstr>
      <vt:lpstr>Consolas</vt:lpstr>
      <vt:lpstr>Courier New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228</cp:revision>
  <dcterms:modified xsi:type="dcterms:W3CDTF">2026-09-05T16:17:41Z</dcterms:modified>
</cp:coreProperties>
</file>