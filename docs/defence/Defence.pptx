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5" r:id="rId1"/>
    <p:sldMasterId id="2147483736" r:id="rId2"/>
  </p:sldMasterIdLst>
  <p:notesMasterIdLst>
    <p:notesMasterId r:id="rId12"/>
  </p:notesMasterIdLst>
  <p:sldIdLst>
    <p:sldId id="256" r:id="rId3"/>
    <p:sldId id="258" r:id="rId4"/>
    <p:sldId id="260" r:id="rId5"/>
    <p:sldId id="257" r:id="rId6"/>
    <p:sldId id="279" r:id="rId7"/>
    <p:sldId id="276" r:id="rId8"/>
    <p:sldId id="277" r:id="rId9"/>
    <p:sldId id="278" r:id="rId10"/>
    <p:sldId id="273" r:id="rId1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290">
          <p15:clr>
            <a:srgbClr val="747775"/>
          </p15:clr>
        </p15:guide>
        <p15:guide id="2" pos="2880">
          <p15:clr>
            <a:srgbClr val="747775"/>
          </p15:clr>
        </p15:guide>
        <p15:guide id="3" orient="horz" pos="1437">
          <p15:clr>
            <a:srgbClr val="747775"/>
          </p15:clr>
        </p15:guide>
        <p15:guide id="4" orient="horz" pos="1014">
          <p15:clr>
            <a:srgbClr val="747775"/>
          </p15:clr>
        </p15:guide>
        <p15:guide id="5" orient="horz" pos="1893">
          <p15:clr>
            <a:srgbClr val="747775"/>
          </p15:clr>
        </p15:guide>
        <p15:guide id="6" pos="4921">
          <p15:clr>
            <a:srgbClr val="747775"/>
          </p15:clr>
        </p15:guide>
        <p15:guide id="7" orient="horz" pos="2679">
          <p15:clr>
            <a:srgbClr val="747775"/>
          </p15:clr>
        </p15:guide>
        <p15:guide id="8" orient="horz" pos="59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5858"/>
    <a:srgbClr val="336791"/>
    <a:srgbClr val="EF552E"/>
    <a:srgbClr val="262626"/>
    <a:srgbClr val="7151FD"/>
    <a:srgbClr val="000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44" autoAdjust="0"/>
    <p:restoredTop sz="94660"/>
  </p:normalViewPr>
  <p:slideViewPr>
    <p:cSldViewPr snapToGrid="0">
      <p:cViewPr>
        <p:scale>
          <a:sx n="200" d="100"/>
          <a:sy n="200" d="100"/>
        </p:scale>
        <p:origin x="-210" y="-108"/>
      </p:cViewPr>
      <p:guideLst>
        <p:guide orient="horz" pos="2290"/>
        <p:guide pos="2880"/>
        <p:guide orient="horz" pos="1437"/>
        <p:guide orient="horz" pos="1014"/>
        <p:guide orient="horz" pos="1893"/>
        <p:guide pos="4921"/>
        <p:guide orient="horz" pos="2679"/>
        <p:guide orient="horz" pos="59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3b454739a23_0_14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3b454739a23_0_14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b454739a23_0_19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b454739a23_0_19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b5a5a12495_0_5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b5a5a12495_0_5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4CDCF8BA-96C4-93FC-7D6C-BB4971517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DE5305BD-4ECF-43FE-2DCE-9A5170CF35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7D25C066-D770-EFAE-D55A-CDBDBCE530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5782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AD9B68FD-C652-2B2D-3D10-CB6CDDF29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8247C6C0-368F-8126-90AE-95A7BB54A3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26CA0F2F-7171-467D-3928-881AA20DFF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71065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B12BD581-E3B5-6A20-0E5C-258BC9A86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FCF3F26B-197F-5B9B-18D8-E88CCF4F49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49EC9746-462D-4000-B6B1-EF08ADCCA1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27330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>
          <a:extLst>
            <a:ext uri="{FF2B5EF4-FFF2-40B4-BE49-F238E27FC236}">
              <a16:creationId xmlns:a16="http://schemas.microsoft.com/office/drawing/2014/main" id="{D70F0DE1-61C8-B949-CF9F-889D5125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b5a5a12495_0_1110:notes">
            <a:extLst>
              <a:ext uri="{FF2B5EF4-FFF2-40B4-BE49-F238E27FC236}">
                <a16:creationId xmlns:a16="http://schemas.microsoft.com/office/drawing/2014/main" id="{4AAADD59-477D-A0E5-6A76-02B7BE6313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b5a5a12495_0_1110:notes">
            <a:extLst>
              <a:ext uri="{FF2B5EF4-FFF2-40B4-BE49-F238E27FC236}">
                <a16:creationId xmlns:a16="http://schemas.microsoft.com/office/drawing/2014/main" id="{B00DFA13-910D-3747-D068-FAF410152E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9443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g3b86f157844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1" name="Google Shape;791;g3b86f157844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.pn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7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1.png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1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None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None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5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16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8" name="Google Shape;68;p1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76" name="Google Shape;7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8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9" name="Google Shape;7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82" name="Google Shape;8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8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8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0" name="Google Shape;90;p1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2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5" name="Google Shape;95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96" name="Google Shape;96;p2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97" name="Google Shape;97;p2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21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04" name="Google Shape;104;p21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105" name="Google Shape;105;p21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6" name="Google Shape;106;p21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1" name="Google Shape;11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22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6" name="Google Shape;116;p22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117" name="Google Shape;117;p22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3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2" name="Google Shape;122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23" name="Google Shape;123;p23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4" name="Google Shape;124;p23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6" name="Google Shape;126;p23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7" name="Google Shape;127;p23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128" name="Google Shape;128;p23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7" name="Google Shape;137;p24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8" name="Google Shape;138;p24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24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1" name="Google Shape;141;p24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2" name="Google Shape;142;p24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3" name="Google Shape;143;p24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4" name="Google Shape;144;p24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45" name="Google Shape;145;p24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3" name="Google Shape;153;p25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4" name="Google Shape;154;p25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5" name="Google Shape;155;p25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6" name="Google Shape;156;p25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7" name="Google Shape;157;p25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58" name="Google Shape;158;p25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3" name="Google Shape;163;p26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4" name="Google Shape;164;p26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26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26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26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8" name="Google Shape;168;p26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9" name="Google Shape;169;p26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71" name="Google Shape;171;p26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72" name="Google Shape;172;p26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3" name="Google Shape;173;p26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4" name="Google Shape;174;p26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5" name="Google Shape;175;p26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6" name="Google Shape;176;p26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7" name="Google Shape;177;p26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8" name="Google Shape;178;p26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179" name="Google Shape;179;p26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2" name="Google Shape;182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4" name="Google Shape;184;p27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5" name="Google Shape;185;p27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0" name="Google Shape;190;p28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96" name="Google Shape;196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9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8" name="Google Shape;198;p29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0" name="Google Shape;200;p29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1" name="Google Shape;201;p29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2" name="Google Shape;202;p29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3" name="Google Shape;203;p29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04" name="Google Shape;204;p29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14" name="Google Shape;214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7" name="Google Shape;217;p31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8" name="Google Shape;218;p31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5" name="Google Shape;225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3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29" name="Google Shape;229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3" name="Google Shape;233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34" name="Google Shape;234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3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237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39" name="Google Shape;239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3" name="Google Shape;243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47" name="Google Shape;247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8" name="Google Shape;248;p38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2" name="Google Shape;25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4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58" name="Google Shape;258;p4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9" name="Google Shape;259;p4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40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61" name="Google Shape;261;p40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2" name="Google Shape;262;p40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4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4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66" name="Google Shape;266;p4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67" name="Google Shape;267;p41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41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41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73" name="Google Shape;273;p4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42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42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276" name="Google Shape;276;p42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7" name="Google Shape;277;p42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4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81" name="Google Shape;281;p4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2" name="Google Shape;282;p43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3" name="Google Shape;283;p43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43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43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43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7" name="Google Shape;287;p43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  <p:sp>
        <p:nvSpPr>
          <p:cNvPr id="288" name="Google Shape;288;p43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4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292" name="Google Shape;292;p4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44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4" name="Google Shape;294;p44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5" name="Google Shape;295;p44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6" name="Google Shape;296;p44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7" name="Google Shape;297;p44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8" name="Google Shape;298;p44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  <p:sp>
        <p:nvSpPr>
          <p:cNvPr id="299" name="Google Shape;299;p44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4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03" name="Google Shape;303;p4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4" name="Google Shape;304;p45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45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6" name="Google Shape;306;p45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7" name="Google Shape;307;p45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8" name="Google Shape;308;p45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9" name="Google Shape;309;p45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0" name="Google Shape;310;p45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45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2" name="Google Shape;312;p45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3" name="Google Shape;313;p45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4" name="Google Shape;314;p45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5" name="Google Shape;315;p45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16" name="Google Shape;316;p45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4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20" name="Google Shape;320;p4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46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2" name="Google Shape;322;p46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4" name="Google Shape;324;p46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5" name="Google Shape;325;p46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6" name="Google Shape;326;p46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7" name="Google Shape;327;p46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8" name="Google Shape;328;p46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29" name="Google Shape;329;p46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1" name="Google Shape;331;p4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4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33" name="Google Shape;333;p4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7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5" name="Google Shape;335;p47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47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47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47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9" name="Google Shape;339;p47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0" name="Google Shape;340;p47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43" name="Google Shape;343;p47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4" name="Google Shape;344;p47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5" name="Google Shape;345;p47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6" name="Google Shape;346;p47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7" name="Google Shape;347;p47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8" name="Google Shape;348;p47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49" name="Google Shape;349;p47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  <p:sp>
        <p:nvSpPr>
          <p:cNvPr id="350" name="Google Shape;350;p47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3" name="Google Shape;353;p4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55" name="Google Shape;355;p48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56" name="Google Shape;356;p48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59" name="Google Shape;359;p4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4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1" name="Google Shape;361;p49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2" name="Google Shape;362;p49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3" name="Google Shape;363;p49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66" name="Google Shape;36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5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68" name="Google Shape;368;p50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69" name="Google Shape;369;p50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0" name="Google Shape;370;p50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1" name="Google Shape;371;p50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72" name="Google Shape;372;p50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3" name="Google Shape;373;p50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4" name="Google Shape;374;p50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  <p:sp>
        <p:nvSpPr>
          <p:cNvPr id="375" name="Google Shape;375;p50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78" name="Google Shape;378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5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0" name="Google Shape;380;p51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1" name="Google Shape;381;p51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84" name="Google Shape;384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5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386" name="Google Shape;386;p52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7" name="Google Shape;387;p52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8" name="Google Shape;388;p52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9" name="Google Shape;389;p52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5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4" name="Google Shape;394;p54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95" name="Google Shape;395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399" name="Google Shape;399;p55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400" name="Google Shape;400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05" name="Google Shape;405;p5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7" name="Google Shape;407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5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0" name="Google Shape;410;p5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1" name="Google Shape;411;p5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p5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5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6" name="Google Shape;416;p5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7" name="Google Shape;417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5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59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5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2" name="Google Shape;422;p5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3" name="Google Shape;423;p5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4" name="Google Shape;424;p5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Google Shape;425;p5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7" name="Google Shape;427;p6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8" name="Google Shape;428;p6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9" name="Google Shape;429;p6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0" name="Google Shape;430;p6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2" name="Google Shape;432;p6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3" name="Google Shape;433;p6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34" name="Google Shape;434;p6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35" name="Google Shape;435;p6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36" name="Google Shape;436;p6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39" name="Google Shape;439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6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1" name="Google Shape;441;p6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2" name="Google Shape;442;p6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3" name="Google Shape;443;p6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6" name="Google Shape;446;p6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47" name="Google Shape;447;p6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6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6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51" name="Google Shape;451;p6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2" name="Google Shape;452;p6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53" name="Google Shape;453;p6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54" name="Google Shape;454;p6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65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6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8" name="Google Shape;458;p6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9" name="Google Shape;459;p6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60" name="Google Shape;460;p6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61" name="Google Shape;461;p6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3" name="Google Shape;463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4" name="Google Shape;464;p6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65" name="Google Shape;465;p6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66" name="Google Shape;466;p66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67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70" name="Google Shape;470;p6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1" name="Google Shape;471;p67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7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8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75" name="Google Shape;47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7" name="Google Shape;477;p68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78" name="Google Shape;478;p68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79" name="Google Shape;479;p68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1" name="Google Shape;481;p6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6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483" name="Google Shape;483;p6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84" name="Google Shape;484;p69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69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6" name="Google Shape;486;p69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8" name="Google Shape;488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0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90" name="Google Shape;490;p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7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493" name="Google Shape;493;p7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71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95" name="Google Shape;495;p71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96" name="Google Shape;496;p71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97" name="Google Shape;497;p71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">
  <p:cSld name="TITLE_1_1"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7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500" name="Google Shape;500;p7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01" name="Google Shape;501;p7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">
  <p:cSld name="TITLE_AND_BODY_1_3">
    <p:bg>
      <p:bgPr>
        <a:solidFill>
          <a:srgbClr val="E8E3D4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73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04" name="Google Shape;504;p73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5" name="Google Shape;505;p73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73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07" name="Google Shape;507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73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09" name="Google Shape;509;p73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10" name="Google Shape;510;p73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" name="Google Shape;511;p73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5">
  <p:cSld name="TITLE_AND_BODY_6">
    <p:bg>
      <p:bgPr>
        <a:solidFill>
          <a:srgbClr val="E8E3D4"/>
        </a:solidFill>
        <a:effectLst/>
      </p:bgPr>
    </p:bg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7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14" name="Google Shape;514;p74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5" name="Google Shape;515;p74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16" name="Google Shape;516;p74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17" name="Google Shape;517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74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19" name="Google Shape;519;p74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20" name="Google Shape;520;p74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21" name="Google Shape;521;p74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1">
  <p:cSld name="TITLE_AND_BODY_7">
    <p:bg>
      <p:bgPr>
        <a:solidFill>
          <a:srgbClr val="E8E3D4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7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24" name="Google Shape;524;p7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7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26" name="Google Shape;526;p7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27" name="Google Shape;5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7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29" name="Google Shape;529;p7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2">
  <p:cSld name="TITLE_AND_BODY_8">
    <p:bg>
      <p:bgPr>
        <a:solidFill>
          <a:srgbClr val="E8E3D4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76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32" name="Google Shape;532;p76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3" name="Google Shape;533;p76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34" name="Google Shape;534;p76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35" name="Google Shape;535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76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37" name="Google Shape;537;p76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38" name="Google Shape;538;p76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Google Shape;539;p76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3">
  <p:cSld name="TITLE_AND_BODY_9">
    <p:bg>
      <p:bgPr>
        <a:solidFill>
          <a:srgbClr val="E8E3D4"/>
        </a:solidFill>
        <a:effectLst/>
      </p:bgPr>
    </p:bg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77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42" name="Google Shape;542;p77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3" name="Google Shape;543;p77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4" name="Google Shape;544;p77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45" name="Google Shape;545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77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47" name="Google Shape;547;p77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48" name="Google Shape;548;p77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" name="Google Shape;549;p77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SECTION_HEADER_2">
    <p:bg>
      <p:bgPr>
        <a:solidFill>
          <a:srgbClr val="E8E3D4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78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52" name="Google Shape;55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53" name="Google Shape;553;p78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54" name="Google Shape;554;p78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4">
  <p:cSld name="TITLE_AND_BODY_10">
    <p:bg>
      <p:bgPr>
        <a:solidFill>
          <a:srgbClr val="E8E3D4"/>
        </a:solidFill>
        <a:effectLst/>
      </p:bgPr>
    </p:bg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79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57" name="Google Shape;557;p79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79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79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60" name="Google Shape;560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79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62" name="Google Shape;562;p79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63" name="Google Shape;563;p79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79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6">
  <p:cSld name="TITLE_AND_BODY_11">
    <p:bg>
      <p:bgPr>
        <a:solidFill>
          <a:srgbClr val="E8E3D4"/>
        </a:solidFill>
        <a:effectLst/>
      </p:bgPr>
    </p:bg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80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67" name="Google Shape;567;p80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8" name="Google Shape;568;p80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9" name="Google Shape;569;p80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70" name="Google Shape;570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71" name="Google Shape;571;p80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72" name="Google Shape;572;p80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73" name="Google Shape;573;p80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74" name="Google Shape;574;p80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7">
  <p:cSld name="TITLE_AND_BODY_12">
    <p:bg>
      <p:bgPr>
        <a:solidFill>
          <a:srgbClr val="E8E3D4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81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77" name="Google Shape;577;p81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81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81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580" name="Google Shape;58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81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582" name="Google Shape;582;p81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1">
  <p:cSld name="SECTION_HEADER_3">
    <p:bg>
      <p:bgPr>
        <a:solidFill>
          <a:srgbClr val="E8E3D4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82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585" name="Google Shape;585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86" name="Google Shape;586;p82"/>
          <p:cNvPicPr preferRelativeResize="0"/>
          <p:nvPr/>
        </p:nvPicPr>
        <p:blipFill rotWithShape="1">
          <a:blip r:embed="rId3">
            <a:alphaModFix/>
          </a:blip>
          <a:srcRect r="78350"/>
          <a:stretch/>
        </p:blipFill>
        <p:spPr>
          <a:xfrm>
            <a:off x="7993025" y="4545189"/>
            <a:ext cx="443326" cy="448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7" name="Google Shape;587;p82"/>
          <p:cNvPicPr preferRelativeResize="0"/>
          <p:nvPr/>
        </p:nvPicPr>
        <p:blipFill rotWithShape="1">
          <a:blip r:embed="rId4">
            <a:alphaModFix/>
          </a:blip>
          <a:srcRect l="4050" t="9114" r="78055" b="19463"/>
          <a:stretch/>
        </p:blipFill>
        <p:spPr>
          <a:xfrm>
            <a:off x="7418367" y="4538588"/>
            <a:ext cx="462734" cy="46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2">
  <p:cSld name="TITLE_2">
    <p:bg>
      <p:bgPr>
        <a:solidFill>
          <a:srgbClr val="E8E3D4"/>
        </a:solid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Google Shape;589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0" name="Google Shape;590;p8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1" name="Google Shape;591;p8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83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rrière-plan simple" type="blank">
  <p:cSld name="BLANK">
    <p:bg>
      <p:bgPr>
        <a:solidFill>
          <a:srgbClr val="E8E3D4"/>
        </a:solidFill>
        <a:effectLst/>
      </p:bgPr>
    </p:bg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4" name="Google Shape;59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8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annonce 8">
  <p:cSld name="TITLE_AND_BODY_13">
    <p:bg>
      <p:bgPr>
        <a:solidFill>
          <a:srgbClr val="E8E3D4"/>
        </a:solidFill>
        <a:effectLst/>
      </p:bgPr>
    </p:bg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8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lvl="1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lvl="2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lvl="3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lvl="4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lvl="5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lvl="6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lvl="7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lvl="8" algn="l">
              <a:buNone/>
              <a:defRPr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598" name="Google Shape;598;p85"/>
          <p:cNvSpPr txBox="1">
            <a:spLocks noGrp="1"/>
          </p:cNvSpPr>
          <p:nvPr>
            <p:ph type="title"/>
          </p:nvPr>
        </p:nvSpPr>
        <p:spPr>
          <a:xfrm>
            <a:off x="1098750" y="313175"/>
            <a:ext cx="4481400" cy="5505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Urbanist Black"/>
              <a:buNone/>
              <a:defRPr sz="23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85"/>
          <p:cNvSpPr txBox="1">
            <a:spLocks noGrp="1"/>
          </p:cNvSpPr>
          <p:nvPr>
            <p:ph type="subTitle" idx="1"/>
          </p:nvPr>
        </p:nvSpPr>
        <p:spPr>
          <a:xfrm>
            <a:off x="1022550" y="11568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00" name="Google Shape;600;p85"/>
          <p:cNvSpPr txBox="1">
            <a:spLocks noGrp="1"/>
          </p:cNvSpPr>
          <p:nvPr>
            <p:ph type="body" idx="2"/>
          </p:nvPr>
        </p:nvSpPr>
        <p:spPr>
          <a:xfrm>
            <a:off x="1037400" y="1720225"/>
            <a:ext cx="7076100" cy="10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pic>
        <p:nvPicPr>
          <p:cNvPr id="601" name="Google Shape;601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85"/>
          <p:cNvSpPr txBox="1">
            <a:spLocks noGrp="1"/>
          </p:cNvSpPr>
          <p:nvPr>
            <p:ph type="body" idx="3"/>
          </p:nvPr>
        </p:nvSpPr>
        <p:spPr>
          <a:xfrm>
            <a:off x="1045346" y="3604725"/>
            <a:ext cx="7076100" cy="11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603" name="Google Shape;603;p85"/>
          <p:cNvSpPr txBox="1">
            <a:spLocks noGrp="1"/>
          </p:cNvSpPr>
          <p:nvPr>
            <p:ph type="subTitle" idx="4"/>
          </p:nvPr>
        </p:nvSpPr>
        <p:spPr>
          <a:xfrm>
            <a:off x="1029975" y="30413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 2">
  <p:cSld name="SECTION_HEADER_4">
    <p:bg>
      <p:bgPr>
        <a:solidFill>
          <a:srgbClr val="E8E3D4"/>
        </a:solidFill>
        <a:effectLst/>
      </p:bgPr>
    </p:bg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6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06" name="Google Shape;606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e de titre 1 1">
  <p:cSld name="TITLE_1_2">
    <p:bg>
      <p:bgPr>
        <a:solidFill>
          <a:srgbClr val="E8E3D4"/>
        </a:solidFill>
        <a:effectLst/>
      </p:bgPr>
    </p:bg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8" name="Google Shape;608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38330" y="403365"/>
            <a:ext cx="1076958" cy="82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9" name="Google Shape;609;p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54263" y="4337565"/>
            <a:ext cx="2635477" cy="518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8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0579" y="4002409"/>
            <a:ext cx="1076975" cy="676023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87"/>
          <p:cNvSpPr txBox="1">
            <a:spLocks noGrp="1"/>
          </p:cNvSpPr>
          <p:nvPr>
            <p:ph type="title"/>
          </p:nvPr>
        </p:nvSpPr>
        <p:spPr>
          <a:xfrm>
            <a:off x="2259000" y="1957025"/>
            <a:ext cx="4626000" cy="855300"/>
          </a:xfrm>
          <a:prstGeom prst="rect">
            <a:avLst/>
          </a:prstGeom>
          <a:solidFill>
            <a:srgbClr val="F5FA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50"/>
              <a:buFont typeface="Urbanist Black"/>
              <a:buNone/>
              <a:defRPr sz="425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_1">
  <p:cSld name="TITLE_AND_BODY_13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8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4" name="Google Shape;614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15" name="Google Shape;615;p8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799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pic>
        <p:nvPicPr>
          <p:cNvPr id="618" name="Google Shape;618;p8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p8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620" name="Google Shape;620;p89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621" name="Google Shape;621;p89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622" name="Google Shape;622;p89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38.xml"/><Relationship Id="rId21" Type="http://schemas.openxmlformats.org/officeDocument/2006/relationships/slideLayout" Target="../slideLayouts/slideLayout33.xml"/><Relationship Id="rId42" Type="http://schemas.openxmlformats.org/officeDocument/2006/relationships/slideLayout" Target="../slideLayouts/slideLayout54.xml"/><Relationship Id="rId47" Type="http://schemas.openxmlformats.org/officeDocument/2006/relationships/slideLayout" Target="../slideLayouts/slideLayout59.xml"/><Relationship Id="rId63" Type="http://schemas.openxmlformats.org/officeDocument/2006/relationships/slideLayout" Target="../slideLayouts/slideLayout75.xml"/><Relationship Id="rId68" Type="http://schemas.openxmlformats.org/officeDocument/2006/relationships/slideLayout" Target="../slideLayouts/slideLayout80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45" Type="http://schemas.openxmlformats.org/officeDocument/2006/relationships/slideLayout" Target="../slideLayouts/slideLayout57.xml"/><Relationship Id="rId53" Type="http://schemas.openxmlformats.org/officeDocument/2006/relationships/slideLayout" Target="../slideLayouts/slideLayout65.xml"/><Relationship Id="rId58" Type="http://schemas.openxmlformats.org/officeDocument/2006/relationships/slideLayout" Target="../slideLayouts/slideLayout70.xml"/><Relationship Id="rId66" Type="http://schemas.openxmlformats.org/officeDocument/2006/relationships/slideLayout" Target="../slideLayouts/slideLayout78.xml"/><Relationship Id="rId74" Type="http://schemas.openxmlformats.org/officeDocument/2006/relationships/slideLayout" Target="../slideLayouts/slideLayout86.xml"/><Relationship Id="rId5" Type="http://schemas.openxmlformats.org/officeDocument/2006/relationships/slideLayout" Target="../slideLayouts/slideLayout17.xml"/><Relationship Id="rId61" Type="http://schemas.openxmlformats.org/officeDocument/2006/relationships/slideLayout" Target="../slideLayouts/slideLayout73.xml"/><Relationship Id="rId1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48" Type="http://schemas.openxmlformats.org/officeDocument/2006/relationships/slideLayout" Target="../slideLayouts/slideLayout60.xml"/><Relationship Id="rId56" Type="http://schemas.openxmlformats.org/officeDocument/2006/relationships/slideLayout" Target="../slideLayouts/slideLayout68.xml"/><Relationship Id="rId64" Type="http://schemas.openxmlformats.org/officeDocument/2006/relationships/slideLayout" Target="../slideLayouts/slideLayout76.xml"/><Relationship Id="rId69" Type="http://schemas.openxmlformats.org/officeDocument/2006/relationships/slideLayout" Target="../slideLayouts/slideLayout81.xml"/><Relationship Id="rId8" Type="http://schemas.openxmlformats.org/officeDocument/2006/relationships/slideLayout" Target="../slideLayouts/slideLayout20.xml"/><Relationship Id="rId51" Type="http://schemas.openxmlformats.org/officeDocument/2006/relationships/slideLayout" Target="../slideLayouts/slideLayout63.xml"/><Relationship Id="rId72" Type="http://schemas.openxmlformats.org/officeDocument/2006/relationships/slideLayout" Target="../slideLayouts/slideLayout84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Relationship Id="rId46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71.xml"/><Relationship Id="rId67" Type="http://schemas.openxmlformats.org/officeDocument/2006/relationships/slideLayout" Target="../slideLayouts/slideLayout79.xml"/><Relationship Id="rId20" Type="http://schemas.openxmlformats.org/officeDocument/2006/relationships/slideLayout" Target="../slideLayouts/slideLayout32.xml"/><Relationship Id="rId41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66.xml"/><Relationship Id="rId62" Type="http://schemas.openxmlformats.org/officeDocument/2006/relationships/slideLayout" Target="../slideLayouts/slideLayout74.xml"/><Relationship Id="rId70" Type="http://schemas.openxmlformats.org/officeDocument/2006/relationships/slideLayout" Target="../slideLayouts/slideLayout82.xml"/><Relationship Id="rId75" Type="http://schemas.openxmlformats.org/officeDocument/2006/relationships/theme" Target="../theme/theme2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61.xml"/><Relationship Id="rId57" Type="http://schemas.openxmlformats.org/officeDocument/2006/relationships/slideLayout" Target="../slideLayouts/slideLayout69.xml"/><Relationship Id="rId10" Type="http://schemas.openxmlformats.org/officeDocument/2006/relationships/slideLayout" Target="../slideLayouts/slideLayout22.xml"/><Relationship Id="rId31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56.xml"/><Relationship Id="rId52" Type="http://schemas.openxmlformats.org/officeDocument/2006/relationships/slideLayout" Target="../slideLayouts/slideLayout64.xml"/><Relationship Id="rId60" Type="http://schemas.openxmlformats.org/officeDocument/2006/relationships/slideLayout" Target="../slideLayouts/slideLayout72.xml"/><Relationship Id="rId65" Type="http://schemas.openxmlformats.org/officeDocument/2006/relationships/slideLayout" Target="../slideLayouts/slideLayout77.xml"/><Relationship Id="rId73" Type="http://schemas.openxmlformats.org/officeDocument/2006/relationships/slideLayout" Target="../slideLayouts/slideLayout85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39" Type="http://schemas.openxmlformats.org/officeDocument/2006/relationships/slideLayout" Target="../slideLayouts/slideLayout51.xml"/><Relationship Id="rId34" Type="http://schemas.openxmlformats.org/officeDocument/2006/relationships/slideLayout" Target="../slideLayouts/slideLayout46.xml"/><Relationship Id="rId50" Type="http://schemas.openxmlformats.org/officeDocument/2006/relationships/slideLayout" Target="../slideLayouts/slideLayout62.xml"/><Relationship Id="rId55" Type="http://schemas.openxmlformats.org/officeDocument/2006/relationships/slideLayout" Target="../slideLayouts/slideLayout67.xml"/><Relationship Id="rId7" Type="http://schemas.openxmlformats.org/officeDocument/2006/relationships/slideLayout" Target="../slideLayouts/slideLayout19.xml"/><Relationship Id="rId71" Type="http://schemas.openxmlformats.org/officeDocument/2006/relationships/slideLayout" Target="../slideLayouts/slideLayout8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  <p:sldLayoutId id="2147483702" r:id="rId42"/>
    <p:sldLayoutId id="2147483703" r:id="rId43"/>
    <p:sldLayoutId id="2147483704" r:id="rId44"/>
    <p:sldLayoutId id="2147483705" r:id="rId45"/>
    <p:sldLayoutId id="2147483706" r:id="rId46"/>
    <p:sldLayoutId id="2147483707" r:id="rId47"/>
    <p:sldLayoutId id="2147483708" r:id="rId48"/>
    <p:sldLayoutId id="2147483709" r:id="rId49"/>
    <p:sldLayoutId id="2147483710" r:id="rId50"/>
    <p:sldLayoutId id="2147483711" r:id="rId51"/>
    <p:sldLayoutId id="2147483712" r:id="rId52"/>
    <p:sldLayoutId id="2147483713" r:id="rId53"/>
    <p:sldLayoutId id="2147483714" r:id="rId54"/>
    <p:sldLayoutId id="2147483715" r:id="rId55"/>
    <p:sldLayoutId id="2147483716" r:id="rId56"/>
    <p:sldLayoutId id="2147483717" r:id="rId57"/>
    <p:sldLayoutId id="2147483718" r:id="rId58"/>
    <p:sldLayoutId id="2147483719" r:id="rId59"/>
    <p:sldLayoutId id="2147483720" r:id="rId60"/>
    <p:sldLayoutId id="2147483721" r:id="rId61"/>
    <p:sldLayoutId id="2147483722" r:id="rId62"/>
    <p:sldLayoutId id="2147483723" r:id="rId63"/>
    <p:sldLayoutId id="2147483724" r:id="rId64"/>
    <p:sldLayoutId id="2147483725" r:id="rId65"/>
    <p:sldLayoutId id="2147483726" r:id="rId66"/>
    <p:sldLayoutId id="2147483727" r:id="rId67"/>
    <p:sldLayoutId id="2147483728" r:id="rId68"/>
    <p:sldLayoutId id="2147483729" r:id="rId69"/>
    <p:sldLayoutId id="2147483730" r:id="rId70"/>
    <p:sldLayoutId id="2147483731" r:id="rId71"/>
    <p:sldLayoutId id="2147483732" r:id="rId72"/>
    <p:sldLayoutId id="2147483733" r:id="rId73"/>
    <p:sldLayoutId id="2147483734" r:id="rId7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32.png"/><Relationship Id="rId18" Type="http://schemas.openxmlformats.org/officeDocument/2006/relationships/image" Target="../media/image3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1.png"/><Relationship Id="rId17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5" Type="http://schemas.openxmlformats.org/officeDocument/2006/relationships/image" Target="../media/image3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8.png"/><Relationship Id="rId11" Type="http://schemas.openxmlformats.org/officeDocument/2006/relationships/image" Target="../media/image42.svg"/><Relationship Id="rId5" Type="http://schemas.openxmlformats.org/officeDocument/2006/relationships/image" Target="../media/image34.png"/><Relationship Id="rId10" Type="http://schemas.openxmlformats.org/officeDocument/2006/relationships/image" Target="../media/image41.png"/><Relationship Id="rId4" Type="http://schemas.openxmlformats.org/officeDocument/2006/relationships/image" Target="../media/image28.png"/><Relationship Id="rId9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3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5.png"/><Relationship Id="rId1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34.png"/><Relationship Id="rId12" Type="http://schemas.openxmlformats.org/officeDocument/2006/relationships/image" Target="../media/image44.png"/><Relationship Id="rId17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47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11" Type="http://schemas.openxmlformats.org/officeDocument/2006/relationships/image" Target="../media/image43.png"/><Relationship Id="rId5" Type="http://schemas.openxmlformats.org/officeDocument/2006/relationships/image" Target="../media/image27.png"/><Relationship Id="rId15" Type="http://schemas.openxmlformats.org/officeDocument/2006/relationships/image" Target="../media/image35.png"/><Relationship Id="rId10" Type="http://schemas.openxmlformats.org/officeDocument/2006/relationships/image" Target="../media/image23.png"/><Relationship Id="rId19" Type="http://schemas.openxmlformats.org/officeDocument/2006/relationships/image" Target="../media/image37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Relationship Id="rId1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8.png"/><Relationship Id="rId5" Type="http://schemas.openxmlformats.org/officeDocument/2006/relationships/image" Target="../media/image39.png"/><Relationship Id="rId10" Type="http://schemas.openxmlformats.org/officeDocument/2006/relationships/image" Target="../media/image45.png"/><Relationship Id="rId4" Type="http://schemas.openxmlformats.org/officeDocument/2006/relationships/image" Target="../media/image47.png"/><Relationship Id="rId9" Type="http://schemas.openxmlformats.org/officeDocument/2006/relationships/image" Target="../media/image4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5.xml"/><Relationship Id="rId6" Type="http://schemas.openxmlformats.org/officeDocument/2006/relationships/image" Target="../media/image51.gif"/><Relationship Id="rId5" Type="http://schemas.openxmlformats.org/officeDocument/2006/relationships/image" Target="../media/image50.png"/><Relationship Id="rId4" Type="http://schemas.openxmlformats.org/officeDocument/2006/relationships/image" Target="../media/image49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90"/>
          <p:cNvSpPr txBox="1">
            <a:spLocks noGrp="1"/>
          </p:cNvSpPr>
          <p:nvPr>
            <p:ph type="title"/>
          </p:nvPr>
        </p:nvSpPr>
        <p:spPr>
          <a:xfrm>
            <a:off x="198000" y="1506075"/>
            <a:ext cx="5766000" cy="529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>
                <a:highlight>
                  <a:srgbClr val="FF6745"/>
                </a:highlight>
                <a:latin typeface="Inter SemiBold"/>
                <a:ea typeface="Inter SemiBold"/>
                <a:cs typeface="Inter SemiBold"/>
                <a:sym typeface="Inter SemiBold"/>
              </a:rPr>
              <a:t>DATA ENGINEER</a:t>
            </a:r>
            <a:endParaRPr dirty="0"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28" name="Google Shape;628;p90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918400" cy="124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latin typeface="Work Sans"/>
                <a:ea typeface="Work Sans"/>
                <a:cs typeface="Work Sans"/>
                <a:sym typeface="Work Sans"/>
              </a:rPr>
              <a:t>Presentation of</a:t>
            </a:r>
            <a:endParaRPr b="1" dirty="0">
              <a:latin typeface="Work Sans"/>
              <a:ea typeface="Work Sans"/>
              <a:cs typeface="Work Sans"/>
              <a:sym typeface="Work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Job Market Project 2026</a:t>
            </a:r>
            <a:endParaRPr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92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627700" cy="42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Table of Contents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647" name="Google Shape;647;p92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1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2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3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4</a:t>
            </a:r>
            <a:endParaRPr dirty="0"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5</a:t>
            </a:r>
            <a:endParaRPr dirty="0"/>
          </a:p>
        </p:txBody>
      </p:sp>
      <p:sp>
        <p:nvSpPr>
          <p:cNvPr id="648" name="Google Shape;648;p92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First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Second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Third section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Fourth section</a:t>
            </a:r>
            <a:endParaRPr dirty="0"/>
          </a:p>
          <a:p>
            <a:pPr lvl="0">
              <a:buNone/>
            </a:pPr>
            <a:r>
              <a:rPr lang="fr" dirty="0"/>
              <a:t>Fifth section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6" name="Google Shape;666;p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9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fr" dirty="0">
                <a:solidFill>
                  <a:srgbClr val="FF6745"/>
                </a:solidFill>
              </a:rPr>
              <a:t>First section</a:t>
            </a: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rgbClr val="FF6745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FF674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1C6A085-9504-8E91-8454-C69F19D256F2}"/>
              </a:ext>
            </a:extLst>
          </p:cNvPr>
          <p:cNvSpPr/>
          <p:nvPr/>
        </p:nvSpPr>
        <p:spPr>
          <a:xfrm>
            <a:off x="705945" y="546653"/>
            <a:ext cx="7622715" cy="407007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Project Overview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/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25" name="Group 624">
            <a:extLst>
              <a:ext uri="{FF2B5EF4-FFF2-40B4-BE49-F238E27FC236}">
                <a16:creationId xmlns:a16="http://schemas.microsoft.com/office/drawing/2014/main" id="{398B0777-E877-D93E-BD92-C04A16A920FE}"/>
              </a:ext>
            </a:extLst>
          </p:cNvPr>
          <p:cNvGrpSpPr/>
          <p:nvPr/>
        </p:nvGrpSpPr>
        <p:grpSpPr>
          <a:xfrm>
            <a:off x="3438876" y="1748938"/>
            <a:ext cx="858424" cy="423153"/>
            <a:chOff x="4142788" y="2171346"/>
            <a:chExt cx="858424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DC02452-9375-CBE7-83E6-04F974B56B92}"/>
                </a:ext>
              </a:extLst>
            </p:cNvPr>
            <p:cNvSpPr/>
            <p:nvPr/>
          </p:nvSpPr>
          <p:spPr>
            <a:xfrm>
              <a:off x="4142788" y="2171346"/>
              <a:ext cx="858424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" name="Picture 4" descr="Python (programming language) - Wikipedia">
              <a:extLst>
                <a:ext uri="{FF2B5EF4-FFF2-40B4-BE49-F238E27FC236}">
                  <a16:creationId xmlns:a16="http://schemas.microsoft.com/office/drawing/2014/main" id="{82223FD1-8496-6C81-F2F1-F0D840AF50B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37121" y="2231011"/>
              <a:ext cx="299163" cy="299163"/>
            </a:xfrm>
            <a:prstGeom prst="rect">
              <a:avLst/>
            </a:prstGeom>
            <a:grpFill/>
            <a:ln>
              <a:noFill/>
            </a:ln>
          </p:spPr>
        </p:pic>
      </p:grpSp>
      <p:grpSp>
        <p:nvGrpSpPr>
          <p:cNvPr id="624" name="Group 623">
            <a:extLst>
              <a:ext uri="{FF2B5EF4-FFF2-40B4-BE49-F238E27FC236}">
                <a16:creationId xmlns:a16="http://schemas.microsoft.com/office/drawing/2014/main" id="{A5A0CC1E-9DDB-6C92-FB4E-EF480D1C78F1}"/>
              </a:ext>
            </a:extLst>
          </p:cNvPr>
          <p:cNvGrpSpPr/>
          <p:nvPr/>
        </p:nvGrpSpPr>
        <p:grpSpPr>
          <a:xfrm>
            <a:off x="2930621" y="756895"/>
            <a:ext cx="1874928" cy="423153"/>
            <a:chOff x="952134" y="2258330"/>
            <a:chExt cx="1874928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1B1997-A097-3A4C-BF2A-B6366A474C25}"/>
                </a:ext>
              </a:extLst>
            </p:cNvPr>
            <p:cNvSpPr/>
            <p:nvPr/>
          </p:nvSpPr>
          <p:spPr>
            <a:xfrm>
              <a:off x="952134" y="2258330"/>
              <a:ext cx="1874928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 err="1"/>
                <a:t>Arbeitsagentur</a:t>
              </a:r>
              <a:r>
                <a:rPr lang="en-US" sz="1200" dirty="0"/>
                <a:t> API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2C43E67-FADA-3F37-4E20-971537F7D9A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7978" y="2316101"/>
              <a:ext cx="326543" cy="326543"/>
            </a:xfrm>
            <a:prstGeom prst="rect">
              <a:avLst/>
            </a:prstGeom>
            <a:grpFill/>
            <a:ln>
              <a:noFill/>
            </a:ln>
          </p:spPr>
        </p:pic>
      </p:grpSp>
      <p:pic>
        <p:nvPicPr>
          <p:cNvPr id="44" name="Picture 43">
            <a:extLst>
              <a:ext uri="{FF2B5EF4-FFF2-40B4-BE49-F238E27FC236}">
                <a16:creationId xmlns:a16="http://schemas.microsoft.com/office/drawing/2014/main" id="{83D93FB8-C976-FD61-4A75-03ED41F49C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7991" y="1750129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A444A515-4F48-6511-2111-3AE0A97D83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5768" y="1748938"/>
            <a:ext cx="393496" cy="452741"/>
          </a:xfrm>
          <a:prstGeom prst="rect">
            <a:avLst/>
          </a:prstGeom>
        </p:spPr>
      </p:pic>
      <p:sp>
        <p:nvSpPr>
          <p:cNvPr id="630" name="TextBox 629">
            <a:extLst>
              <a:ext uri="{FF2B5EF4-FFF2-40B4-BE49-F238E27FC236}">
                <a16:creationId xmlns:a16="http://schemas.microsoft.com/office/drawing/2014/main" id="{7D7D51CE-BB6A-E548-BFE4-315091EE825B}"/>
              </a:ext>
            </a:extLst>
          </p:cNvPr>
          <p:cNvSpPr txBox="1"/>
          <p:nvPr/>
        </p:nvSpPr>
        <p:spPr>
          <a:xfrm>
            <a:off x="3851910" y="1257177"/>
            <a:ext cx="1580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 (JSON)</a:t>
            </a:r>
          </a:p>
        </p:txBody>
      </p:sp>
      <p:pic>
        <p:nvPicPr>
          <p:cNvPr id="661" name="Picture 660">
            <a:extLst>
              <a:ext uri="{FF2B5EF4-FFF2-40B4-BE49-F238E27FC236}">
                <a16:creationId xmlns:a16="http://schemas.microsoft.com/office/drawing/2014/main" id="{07FF058C-1A44-770B-699A-FAD84F0BB7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95073" y="3439301"/>
            <a:ext cx="641289" cy="509775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DA38EAE7-6C33-11B7-E6A0-B58DA3CCA933}"/>
              </a:ext>
            </a:extLst>
          </p:cNvPr>
          <p:cNvCxnSpPr>
            <a:cxnSpLocks/>
            <a:stCxn id="35" idx="2"/>
            <a:endCxn id="11" idx="0"/>
          </p:cNvCxnSpPr>
          <p:nvPr/>
        </p:nvCxnSpPr>
        <p:spPr>
          <a:xfrm>
            <a:off x="3868085" y="1180048"/>
            <a:ext cx="3" cy="56889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220A921E-3BED-CF0C-A6C8-5CD5F4DF1141}"/>
              </a:ext>
            </a:extLst>
          </p:cNvPr>
          <p:cNvSpPr txBox="1"/>
          <p:nvPr/>
        </p:nvSpPr>
        <p:spPr>
          <a:xfrm>
            <a:off x="1573271" y="1724195"/>
            <a:ext cx="1856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raw + processed JSON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6F35D384-14C9-9240-4218-473451B1D645}"/>
              </a:ext>
            </a:extLst>
          </p:cNvPr>
          <p:cNvSpPr txBox="1"/>
          <p:nvPr/>
        </p:nvSpPr>
        <p:spPr>
          <a:xfrm>
            <a:off x="6612918" y="1519296"/>
            <a:ext cx="11133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 data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(for indexing)</a:t>
            </a: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11355667-9E18-D083-460B-4CFD7B8F0CD5}"/>
              </a:ext>
            </a:extLst>
          </p:cNvPr>
          <p:cNvSpPr txBox="1"/>
          <p:nvPr/>
        </p:nvSpPr>
        <p:spPr>
          <a:xfrm>
            <a:off x="756203" y="2184533"/>
            <a:ext cx="1077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bg2">
                    <a:lumMod val="50000"/>
                    <a:lumOff val="50000"/>
                  </a:schemeClr>
                </a:solidFill>
              </a:rPr>
              <a:t>Data Archive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35AC9762-5AB8-847D-E042-C929950FA8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0160" y="3980795"/>
            <a:ext cx="701850" cy="129515"/>
          </a:xfrm>
          <a:prstGeom prst="rect">
            <a:avLst/>
          </a:prstGeom>
        </p:spPr>
      </p:pic>
      <p:pic>
        <p:nvPicPr>
          <p:cNvPr id="715" name="Picture 714">
            <a:extLst>
              <a:ext uri="{FF2B5EF4-FFF2-40B4-BE49-F238E27FC236}">
                <a16:creationId xmlns:a16="http://schemas.microsoft.com/office/drawing/2014/main" id="{1D508615-F7DD-7779-19BA-0980A2B8775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1521" y="3423026"/>
            <a:ext cx="690489" cy="509775"/>
          </a:xfrm>
          <a:prstGeom prst="rect">
            <a:avLst/>
          </a:prstGeom>
        </p:spPr>
      </p:pic>
      <p:pic>
        <p:nvPicPr>
          <p:cNvPr id="721" name="Picture 720">
            <a:extLst>
              <a:ext uri="{FF2B5EF4-FFF2-40B4-BE49-F238E27FC236}">
                <a16:creationId xmlns:a16="http://schemas.microsoft.com/office/drawing/2014/main" id="{690CBB62-758B-2BC9-70D3-8F63BD4138C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25551" y="3993350"/>
            <a:ext cx="268468" cy="299468"/>
          </a:xfrm>
          <a:prstGeom prst="rect">
            <a:avLst/>
          </a:prstGeom>
        </p:spPr>
      </p:pic>
      <p:pic>
        <p:nvPicPr>
          <p:cNvPr id="723" name="Picture 722">
            <a:extLst>
              <a:ext uri="{FF2B5EF4-FFF2-40B4-BE49-F238E27FC236}">
                <a16:creationId xmlns:a16="http://schemas.microsoft.com/office/drawing/2014/main" id="{0AC96730-7A28-4752-CA99-E58F565EFE8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23592" y="3123955"/>
            <a:ext cx="300157" cy="307778"/>
          </a:xfrm>
          <a:prstGeom prst="rect">
            <a:avLst/>
          </a:prstGeom>
        </p:spPr>
      </p:pic>
      <p:pic>
        <p:nvPicPr>
          <p:cNvPr id="725" name="Picture 724">
            <a:extLst>
              <a:ext uri="{FF2B5EF4-FFF2-40B4-BE49-F238E27FC236}">
                <a16:creationId xmlns:a16="http://schemas.microsoft.com/office/drawing/2014/main" id="{FB64D3D1-413D-52A3-5DA2-B490982608E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0761" y="3578758"/>
            <a:ext cx="305821" cy="263412"/>
          </a:xfrm>
          <a:prstGeom prst="rect">
            <a:avLst/>
          </a:prstGeom>
        </p:spPr>
      </p:pic>
      <p:cxnSp>
        <p:nvCxnSpPr>
          <p:cNvPr id="727" name="Straight Arrow Connector 726">
            <a:extLst>
              <a:ext uri="{FF2B5EF4-FFF2-40B4-BE49-F238E27FC236}">
                <a16:creationId xmlns:a16="http://schemas.microsoft.com/office/drawing/2014/main" id="{53619467-1B8B-23F0-54A3-86287FE183B8}"/>
              </a:ext>
            </a:extLst>
          </p:cNvPr>
          <p:cNvCxnSpPr>
            <a:cxnSpLocks/>
            <a:stCxn id="661" idx="1"/>
            <a:endCxn id="723" idx="3"/>
          </p:cNvCxnSpPr>
          <p:nvPr/>
        </p:nvCxnSpPr>
        <p:spPr>
          <a:xfrm flipH="1" flipV="1">
            <a:off x="2223749" y="3277844"/>
            <a:ext cx="571324" cy="41634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8" name="Straight Arrow Connector 727">
            <a:extLst>
              <a:ext uri="{FF2B5EF4-FFF2-40B4-BE49-F238E27FC236}">
                <a16:creationId xmlns:a16="http://schemas.microsoft.com/office/drawing/2014/main" id="{94E5BC87-C648-21B8-3792-380F77D3D9B9}"/>
              </a:ext>
            </a:extLst>
          </p:cNvPr>
          <p:cNvCxnSpPr>
            <a:cxnSpLocks/>
            <a:stCxn id="661" idx="1"/>
            <a:endCxn id="725" idx="3"/>
          </p:cNvCxnSpPr>
          <p:nvPr/>
        </p:nvCxnSpPr>
        <p:spPr>
          <a:xfrm flipH="1">
            <a:off x="2226582" y="3694189"/>
            <a:ext cx="568491" cy="1627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9" name="Straight Arrow Connector 728">
            <a:extLst>
              <a:ext uri="{FF2B5EF4-FFF2-40B4-BE49-F238E27FC236}">
                <a16:creationId xmlns:a16="http://schemas.microsoft.com/office/drawing/2014/main" id="{6E46181C-2FE8-4E34-2ABB-17A3297CCE1B}"/>
              </a:ext>
            </a:extLst>
          </p:cNvPr>
          <p:cNvCxnSpPr>
            <a:cxnSpLocks/>
            <a:stCxn id="661" idx="1"/>
            <a:endCxn id="721" idx="3"/>
          </p:cNvCxnSpPr>
          <p:nvPr/>
        </p:nvCxnSpPr>
        <p:spPr>
          <a:xfrm flipH="1">
            <a:off x="2194019" y="3694189"/>
            <a:ext cx="601054" cy="448895"/>
          </a:xfrm>
          <a:prstGeom prst="straightConnector1">
            <a:avLst/>
          </a:prstGeom>
          <a:ln>
            <a:solidFill>
              <a:schemeClr val="bg2">
                <a:lumMod val="25000"/>
                <a:lumOff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7" name="Straight Arrow Connector 756">
            <a:extLst>
              <a:ext uri="{FF2B5EF4-FFF2-40B4-BE49-F238E27FC236}">
                <a16:creationId xmlns:a16="http://schemas.microsoft.com/office/drawing/2014/main" id="{2260DACB-E59B-1BD8-43F9-0A3098A4B1B4}"/>
              </a:ext>
            </a:extLst>
          </p:cNvPr>
          <p:cNvCxnSpPr>
            <a:cxnSpLocks/>
            <a:stCxn id="11" idx="3"/>
            <a:endCxn id="44" idx="1"/>
          </p:cNvCxnSpPr>
          <p:nvPr/>
        </p:nvCxnSpPr>
        <p:spPr>
          <a:xfrm>
            <a:off x="4297300" y="1960515"/>
            <a:ext cx="1850691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729F841-F7C4-39BB-E88B-CF0626736FA0}"/>
              </a:ext>
            </a:extLst>
          </p:cNvPr>
          <p:cNvSpPr txBox="1"/>
          <p:nvPr/>
        </p:nvSpPr>
        <p:spPr>
          <a:xfrm>
            <a:off x="3513132" y="3234168"/>
            <a:ext cx="12678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(ordered) jobs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 statistics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D41D5D3-B3F8-6607-2DE3-689101A959A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0290" y="3411669"/>
            <a:ext cx="437687" cy="597589"/>
          </a:xfrm>
          <a:prstGeom prst="rect">
            <a:avLst/>
          </a:prstGeom>
        </p:spPr>
      </p:pic>
      <p:sp>
        <p:nvSpPr>
          <p:cNvPr id="37" name="Left Brace 36">
            <a:extLst>
              <a:ext uri="{FF2B5EF4-FFF2-40B4-BE49-F238E27FC236}">
                <a16:creationId xmlns:a16="http://schemas.microsoft.com/office/drawing/2014/main" id="{B1286058-816B-B65D-F947-CD976A3C30CA}"/>
              </a:ext>
            </a:extLst>
          </p:cNvPr>
          <p:cNvSpPr/>
          <p:nvPr/>
        </p:nvSpPr>
        <p:spPr>
          <a:xfrm>
            <a:off x="1517977" y="3119061"/>
            <a:ext cx="307907" cy="1173757"/>
          </a:xfrm>
          <a:prstGeom prst="leftBrace">
            <a:avLst>
              <a:gd name="adj1" fmla="val 33555"/>
              <a:gd name="adj2" fmla="val 50000"/>
            </a:avLst>
          </a:prstGeom>
          <a:ln>
            <a:solidFill>
              <a:schemeClr val="bg2">
                <a:lumMod val="25000"/>
                <a:lumOff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517D947-891A-BA7B-AB6F-E8AB3BAA2B62}"/>
              </a:ext>
            </a:extLst>
          </p:cNvPr>
          <p:cNvCxnSpPr>
            <a:cxnSpLocks/>
            <a:stCxn id="11" idx="1"/>
            <a:endCxn id="46" idx="3"/>
          </p:cNvCxnSpPr>
          <p:nvPr/>
        </p:nvCxnSpPr>
        <p:spPr>
          <a:xfrm flipH="1">
            <a:off x="1509264" y="1960515"/>
            <a:ext cx="1929612" cy="1479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1B20CA4-062A-C0D9-CA7B-D7D3E29C9972}"/>
              </a:ext>
            </a:extLst>
          </p:cNvPr>
          <p:cNvSpPr/>
          <p:nvPr/>
        </p:nvSpPr>
        <p:spPr>
          <a:xfrm>
            <a:off x="756204" y="620303"/>
            <a:ext cx="5119893" cy="1883507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D7693D-30AC-7B09-48A7-3238EA5C6CB7}"/>
              </a:ext>
            </a:extLst>
          </p:cNvPr>
          <p:cNvSpPr/>
          <p:nvPr/>
        </p:nvSpPr>
        <p:spPr>
          <a:xfrm>
            <a:off x="756203" y="2740982"/>
            <a:ext cx="5119894" cy="1782826"/>
          </a:xfrm>
          <a:prstGeom prst="rect">
            <a:avLst/>
          </a:prstGeom>
          <a:noFill/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6F168-5B4B-E39E-0A23-4DE5C0FCB69D}"/>
              </a:ext>
            </a:extLst>
          </p:cNvPr>
          <p:cNvSpPr txBox="1"/>
          <p:nvPr/>
        </p:nvSpPr>
        <p:spPr>
          <a:xfrm>
            <a:off x="756203" y="620303"/>
            <a:ext cx="91440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Ingestion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4082A1-593C-B160-4449-6305DC10DA77}"/>
              </a:ext>
            </a:extLst>
          </p:cNvPr>
          <p:cNvSpPr txBox="1"/>
          <p:nvPr/>
        </p:nvSpPr>
        <p:spPr>
          <a:xfrm>
            <a:off x="766079" y="2754037"/>
            <a:ext cx="891051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Runtime</a:t>
            </a:r>
          </a:p>
        </p:txBody>
      </p:sp>
      <p:pic>
        <p:nvPicPr>
          <p:cNvPr id="2" name="Picture 1" descr="File:PostgreSQL logo.3colors.540x557.png">
            <a:extLst>
              <a:ext uri="{FF2B5EF4-FFF2-40B4-BE49-F238E27FC236}">
                <a16:creationId xmlns:a16="http://schemas.microsoft.com/office/drawing/2014/main" id="{1DDD42E8-14EE-E62B-0B2E-C5C00F50B77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53646" y="1432798"/>
            <a:ext cx="274086" cy="2827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91A15-024F-79E0-69DD-445DCED9C51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87069" y="3965352"/>
            <a:ext cx="857296" cy="1573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42F1A4-C140-4460-3CA0-48A6F4C1847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92724" y="1435563"/>
            <a:ext cx="253705" cy="2799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A23106-2A25-7B27-978E-FD3725DB8F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2435" y="1748938"/>
            <a:ext cx="473331" cy="423153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F793FD6-EB05-0FC5-0AE0-D969175F3D22}"/>
              </a:ext>
            </a:extLst>
          </p:cNvPr>
          <p:cNvCxnSpPr>
            <a:cxnSpLocks/>
            <a:stCxn id="44" idx="3"/>
            <a:endCxn id="18" idx="1"/>
          </p:cNvCxnSpPr>
          <p:nvPr/>
        </p:nvCxnSpPr>
        <p:spPr>
          <a:xfrm flipV="1">
            <a:off x="6621322" y="1960515"/>
            <a:ext cx="1121113" cy="119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3" name="Picture 32">
            <a:extLst>
              <a:ext uri="{FF2B5EF4-FFF2-40B4-BE49-F238E27FC236}">
                <a16:creationId xmlns:a16="http://schemas.microsoft.com/office/drawing/2014/main" id="{9DE97DCC-3122-A5DE-835F-1CCBF7C99D7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37742" y="1439158"/>
            <a:ext cx="282715" cy="282715"/>
          </a:xfrm>
          <a:prstGeom prst="rect">
            <a:avLst/>
          </a:prstGeom>
        </p:spPr>
      </p:pic>
      <p:cxnSp>
        <p:nvCxnSpPr>
          <p:cNvPr id="588" name="Straight Arrow Connector 587">
            <a:extLst>
              <a:ext uri="{FF2B5EF4-FFF2-40B4-BE49-F238E27FC236}">
                <a16:creationId xmlns:a16="http://schemas.microsoft.com/office/drawing/2014/main" id="{184FC1D6-6717-58A9-46F8-8C3C86B99327}"/>
              </a:ext>
            </a:extLst>
          </p:cNvPr>
          <p:cNvCxnSpPr>
            <a:cxnSpLocks/>
            <a:stCxn id="715" idx="1"/>
            <a:endCxn id="661" idx="3"/>
          </p:cNvCxnSpPr>
          <p:nvPr/>
        </p:nvCxnSpPr>
        <p:spPr>
          <a:xfrm flipH="1">
            <a:off x="3436362" y="3677914"/>
            <a:ext cx="1305159" cy="1627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5" name="Rectangle 604">
            <a:extLst>
              <a:ext uri="{FF2B5EF4-FFF2-40B4-BE49-F238E27FC236}">
                <a16:creationId xmlns:a16="http://schemas.microsoft.com/office/drawing/2014/main" id="{BB537319-88C9-3161-B33D-8543292F34CA}"/>
              </a:ext>
            </a:extLst>
          </p:cNvPr>
          <p:cNvSpPr/>
          <p:nvPr/>
        </p:nvSpPr>
        <p:spPr>
          <a:xfrm>
            <a:off x="5275518" y="3423025"/>
            <a:ext cx="156492" cy="287438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9" name="Rectangle 608">
            <a:extLst>
              <a:ext uri="{FF2B5EF4-FFF2-40B4-BE49-F238E27FC236}">
                <a16:creationId xmlns:a16="http://schemas.microsoft.com/office/drawing/2014/main" id="{C5B58E3C-8158-F84D-D865-BA372312EAA2}"/>
              </a:ext>
            </a:extLst>
          </p:cNvPr>
          <p:cNvSpPr/>
          <p:nvPr/>
        </p:nvSpPr>
        <p:spPr>
          <a:xfrm>
            <a:off x="5275518" y="3677914"/>
            <a:ext cx="156492" cy="318880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1" name="Connector: Elbow 610">
            <a:extLst>
              <a:ext uri="{FF2B5EF4-FFF2-40B4-BE49-F238E27FC236}">
                <a16:creationId xmlns:a16="http://schemas.microsoft.com/office/drawing/2014/main" id="{1BBD5613-37FE-E1FD-8160-109F1F602399}"/>
              </a:ext>
            </a:extLst>
          </p:cNvPr>
          <p:cNvCxnSpPr>
            <a:cxnSpLocks/>
            <a:stCxn id="44" idx="2"/>
            <a:endCxn id="605" idx="3"/>
          </p:cNvCxnSpPr>
          <p:nvPr/>
        </p:nvCxnSpPr>
        <p:spPr>
          <a:xfrm rot="5400000">
            <a:off x="5211603" y="2393690"/>
            <a:ext cx="1393462" cy="952647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Connector: Elbow 633">
            <a:extLst>
              <a:ext uri="{FF2B5EF4-FFF2-40B4-BE49-F238E27FC236}">
                <a16:creationId xmlns:a16="http://schemas.microsoft.com/office/drawing/2014/main" id="{B2EDC0BF-AFC2-0DCD-5B2E-9F9DFBB09E6B}"/>
              </a:ext>
            </a:extLst>
          </p:cNvPr>
          <p:cNvCxnSpPr>
            <a:cxnSpLocks/>
            <a:stCxn id="18" idx="2"/>
            <a:endCxn id="609" idx="3"/>
          </p:cNvCxnSpPr>
          <p:nvPr/>
        </p:nvCxnSpPr>
        <p:spPr>
          <a:xfrm rot="5400000">
            <a:off x="5872925" y="1731177"/>
            <a:ext cx="1665263" cy="2547091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7" name="TextBox 646">
            <a:extLst>
              <a:ext uri="{FF2B5EF4-FFF2-40B4-BE49-F238E27FC236}">
                <a16:creationId xmlns:a16="http://schemas.microsoft.com/office/drawing/2014/main" id="{B6EFF458-9E48-A793-431D-50C56334DC54}"/>
              </a:ext>
            </a:extLst>
          </p:cNvPr>
          <p:cNvSpPr txBox="1"/>
          <p:nvPr/>
        </p:nvSpPr>
        <p:spPr>
          <a:xfrm>
            <a:off x="4445402" y="1693939"/>
            <a:ext cx="14468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structured job data</a:t>
            </a:r>
          </a:p>
        </p:txBody>
      </p:sp>
      <p:sp>
        <p:nvSpPr>
          <p:cNvPr id="677" name="TextBox 676">
            <a:extLst>
              <a:ext uri="{FF2B5EF4-FFF2-40B4-BE49-F238E27FC236}">
                <a16:creationId xmlns:a16="http://schemas.microsoft.com/office/drawing/2014/main" id="{360B69CB-B9B6-034D-EA88-83EE80188FF7}"/>
              </a:ext>
            </a:extLst>
          </p:cNvPr>
          <p:cNvSpPr txBox="1"/>
          <p:nvPr/>
        </p:nvSpPr>
        <p:spPr>
          <a:xfrm rot="16200000">
            <a:off x="5556076" y="2730322"/>
            <a:ext cx="13934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jobs / statistics</a:t>
            </a:r>
          </a:p>
        </p:txBody>
      </p:sp>
      <p:sp>
        <p:nvSpPr>
          <p:cNvPr id="682" name="TextBox 681">
            <a:extLst>
              <a:ext uri="{FF2B5EF4-FFF2-40B4-BE49-F238E27FC236}">
                <a16:creationId xmlns:a16="http://schemas.microsoft.com/office/drawing/2014/main" id="{D7776ED6-C7CE-73AE-5C84-FDC04C1FA984}"/>
              </a:ext>
            </a:extLst>
          </p:cNvPr>
          <p:cNvSpPr txBox="1"/>
          <p:nvPr/>
        </p:nvSpPr>
        <p:spPr>
          <a:xfrm rot="16200000">
            <a:off x="7029970" y="2852066"/>
            <a:ext cx="16754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ranked job IDs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30460230-DC4A-FBDA-D54A-FCB81BE0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FF5FF86D-7528-C5BE-FEEB-F35CD53B0B11}"/>
              </a:ext>
            </a:extLst>
          </p:cNvPr>
          <p:cNvSpPr/>
          <p:nvPr/>
        </p:nvSpPr>
        <p:spPr>
          <a:xfrm>
            <a:off x="709544" y="1447339"/>
            <a:ext cx="7664173" cy="198285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CB0A6E1-73E1-2370-D612-F3084943BA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8127650"/>
              </p:ext>
            </p:extLst>
          </p:nvPr>
        </p:nvGraphicFramePr>
        <p:xfrm>
          <a:off x="770725" y="1539702"/>
          <a:ext cx="7523035" cy="17977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607">
                  <a:extLst>
                    <a:ext uri="{9D8B030D-6E8A-4147-A177-3AD203B41FA5}">
                      <a16:colId xmlns:a16="http://schemas.microsoft.com/office/drawing/2014/main" val="4240830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207326481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4011442136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1579474570"/>
                    </a:ext>
                  </a:extLst>
                </a:gridCol>
                <a:gridCol w="1504607">
                  <a:extLst>
                    <a:ext uri="{9D8B030D-6E8A-4147-A177-3AD203B41FA5}">
                      <a16:colId xmlns:a16="http://schemas.microsoft.com/office/drawing/2014/main" val="2907646003"/>
                    </a:ext>
                  </a:extLst>
                </a:gridCol>
              </a:tblGrid>
              <a:tr h="599237">
                <a:tc>
                  <a:txBody>
                    <a:bodyPr/>
                    <a:lstStyle/>
                    <a:p>
                      <a:r>
                        <a:rPr lang="en-US" dirty="0"/>
                        <a:t>Frontend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Workflow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Monitoring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9655577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9314828"/>
                  </a:ext>
                </a:extLst>
              </a:tr>
              <a:tr h="59923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0848736"/>
                  </a:ext>
                </a:extLst>
              </a:tr>
            </a:tbl>
          </a:graphicData>
        </a:graphic>
      </p:graphicFrame>
      <p:sp>
        <p:nvSpPr>
          <p:cNvPr id="32" name="Rectangle 31">
            <a:extLst>
              <a:ext uri="{FF2B5EF4-FFF2-40B4-BE49-F238E27FC236}">
                <a16:creationId xmlns:a16="http://schemas.microsoft.com/office/drawing/2014/main" id="{4E1C042B-B55F-8898-B5E6-C98C34B21286}"/>
              </a:ext>
            </a:extLst>
          </p:cNvPr>
          <p:cNvSpPr/>
          <p:nvPr/>
        </p:nvSpPr>
        <p:spPr>
          <a:xfrm>
            <a:off x="88932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718E242-7BE0-85F6-4AC0-F97166A6C6E5}"/>
              </a:ext>
            </a:extLst>
          </p:cNvPr>
          <p:cNvSpPr/>
          <p:nvPr/>
        </p:nvSpPr>
        <p:spPr>
          <a:xfrm>
            <a:off x="239224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FEC2DF-1561-D453-9750-35163361AE45}"/>
              </a:ext>
            </a:extLst>
          </p:cNvPr>
          <p:cNvSpPr/>
          <p:nvPr/>
        </p:nvSpPr>
        <p:spPr>
          <a:xfrm>
            <a:off x="3903593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2B20746-9E81-C098-D2AB-5C1D9B27EF68}"/>
              </a:ext>
            </a:extLst>
          </p:cNvPr>
          <p:cNvSpPr/>
          <p:nvPr/>
        </p:nvSpPr>
        <p:spPr>
          <a:xfrm>
            <a:off x="5406516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D0056AC-D77C-7CE2-4EB4-119DA7E73BB1}"/>
              </a:ext>
            </a:extLst>
          </p:cNvPr>
          <p:cNvSpPr/>
          <p:nvPr/>
        </p:nvSpPr>
        <p:spPr>
          <a:xfrm>
            <a:off x="6909439" y="2270139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C5AB23-BD00-07B3-BEA9-B076EFF3CC93}"/>
              </a:ext>
            </a:extLst>
          </p:cNvPr>
          <p:cNvSpPr/>
          <p:nvPr/>
        </p:nvSpPr>
        <p:spPr>
          <a:xfrm>
            <a:off x="88932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E0F8F97-60CF-5F87-0F83-B6AADDA0ADC6}"/>
              </a:ext>
            </a:extLst>
          </p:cNvPr>
          <p:cNvSpPr/>
          <p:nvPr/>
        </p:nvSpPr>
        <p:spPr>
          <a:xfrm>
            <a:off x="239224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FAF81BB-9BD9-1278-53A2-0C24827FE2C8}"/>
              </a:ext>
            </a:extLst>
          </p:cNvPr>
          <p:cNvSpPr/>
          <p:nvPr/>
        </p:nvSpPr>
        <p:spPr>
          <a:xfrm>
            <a:off x="3903593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685F019-4642-F6E0-A84F-5C7C990BD0D8}"/>
              </a:ext>
            </a:extLst>
          </p:cNvPr>
          <p:cNvSpPr/>
          <p:nvPr/>
        </p:nvSpPr>
        <p:spPr>
          <a:xfrm>
            <a:off x="5406516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D53DD0D-7034-40CB-6890-FC1BAAC4F535}"/>
              </a:ext>
            </a:extLst>
          </p:cNvPr>
          <p:cNvSpPr/>
          <p:nvPr/>
        </p:nvSpPr>
        <p:spPr>
          <a:xfrm>
            <a:off x="6909439" y="2867703"/>
            <a:ext cx="1265724" cy="333722"/>
          </a:xfrm>
          <a:prstGeom prst="rect">
            <a:avLst/>
          </a:prstGeom>
          <a:solidFill>
            <a:schemeClr val="bg1">
              <a:alpha val="0"/>
            </a:schemeClr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6F5A1E8-1EC5-BEC6-C35D-B44FA698FBF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Tech stack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D07B7935-F342-9585-3BB0-8B587480798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F5467453-AF2A-A5D1-0386-ADBFE3BA631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13" name="Picture 712">
            <a:extLst>
              <a:ext uri="{FF2B5EF4-FFF2-40B4-BE49-F238E27FC236}">
                <a16:creationId xmlns:a16="http://schemas.microsoft.com/office/drawing/2014/main" id="{AD8CEF48-CB9C-19E2-EBC2-2AB8B9F3F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9551" y="2346458"/>
            <a:ext cx="1028847" cy="189857"/>
          </a:xfrm>
          <a:prstGeom prst="rect">
            <a:avLst/>
          </a:prstGeom>
        </p:spPr>
      </p:pic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28114944-216A-5077-971C-C1FDF782E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5812" y="2304716"/>
            <a:ext cx="245547" cy="25327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29D334-5F8A-FC02-26BB-93FEF818F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1196" y="2298441"/>
            <a:ext cx="736364" cy="2857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9942DF-679E-251C-B66D-9434CFC1A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730" y="2333447"/>
            <a:ext cx="1175839" cy="2158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2268635-B030-E0CA-7676-4CE0296EC7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154" y="2299911"/>
            <a:ext cx="266387" cy="26638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4B193C8-063D-BA76-F24D-BE2CC2EA4A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79551" y="2903629"/>
            <a:ext cx="1091119" cy="26638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C438AB-FC16-9D0D-B8A5-54A4BEF8C9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0155" y="2897288"/>
            <a:ext cx="744115" cy="28028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103D174-4CAD-E662-5D14-2468D456B831}"/>
              </a:ext>
            </a:extLst>
          </p:cNvPr>
          <p:cNvSpPr txBox="1"/>
          <p:nvPr/>
        </p:nvSpPr>
        <p:spPr>
          <a:xfrm>
            <a:off x="7227834" y="2294604"/>
            <a:ext cx="10066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EF552E"/>
                </a:solidFill>
              </a:rPr>
              <a:t>Prometheus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F35DCC-E3E3-31E5-0F51-52967482C28D}"/>
              </a:ext>
            </a:extLst>
          </p:cNvPr>
          <p:cNvSpPr txBox="1"/>
          <p:nvPr/>
        </p:nvSpPr>
        <p:spPr>
          <a:xfrm>
            <a:off x="4196736" y="2295558"/>
            <a:ext cx="11298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585858"/>
                </a:solidFill>
              </a:rPr>
              <a:t>Postgre</a:t>
            </a:r>
            <a:r>
              <a:rPr lang="en-US" sz="1200" dirty="0">
                <a:solidFill>
                  <a:srgbClr val="336791"/>
                </a:solidFill>
              </a:rPr>
              <a:t>SQL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5BEDCF0-225C-38E3-A986-DABE7C79C9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985812" y="2911163"/>
            <a:ext cx="1098275" cy="241085"/>
          </a:xfrm>
          <a:prstGeom prst="rect">
            <a:avLst/>
          </a:prstGeom>
        </p:spPr>
      </p:pic>
      <p:pic>
        <p:nvPicPr>
          <p:cNvPr id="581" name="Picture 580">
            <a:extLst>
              <a:ext uri="{FF2B5EF4-FFF2-40B4-BE49-F238E27FC236}">
                <a16:creationId xmlns:a16="http://schemas.microsoft.com/office/drawing/2014/main" id="{7EFF7D95-9A16-06B3-5853-3583C22384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6628" y="2906329"/>
            <a:ext cx="1091119" cy="266386"/>
          </a:xfrm>
          <a:prstGeom prst="rect">
            <a:avLst/>
          </a:prstGeom>
        </p:spPr>
      </p:pic>
      <p:pic>
        <p:nvPicPr>
          <p:cNvPr id="583" name="Picture 582">
            <a:extLst>
              <a:ext uri="{FF2B5EF4-FFF2-40B4-BE49-F238E27FC236}">
                <a16:creationId xmlns:a16="http://schemas.microsoft.com/office/drawing/2014/main" id="{ED5B258F-AFC6-B8BC-6D40-14E31EA9F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95470" y="2895904"/>
            <a:ext cx="1091119" cy="266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881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5EC19C66-44B2-A0A6-17A2-02250407A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97D37C-C17D-40DC-A22D-59CE8DD0ADE4}"/>
              </a:ext>
            </a:extLst>
          </p:cNvPr>
          <p:cNvSpPr/>
          <p:nvPr/>
        </p:nvSpPr>
        <p:spPr>
          <a:xfrm>
            <a:off x="599041" y="515898"/>
            <a:ext cx="7827064" cy="422009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487AABF-7BDD-3D5B-9915-9B3131A35293}"/>
              </a:ext>
            </a:extLst>
          </p:cNvPr>
          <p:cNvSpPr/>
          <p:nvPr/>
        </p:nvSpPr>
        <p:spPr>
          <a:xfrm>
            <a:off x="968336" y="3488729"/>
            <a:ext cx="7353124" cy="1174397"/>
          </a:xfrm>
          <a:prstGeom prst="rect">
            <a:avLst/>
          </a:prstGeom>
          <a:solidFill>
            <a:srgbClr val="00B05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3DB2E5-F5AD-9248-7AD3-DA6F418696E4}"/>
              </a:ext>
            </a:extLst>
          </p:cNvPr>
          <p:cNvSpPr/>
          <p:nvPr/>
        </p:nvSpPr>
        <p:spPr>
          <a:xfrm>
            <a:off x="968336" y="2077894"/>
            <a:ext cx="7353124" cy="1174397"/>
          </a:xfrm>
          <a:prstGeom prst="rect">
            <a:avLst/>
          </a:prstGeom>
          <a:solidFill>
            <a:srgbClr val="FFFF00">
              <a:alpha val="6000"/>
            </a:srgb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D99FF4-8212-DAB9-2372-6F7EDCEF3727}"/>
              </a:ext>
            </a:extLst>
          </p:cNvPr>
          <p:cNvSpPr/>
          <p:nvPr/>
        </p:nvSpPr>
        <p:spPr>
          <a:xfrm>
            <a:off x="968338" y="664297"/>
            <a:ext cx="7354956" cy="1174397"/>
          </a:xfrm>
          <a:prstGeom prst="rect">
            <a:avLst/>
          </a:prstGeom>
          <a:solidFill>
            <a:schemeClr val="tx2">
              <a:lumMod val="75000"/>
              <a:alpha val="6000"/>
            </a:schemeClr>
          </a:solidFill>
          <a:ln w="12700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F507A431-3C08-473B-C965-5E29A3EFE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Ingestion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48E9993E-0C9C-AD83-8F48-BDED9E912DC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ED5E245-59AD-8853-F54D-F34696F0C44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047E348C-E630-4A57-F157-481CD280B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6245" y="3896776"/>
            <a:ext cx="473331" cy="42315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71FE9C-9C52-62DA-37C3-7A393C6451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080" y="1031743"/>
            <a:ext cx="393496" cy="452741"/>
          </a:xfrm>
          <a:prstGeom prst="rect">
            <a:avLst/>
          </a:prstGeom>
        </p:spPr>
      </p:pic>
      <p:cxnSp>
        <p:nvCxnSpPr>
          <p:cNvPr id="664" name="Straight Arrow Connector 663">
            <a:extLst>
              <a:ext uri="{FF2B5EF4-FFF2-40B4-BE49-F238E27FC236}">
                <a16:creationId xmlns:a16="http://schemas.microsoft.com/office/drawing/2014/main" id="{B55CA858-D422-DD00-058F-6D5062AE8A07}"/>
              </a:ext>
            </a:extLst>
          </p:cNvPr>
          <p:cNvCxnSpPr>
            <a:cxnSpLocks/>
            <a:stCxn id="58" idx="3"/>
            <a:endCxn id="584" idx="1"/>
          </p:cNvCxnSpPr>
          <p:nvPr/>
        </p:nvCxnSpPr>
        <p:spPr>
          <a:xfrm flipV="1">
            <a:off x="1626651" y="1254791"/>
            <a:ext cx="266930" cy="18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A448E902-E18B-7259-446C-1044F482FCC6}"/>
              </a:ext>
            </a:extLst>
          </p:cNvPr>
          <p:cNvCxnSpPr>
            <a:cxnSpLocks/>
            <a:stCxn id="46" idx="2"/>
            <a:endCxn id="615" idx="3"/>
          </p:cNvCxnSpPr>
          <p:nvPr/>
        </p:nvCxnSpPr>
        <p:spPr>
          <a:xfrm rot="5400000">
            <a:off x="4945951" y="1515637"/>
            <a:ext cx="1188031" cy="1125724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E73B30B-30AC-9627-4CBB-5190ADF9A0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9448" y="2448049"/>
            <a:ext cx="393496" cy="4527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20F836C-3BAC-F8B6-9D77-22266462D29D}"/>
              </a:ext>
            </a:extLst>
          </p:cNvPr>
          <p:cNvSpPr txBox="1"/>
          <p:nvPr/>
        </p:nvSpPr>
        <p:spPr>
          <a:xfrm rot="16200000">
            <a:off x="323397" y="1103117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Extract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019352-08BE-F2D2-EDDA-CC8575E806EB}"/>
              </a:ext>
            </a:extLst>
          </p:cNvPr>
          <p:cNvSpPr txBox="1"/>
          <p:nvPr/>
        </p:nvSpPr>
        <p:spPr>
          <a:xfrm rot="16200000">
            <a:off x="330310" y="2515925"/>
            <a:ext cx="1183840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Transform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437FD0-9C11-A30E-2E3F-BFE788934BAD}"/>
              </a:ext>
            </a:extLst>
          </p:cNvPr>
          <p:cNvSpPr txBox="1"/>
          <p:nvPr/>
        </p:nvSpPr>
        <p:spPr>
          <a:xfrm rot="16200000">
            <a:off x="325387" y="3924769"/>
            <a:ext cx="1179859" cy="307777"/>
          </a:xfrm>
          <a:prstGeom prst="rect">
            <a:avLst/>
          </a:prstGeom>
          <a:solidFill>
            <a:schemeClr val="bg2">
              <a:lumMod val="75000"/>
              <a:lumOff val="2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Load</a:t>
            </a:r>
          </a:p>
        </p:txBody>
      </p:sp>
      <p:pic>
        <p:nvPicPr>
          <p:cNvPr id="25" name="Picture 24" descr="File:PostgreSQL logo.3colors.540x557.png">
            <a:extLst>
              <a:ext uri="{FF2B5EF4-FFF2-40B4-BE49-F238E27FC236}">
                <a16:creationId xmlns:a16="http://schemas.microsoft.com/office/drawing/2014/main" id="{C1BAF5E8-F08F-4DC6-F6D0-652EC26F9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5453" y="3599995"/>
            <a:ext cx="266622" cy="275016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A1544F6-58E8-7006-27B2-97E819A5EED7}"/>
              </a:ext>
            </a:extLst>
          </p:cNvPr>
          <p:cNvCxnSpPr>
            <a:cxnSpLocks/>
            <a:stCxn id="24" idx="2"/>
            <a:endCxn id="646" idx="1"/>
          </p:cNvCxnSpPr>
          <p:nvPr/>
        </p:nvCxnSpPr>
        <p:spPr>
          <a:xfrm rot="16200000" flipH="1">
            <a:off x="1786773" y="2660213"/>
            <a:ext cx="1207563" cy="1688716"/>
          </a:xfrm>
          <a:prstGeom prst="bentConnector2">
            <a:avLst/>
          </a:prstGeom>
          <a:ln w="19050">
            <a:solidFill>
              <a:srgbClr val="7151F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CC821966-7098-1CCC-5471-E9F4E64779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202" y="1077885"/>
            <a:ext cx="357449" cy="357449"/>
          </a:xfrm>
          <a:prstGeom prst="rect">
            <a:avLst/>
          </a:prstGeom>
          <a:noFill/>
          <a:ln>
            <a:noFill/>
          </a:ln>
        </p:spPr>
      </p:pic>
      <p:sp>
        <p:nvSpPr>
          <p:cNvPr id="584" name="Rectangle: Rounded Corners 583">
            <a:extLst>
              <a:ext uri="{FF2B5EF4-FFF2-40B4-BE49-F238E27FC236}">
                <a16:creationId xmlns:a16="http://schemas.microsoft.com/office/drawing/2014/main" id="{BE78CD90-E400-E30D-5DA2-1D6E568B3A6B}"/>
              </a:ext>
            </a:extLst>
          </p:cNvPr>
          <p:cNvSpPr/>
          <p:nvPr/>
        </p:nvSpPr>
        <p:spPr>
          <a:xfrm>
            <a:off x="1893581" y="877821"/>
            <a:ext cx="1074401" cy="75394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Search pages</a:t>
            </a:r>
          </a:p>
        </p:txBody>
      </p:sp>
      <p:sp>
        <p:nvSpPr>
          <p:cNvPr id="586" name="Rectangle: Rounded Corners 585">
            <a:extLst>
              <a:ext uri="{FF2B5EF4-FFF2-40B4-BE49-F238E27FC236}">
                <a16:creationId xmlns:a16="http://schemas.microsoft.com/office/drawing/2014/main" id="{B0759ABA-32FB-787A-3BB7-5D5F72605966}"/>
              </a:ext>
            </a:extLst>
          </p:cNvPr>
          <p:cNvSpPr/>
          <p:nvPr/>
        </p:nvSpPr>
        <p:spPr>
          <a:xfrm>
            <a:off x="3234912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Deduplicate </a:t>
            </a:r>
          </a:p>
        </p:txBody>
      </p:sp>
      <p:cxnSp>
        <p:nvCxnSpPr>
          <p:cNvPr id="589" name="Straight Arrow Connector 588">
            <a:extLst>
              <a:ext uri="{FF2B5EF4-FFF2-40B4-BE49-F238E27FC236}">
                <a16:creationId xmlns:a16="http://schemas.microsoft.com/office/drawing/2014/main" id="{3E5399C2-9116-5725-12F8-314ECC68B921}"/>
              </a:ext>
            </a:extLst>
          </p:cNvPr>
          <p:cNvCxnSpPr>
            <a:cxnSpLocks/>
            <a:stCxn id="584" idx="3"/>
            <a:endCxn id="586" idx="1"/>
          </p:cNvCxnSpPr>
          <p:nvPr/>
        </p:nvCxnSpPr>
        <p:spPr>
          <a:xfrm>
            <a:off x="2967982" y="1254791"/>
            <a:ext cx="26693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6" name="Rectangle: Rounded Corners 595">
            <a:extLst>
              <a:ext uri="{FF2B5EF4-FFF2-40B4-BE49-F238E27FC236}">
                <a16:creationId xmlns:a16="http://schemas.microsoft.com/office/drawing/2014/main" id="{32688380-D69F-5BCA-A6B4-A1EC9374DEB9}"/>
              </a:ext>
            </a:extLst>
          </p:cNvPr>
          <p:cNvSpPr/>
          <p:nvPr/>
        </p:nvSpPr>
        <p:spPr>
          <a:xfrm>
            <a:off x="4570496" y="869688"/>
            <a:ext cx="1074401" cy="770206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Retrieve details </a:t>
            </a:r>
          </a:p>
        </p:txBody>
      </p:sp>
      <p:cxnSp>
        <p:nvCxnSpPr>
          <p:cNvPr id="597" name="Straight Arrow Connector 596">
            <a:extLst>
              <a:ext uri="{FF2B5EF4-FFF2-40B4-BE49-F238E27FC236}">
                <a16:creationId xmlns:a16="http://schemas.microsoft.com/office/drawing/2014/main" id="{DD76276A-2DDC-4284-3A04-5C5DA8C40FDF}"/>
              </a:ext>
            </a:extLst>
          </p:cNvPr>
          <p:cNvCxnSpPr>
            <a:cxnSpLocks/>
            <a:stCxn id="586" idx="3"/>
            <a:endCxn id="596" idx="1"/>
          </p:cNvCxnSpPr>
          <p:nvPr/>
        </p:nvCxnSpPr>
        <p:spPr>
          <a:xfrm>
            <a:off x="4309313" y="1254791"/>
            <a:ext cx="261183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02" name="Straight Arrow Connector 601">
            <a:extLst>
              <a:ext uri="{FF2B5EF4-FFF2-40B4-BE49-F238E27FC236}">
                <a16:creationId xmlns:a16="http://schemas.microsoft.com/office/drawing/2014/main" id="{D802E682-B53F-8E4E-E917-337C3359B7F8}"/>
              </a:ext>
            </a:extLst>
          </p:cNvPr>
          <p:cNvCxnSpPr>
            <a:cxnSpLocks/>
            <a:stCxn id="596" idx="3"/>
            <a:endCxn id="46" idx="1"/>
          </p:cNvCxnSpPr>
          <p:nvPr/>
        </p:nvCxnSpPr>
        <p:spPr>
          <a:xfrm>
            <a:off x="5644897" y="1254791"/>
            <a:ext cx="261183" cy="332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13" name="Rectangle: Rounded Corners 612">
            <a:extLst>
              <a:ext uri="{FF2B5EF4-FFF2-40B4-BE49-F238E27FC236}">
                <a16:creationId xmlns:a16="http://schemas.microsoft.com/office/drawing/2014/main" id="{D32BFF97-8A79-87EE-716F-28D14EC69828}"/>
              </a:ext>
            </a:extLst>
          </p:cNvPr>
          <p:cNvSpPr/>
          <p:nvPr/>
        </p:nvSpPr>
        <p:spPr>
          <a:xfrm>
            <a:off x="2558441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Geocode missing coordinates </a:t>
            </a:r>
          </a:p>
        </p:txBody>
      </p:sp>
      <p:sp>
        <p:nvSpPr>
          <p:cNvPr id="615" name="Rectangle: Rounded Corners 614">
            <a:extLst>
              <a:ext uri="{FF2B5EF4-FFF2-40B4-BE49-F238E27FC236}">
                <a16:creationId xmlns:a16="http://schemas.microsoft.com/office/drawing/2014/main" id="{7DFE8153-B517-60EF-9FC9-DE43EFCB6005}"/>
              </a:ext>
            </a:extLst>
          </p:cNvPr>
          <p:cNvSpPr/>
          <p:nvPr/>
        </p:nvSpPr>
        <p:spPr>
          <a:xfrm>
            <a:off x="3902703" y="2301665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Convert to internal schema</a:t>
            </a:r>
          </a:p>
        </p:txBody>
      </p:sp>
      <p:cxnSp>
        <p:nvCxnSpPr>
          <p:cNvPr id="623" name="Straight Arrow Connector 622">
            <a:extLst>
              <a:ext uri="{FF2B5EF4-FFF2-40B4-BE49-F238E27FC236}">
                <a16:creationId xmlns:a16="http://schemas.microsoft.com/office/drawing/2014/main" id="{5D395E18-4581-9793-4CDF-62B6621BE0CE}"/>
              </a:ext>
            </a:extLst>
          </p:cNvPr>
          <p:cNvCxnSpPr>
            <a:cxnSpLocks/>
            <a:stCxn id="615" idx="1"/>
            <a:endCxn id="613" idx="3"/>
          </p:cNvCxnSpPr>
          <p:nvPr/>
        </p:nvCxnSpPr>
        <p:spPr>
          <a:xfrm flipH="1">
            <a:off x="3632842" y="2672515"/>
            <a:ext cx="269861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627" name="Straight Arrow Connector 626">
            <a:extLst>
              <a:ext uri="{FF2B5EF4-FFF2-40B4-BE49-F238E27FC236}">
                <a16:creationId xmlns:a16="http://schemas.microsoft.com/office/drawing/2014/main" id="{6C55DF61-3240-4D37-F1C1-C496222FA367}"/>
              </a:ext>
            </a:extLst>
          </p:cNvPr>
          <p:cNvCxnSpPr>
            <a:cxnSpLocks/>
            <a:stCxn id="613" idx="1"/>
            <a:endCxn id="24" idx="3"/>
          </p:cNvCxnSpPr>
          <p:nvPr/>
        </p:nvCxnSpPr>
        <p:spPr>
          <a:xfrm flipH="1">
            <a:off x="1742944" y="2672515"/>
            <a:ext cx="815497" cy="190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46" name="Rectangle: Rounded Corners 645">
            <a:extLst>
              <a:ext uri="{FF2B5EF4-FFF2-40B4-BE49-F238E27FC236}">
                <a16:creationId xmlns:a16="http://schemas.microsoft.com/office/drawing/2014/main" id="{FAC9641B-898E-685A-51E9-A1BF9DD6284F}"/>
              </a:ext>
            </a:extLst>
          </p:cNvPr>
          <p:cNvSpPr/>
          <p:nvPr/>
        </p:nvSpPr>
        <p:spPr>
          <a:xfrm>
            <a:off x="3234912" y="3737503"/>
            <a:ext cx="1074401" cy="741700"/>
          </a:xfrm>
          <a:prstGeom prst="roundRect">
            <a:avLst/>
          </a:prstGeom>
          <a:solidFill>
            <a:srgbClr val="7151FD"/>
          </a:solidFill>
          <a:ln w="12700">
            <a:solidFill>
              <a:schemeClr val="bg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or update database records</a:t>
            </a:r>
          </a:p>
        </p:txBody>
      </p:sp>
      <p:sp>
        <p:nvSpPr>
          <p:cNvPr id="681" name="Rectangle 680">
            <a:extLst>
              <a:ext uri="{FF2B5EF4-FFF2-40B4-BE49-F238E27FC236}">
                <a16:creationId xmlns:a16="http://schemas.microsoft.com/office/drawing/2014/main" id="{6F6B7538-04AE-7A7E-4B93-029BE0A67469}"/>
              </a:ext>
            </a:extLst>
          </p:cNvPr>
          <p:cNvSpPr/>
          <p:nvPr/>
        </p:nvSpPr>
        <p:spPr>
          <a:xfrm>
            <a:off x="6503185" y="2079853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data/processed/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</a:t>
            </a:r>
            <a:r>
              <a:rPr lang="en-US" sz="800" dirty="0">
                <a:solidFill>
                  <a:schemeClr val="bg1">
                    <a:lumMod val="95000"/>
                  </a:schemeClr>
                </a:solidFill>
              </a:rPr>
              <a:t>clean-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</a:rPr>
              <a:t>jobs.json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683" name="Rectangle 682">
            <a:extLst>
              <a:ext uri="{FF2B5EF4-FFF2-40B4-BE49-F238E27FC236}">
                <a16:creationId xmlns:a16="http://schemas.microsoft.com/office/drawing/2014/main" id="{E57FDD88-1AA5-BE87-F562-464E2B16FA5D}"/>
              </a:ext>
            </a:extLst>
          </p:cNvPr>
          <p:cNvSpPr/>
          <p:nvPr/>
        </p:nvSpPr>
        <p:spPr>
          <a:xfrm>
            <a:off x="6503185" y="659574"/>
            <a:ext cx="1818275" cy="118384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data/raw/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arbeitsagentur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└───2026-08-03T11-14-18Z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details.json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│   job-details-</a:t>
            </a:r>
            <a:r>
              <a:rPr lang="en-US" sz="800" dirty="0" err="1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f.json</a:t>
            </a:r>
            <a:endParaRPr lang="en-US" sz="800" dirty="0">
              <a:solidFill>
                <a:schemeClr val="bg1">
                  <a:lumMod val="9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└───search-results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└───data-engineer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page-001.json</a:t>
            </a:r>
          </a:p>
          <a:p>
            <a:r>
              <a:rPr lang="en-US" sz="800" dirty="0">
                <a:solidFill>
                  <a:schemeClr val="bg1">
                    <a:lumMod val="95000"/>
                  </a:schemeClr>
                </a:solidFill>
                <a:latin typeface="Consolas" panose="020B0609020204030204" pitchFamily="49" charset="0"/>
              </a:rPr>
              <a:t>                page-002.json</a:t>
            </a:r>
            <a:endParaRPr lang="en-US" sz="800" dirty="0"/>
          </a:p>
        </p:txBody>
      </p:sp>
      <p:cxnSp>
        <p:nvCxnSpPr>
          <p:cNvPr id="693" name="Straight Arrow Connector 692">
            <a:extLst>
              <a:ext uri="{FF2B5EF4-FFF2-40B4-BE49-F238E27FC236}">
                <a16:creationId xmlns:a16="http://schemas.microsoft.com/office/drawing/2014/main" id="{0EF52BA8-C289-7336-A68A-33F03BDB8964}"/>
              </a:ext>
            </a:extLst>
          </p:cNvPr>
          <p:cNvCxnSpPr>
            <a:cxnSpLocks/>
            <a:stCxn id="646" idx="3"/>
            <a:endCxn id="44" idx="1"/>
          </p:cNvCxnSpPr>
          <p:nvPr/>
        </p:nvCxnSpPr>
        <p:spPr>
          <a:xfrm>
            <a:off x="4309313" y="4108353"/>
            <a:ext cx="1516932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975EE54-85E5-3D7E-6B24-B886D2DB4A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75975" y="729713"/>
            <a:ext cx="253705" cy="2799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95C1F3-4ABB-3509-9B36-3EC51D9104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3201" y="2137864"/>
            <a:ext cx="253705" cy="27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861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C3F06FF1-9335-468A-8DC9-1BB93412A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DCA2773C-7D4B-D084-3045-7AB34BC7C5F1}"/>
              </a:ext>
            </a:extLst>
          </p:cNvPr>
          <p:cNvSpPr/>
          <p:nvPr/>
        </p:nvSpPr>
        <p:spPr>
          <a:xfrm>
            <a:off x="1100138" y="633413"/>
            <a:ext cx="7305674" cy="41462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4" name="TextBox 623">
            <a:extLst>
              <a:ext uri="{FF2B5EF4-FFF2-40B4-BE49-F238E27FC236}">
                <a16:creationId xmlns:a16="http://schemas.microsoft.com/office/drawing/2014/main" id="{68B56A9A-9D78-9898-6DC1-F2F1390C3A52}"/>
              </a:ext>
            </a:extLst>
          </p:cNvPr>
          <p:cNvSpPr txBox="1"/>
          <p:nvPr/>
        </p:nvSpPr>
        <p:spPr>
          <a:xfrm>
            <a:off x="4326689" y="83625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read</a:t>
            </a:r>
          </a:p>
        </p:txBody>
      </p:sp>
      <p:cxnSp>
        <p:nvCxnSpPr>
          <p:cNvPr id="583" name="Connector: Elbow 582">
            <a:extLst>
              <a:ext uri="{FF2B5EF4-FFF2-40B4-BE49-F238E27FC236}">
                <a16:creationId xmlns:a16="http://schemas.microsoft.com/office/drawing/2014/main" id="{AA65BEAE-F6D5-3100-D350-CD15E2BCCD5F}"/>
              </a:ext>
            </a:extLst>
          </p:cNvPr>
          <p:cNvCxnSpPr>
            <a:cxnSpLocks/>
            <a:stCxn id="14" idx="3"/>
            <a:endCxn id="601" idx="2"/>
          </p:cNvCxnSpPr>
          <p:nvPr/>
        </p:nvCxnSpPr>
        <p:spPr>
          <a:xfrm flipV="1">
            <a:off x="4973053" y="1538616"/>
            <a:ext cx="1857458" cy="1175224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1FF0F72C-42EA-89B7-6496-D13A3CF51C7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Docker Deployment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74C666D9-CE60-B65C-0A76-4855F59F3AE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B68D65FD-5CC9-5972-29F5-93C8AE5B5CA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B8E40B2-7EB3-9C26-FD10-E109D6FA6A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01" y="944423"/>
            <a:ext cx="345703" cy="309055"/>
          </a:xfrm>
          <a:prstGeom prst="rect">
            <a:avLst/>
          </a:prstGeom>
        </p:spPr>
      </p:pic>
      <p:pic>
        <p:nvPicPr>
          <p:cNvPr id="661" name="Picture 660">
            <a:extLst>
              <a:ext uri="{FF2B5EF4-FFF2-40B4-BE49-F238E27FC236}">
                <a16:creationId xmlns:a16="http://schemas.microsoft.com/office/drawing/2014/main" id="{FC8DB018-09C3-8239-F2EC-5B6D13452E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2600" y="944424"/>
            <a:ext cx="399024" cy="317193"/>
          </a:xfrm>
          <a:prstGeom prst="rect">
            <a:avLst/>
          </a:prstGeom>
        </p:spPr>
      </p:pic>
      <p:cxnSp>
        <p:nvCxnSpPr>
          <p:cNvPr id="666" name="Connector: Elbow 665">
            <a:extLst>
              <a:ext uri="{FF2B5EF4-FFF2-40B4-BE49-F238E27FC236}">
                <a16:creationId xmlns:a16="http://schemas.microsoft.com/office/drawing/2014/main" id="{A1A69FD4-93A3-D7D5-B457-DAE78C272D39}"/>
              </a:ext>
            </a:extLst>
          </p:cNvPr>
          <p:cNvCxnSpPr>
            <a:cxnSpLocks/>
            <a:stCxn id="28" idx="0"/>
            <a:endCxn id="57" idx="2"/>
          </p:cNvCxnSpPr>
          <p:nvPr/>
        </p:nvCxnSpPr>
        <p:spPr>
          <a:xfrm rot="16200000" flipV="1">
            <a:off x="1982661" y="1316067"/>
            <a:ext cx="1112627" cy="155141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70" name="TextBox 669">
            <a:extLst>
              <a:ext uri="{FF2B5EF4-FFF2-40B4-BE49-F238E27FC236}">
                <a16:creationId xmlns:a16="http://schemas.microsoft.com/office/drawing/2014/main" id="{750FBAB4-F377-148C-C8ED-F4EFC72429E5}"/>
              </a:ext>
            </a:extLst>
          </p:cNvPr>
          <p:cNvSpPr txBox="1"/>
          <p:nvPr/>
        </p:nvSpPr>
        <p:spPr>
          <a:xfrm>
            <a:off x="2969502" y="2644086"/>
            <a:ext cx="2003550" cy="3077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~# docker compose up</a:t>
            </a:r>
          </a:p>
        </p:txBody>
      </p:sp>
      <p:pic>
        <p:nvPicPr>
          <p:cNvPr id="713" name="Picture 712">
            <a:extLst>
              <a:ext uri="{FF2B5EF4-FFF2-40B4-BE49-F238E27FC236}">
                <a16:creationId xmlns:a16="http://schemas.microsoft.com/office/drawing/2014/main" id="{E2C8CE04-7F46-7854-8DD2-9E2F4FDE6A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00433" y="784324"/>
            <a:ext cx="575868" cy="106267"/>
          </a:xfrm>
          <a:prstGeom prst="rect">
            <a:avLst/>
          </a:prstGeom>
        </p:spPr>
      </p:pic>
      <p:cxnSp>
        <p:nvCxnSpPr>
          <p:cNvPr id="762" name="Straight Arrow Connector 761">
            <a:extLst>
              <a:ext uri="{FF2B5EF4-FFF2-40B4-BE49-F238E27FC236}">
                <a16:creationId xmlns:a16="http://schemas.microsoft.com/office/drawing/2014/main" id="{4EBDB629-1BDF-4AC1-A071-93B3FBAA22FA}"/>
              </a:ext>
            </a:extLst>
          </p:cNvPr>
          <p:cNvCxnSpPr>
            <a:cxnSpLocks/>
            <a:stCxn id="715" idx="3"/>
            <a:endCxn id="44" idx="1"/>
          </p:cNvCxnSpPr>
          <p:nvPr/>
        </p:nvCxnSpPr>
        <p:spPr>
          <a:xfrm flipV="1">
            <a:off x="4191024" y="1098951"/>
            <a:ext cx="2469877" cy="4743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C4B3D84A-4293-8209-129A-80B3E91C77E5}"/>
              </a:ext>
            </a:extLst>
          </p:cNvPr>
          <p:cNvSpPr txBox="1"/>
          <p:nvPr/>
        </p:nvSpPr>
        <p:spPr>
          <a:xfrm>
            <a:off x="3325773" y="1253546"/>
            <a:ext cx="12965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:8000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AFAC4C-49B1-A0AE-E643-7EF3AEA327D1}"/>
              </a:ext>
            </a:extLst>
          </p:cNvPr>
          <p:cNvSpPr txBox="1"/>
          <p:nvPr/>
        </p:nvSpPr>
        <p:spPr>
          <a:xfrm>
            <a:off x="1139471" y="1258464"/>
            <a:ext cx="12475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frontend </a:t>
            </a:r>
            <a:r>
              <a:rPr lang="en-US" sz="1200" dirty="0">
                <a:solidFill>
                  <a:srgbClr val="0000EE"/>
                </a:solidFill>
              </a:rPr>
              <a:t>:8050</a:t>
            </a:r>
          </a:p>
        </p:txBody>
      </p:sp>
      <p:pic>
        <p:nvPicPr>
          <p:cNvPr id="5" name="Picture 4" descr="File:PostgreSQL logo.3colors.540x557.png">
            <a:extLst>
              <a:ext uri="{FF2B5EF4-FFF2-40B4-BE49-F238E27FC236}">
                <a16:creationId xmlns:a16="http://schemas.microsoft.com/office/drawing/2014/main" id="{9B9F599F-C7DC-99EF-7460-99502CCFE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6071" y="723300"/>
            <a:ext cx="197063" cy="203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FEA6A4D-8BC0-0F25-F3AB-145D9EE091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4611" y="3724793"/>
            <a:ext cx="762608" cy="295892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5A434ED-2CB1-45C4-D6B1-109A31533D38}"/>
              </a:ext>
            </a:extLst>
          </p:cNvPr>
          <p:cNvCxnSpPr>
            <a:cxnSpLocks/>
            <a:stCxn id="670" idx="0"/>
            <a:endCxn id="52" idx="2"/>
          </p:cNvCxnSpPr>
          <p:nvPr/>
        </p:nvCxnSpPr>
        <p:spPr>
          <a:xfrm flipV="1">
            <a:off x="3971277" y="1530545"/>
            <a:ext cx="2767" cy="111354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715" name="Picture 714">
            <a:extLst>
              <a:ext uri="{FF2B5EF4-FFF2-40B4-BE49-F238E27FC236}">
                <a16:creationId xmlns:a16="http://schemas.microsoft.com/office/drawing/2014/main" id="{4FBDB149-06FD-1AD3-88B9-D3C5FE3E2C8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1387" y="945097"/>
            <a:ext cx="429637" cy="3171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6B9BFE-EEDA-540F-C48E-13A34C225DF0}"/>
              </a:ext>
            </a:extLst>
          </p:cNvPr>
          <p:cNvSpPr txBox="1"/>
          <p:nvPr/>
        </p:nvSpPr>
        <p:spPr>
          <a:xfrm>
            <a:off x="2149833" y="826026"/>
            <a:ext cx="14803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</a:t>
            </a:r>
          </a:p>
        </p:txBody>
      </p:sp>
      <p:cxnSp>
        <p:nvCxnSpPr>
          <p:cNvPr id="719" name="Straight Arrow Connector 718">
            <a:extLst>
              <a:ext uri="{FF2B5EF4-FFF2-40B4-BE49-F238E27FC236}">
                <a16:creationId xmlns:a16="http://schemas.microsoft.com/office/drawing/2014/main" id="{7C3EA80D-BAFC-45EB-DD68-0ABB35C1B486}"/>
              </a:ext>
            </a:extLst>
          </p:cNvPr>
          <p:cNvCxnSpPr>
            <a:cxnSpLocks/>
            <a:stCxn id="661" idx="3"/>
            <a:endCxn id="715" idx="1"/>
          </p:cNvCxnSpPr>
          <p:nvPr/>
        </p:nvCxnSpPr>
        <p:spPr>
          <a:xfrm>
            <a:off x="1991624" y="1103021"/>
            <a:ext cx="1769763" cy="673"/>
          </a:xfrm>
          <a:prstGeom prst="straightConnector1">
            <a:avLst/>
          </a:prstGeom>
          <a:ln w="19050">
            <a:prstDash val="dash"/>
            <a:headEnd type="triangle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6" name="Connector: Elbow 585">
            <a:extLst>
              <a:ext uri="{FF2B5EF4-FFF2-40B4-BE49-F238E27FC236}">
                <a16:creationId xmlns:a16="http://schemas.microsoft.com/office/drawing/2014/main" id="{730A9459-DAFD-501C-F58C-EAD654379CB2}"/>
              </a:ext>
            </a:extLst>
          </p:cNvPr>
          <p:cNvCxnSpPr>
            <a:cxnSpLocks/>
            <a:stCxn id="692" idx="3"/>
            <a:endCxn id="597" idx="2"/>
          </p:cNvCxnSpPr>
          <p:nvPr/>
        </p:nvCxnSpPr>
        <p:spPr>
          <a:xfrm flipV="1">
            <a:off x="4319971" y="4036724"/>
            <a:ext cx="3267070" cy="371733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596" name="Group 595">
            <a:extLst>
              <a:ext uri="{FF2B5EF4-FFF2-40B4-BE49-F238E27FC236}">
                <a16:creationId xmlns:a16="http://schemas.microsoft.com/office/drawing/2014/main" id="{2122F97A-8B5A-8DC9-8B4C-1E3081961900}"/>
              </a:ext>
            </a:extLst>
          </p:cNvPr>
          <p:cNvGrpSpPr/>
          <p:nvPr/>
        </p:nvGrpSpPr>
        <p:grpSpPr>
          <a:xfrm>
            <a:off x="7210017" y="3712518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97" name="Rectangle 596">
              <a:extLst>
                <a:ext uri="{FF2B5EF4-FFF2-40B4-BE49-F238E27FC236}">
                  <a16:creationId xmlns:a16="http://schemas.microsoft.com/office/drawing/2014/main" id="{711D9070-8061-D319-A358-3D6BB64589C1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98" name="Picture 597" descr="Python (programming language) - Wikipedia">
              <a:extLst>
                <a:ext uri="{FF2B5EF4-FFF2-40B4-BE49-F238E27FC236}">
                  <a16:creationId xmlns:a16="http://schemas.microsoft.com/office/drawing/2014/main" id="{0F7A1F3D-40C7-68CE-145F-FB49238E2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601" name="TextBox 600">
            <a:extLst>
              <a:ext uri="{FF2B5EF4-FFF2-40B4-BE49-F238E27FC236}">
                <a16:creationId xmlns:a16="http://schemas.microsoft.com/office/drawing/2014/main" id="{4ADA5567-79B8-5396-CF47-ABE36BAED440}"/>
              </a:ext>
            </a:extLst>
          </p:cNvPr>
          <p:cNvSpPr txBox="1"/>
          <p:nvPr/>
        </p:nvSpPr>
        <p:spPr>
          <a:xfrm>
            <a:off x="6171289" y="1261617"/>
            <a:ext cx="13184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postgres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:5432</a:t>
            </a:r>
          </a:p>
        </p:txBody>
      </p:sp>
      <p:sp>
        <p:nvSpPr>
          <p:cNvPr id="603" name="TextBox 602">
            <a:extLst>
              <a:ext uri="{FF2B5EF4-FFF2-40B4-BE49-F238E27FC236}">
                <a16:creationId xmlns:a16="http://schemas.microsoft.com/office/drawing/2014/main" id="{A2C88963-4E5C-BFB4-7FAF-925A3E6AF2B0}"/>
              </a:ext>
            </a:extLst>
          </p:cNvPr>
          <p:cNvSpPr txBox="1"/>
          <p:nvPr/>
        </p:nvSpPr>
        <p:spPr>
          <a:xfrm>
            <a:off x="4437250" y="3418897"/>
            <a:ext cx="17816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rgbClr val="262626"/>
                </a:solidFill>
              </a:rPr>
              <a:t>airflow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:8080</a:t>
            </a:r>
          </a:p>
        </p:txBody>
      </p:sp>
      <p:cxnSp>
        <p:nvCxnSpPr>
          <p:cNvPr id="608" name="Connector: Elbow 607">
            <a:extLst>
              <a:ext uri="{FF2B5EF4-FFF2-40B4-BE49-F238E27FC236}">
                <a16:creationId xmlns:a16="http://schemas.microsoft.com/office/drawing/2014/main" id="{8565C8D3-9B03-3EBE-49CA-10FE31FDE57D}"/>
              </a:ext>
            </a:extLst>
          </p:cNvPr>
          <p:cNvCxnSpPr>
            <a:cxnSpLocks/>
            <a:stCxn id="597" idx="0"/>
            <a:endCxn id="44" idx="3"/>
          </p:cNvCxnSpPr>
          <p:nvPr/>
        </p:nvCxnSpPr>
        <p:spPr>
          <a:xfrm rot="16200000" flipV="1">
            <a:off x="5990040" y="2115516"/>
            <a:ext cx="2613567" cy="580437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26" name="TextBox 625">
            <a:extLst>
              <a:ext uri="{FF2B5EF4-FFF2-40B4-BE49-F238E27FC236}">
                <a16:creationId xmlns:a16="http://schemas.microsoft.com/office/drawing/2014/main" id="{17B69DE1-33EF-5E03-8326-C0CB0D86E2FD}"/>
              </a:ext>
            </a:extLst>
          </p:cNvPr>
          <p:cNvSpPr txBox="1"/>
          <p:nvPr/>
        </p:nvSpPr>
        <p:spPr>
          <a:xfrm>
            <a:off x="6005200" y="3871932"/>
            <a:ext cx="12346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sp>
        <p:nvSpPr>
          <p:cNvPr id="628" name="TextBox 627">
            <a:extLst>
              <a:ext uri="{FF2B5EF4-FFF2-40B4-BE49-F238E27FC236}">
                <a16:creationId xmlns:a16="http://schemas.microsoft.com/office/drawing/2014/main" id="{D70AD31E-19CE-30A0-0DBD-362F54CBC38D}"/>
              </a:ext>
            </a:extLst>
          </p:cNvPr>
          <p:cNvSpPr txBox="1"/>
          <p:nvPr/>
        </p:nvSpPr>
        <p:spPr>
          <a:xfrm rot="5400000">
            <a:off x="6784085" y="2432295"/>
            <a:ext cx="19114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update</a:t>
            </a:r>
          </a:p>
        </p:txBody>
      </p:sp>
      <p:pic>
        <p:nvPicPr>
          <p:cNvPr id="7" name="Picture 6" descr="Docker Icon in SVG, PNG formats">
            <a:extLst>
              <a:ext uri="{FF2B5EF4-FFF2-40B4-BE49-F238E27FC236}">
                <a16:creationId xmlns:a16="http://schemas.microsoft.com/office/drawing/2014/main" id="{E9A1FD7E-3B9E-D2B9-543C-FE37C712E0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2321" y="2300465"/>
            <a:ext cx="247147" cy="247147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70D2196D-59E9-177A-CEE7-8001F3B670FB}"/>
              </a:ext>
            </a:extLst>
          </p:cNvPr>
          <p:cNvSpPr txBox="1"/>
          <p:nvPr/>
        </p:nvSpPr>
        <p:spPr>
          <a:xfrm>
            <a:off x="3518405" y="3955861"/>
            <a:ext cx="12745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data-update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D35E20B-C39B-0882-F9B6-EB9C6AAA42A6}"/>
              </a:ext>
            </a:extLst>
          </p:cNvPr>
          <p:cNvCxnSpPr>
            <a:cxnSpLocks/>
            <a:stCxn id="3" idx="3"/>
            <a:endCxn id="597" idx="1"/>
          </p:cNvCxnSpPr>
          <p:nvPr/>
        </p:nvCxnSpPr>
        <p:spPr>
          <a:xfrm>
            <a:off x="5777219" y="3872739"/>
            <a:ext cx="1432798" cy="1882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859F5EC-BB3D-BA80-2986-E120FD7F83B3}"/>
              </a:ext>
            </a:extLst>
          </p:cNvPr>
          <p:cNvCxnSpPr>
            <a:cxnSpLocks/>
            <a:endCxn id="39" idx="0"/>
          </p:cNvCxnSpPr>
          <p:nvPr/>
        </p:nvCxnSpPr>
        <p:spPr>
          <a:xfrm>
            <a:off x="4155677" y="2949118"/>
            <a:ext cx="0" cy="1006743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22" name="Picture 621" descr="Docker Icon in SVG, PNG formats">
            <a:extLst>
              <a:ext uri="{FF2B5EF4-FFF2-40B4-BE49-F238E27FC236}">
                <a16:creationId xmlns:a16="http://schemas.microsoft.com/office/drawing/2014/main" id="{443B7520-6A7C-4CAD-810B-36648AB2DE9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35190" y="2233599"/>
            <a:ext cx="247147" cy="247147"/>
          </a:xfrm>
          <a:prstGeom prst="rect">
            <a:avLst/>
          </a:prstGeom>
        </p:spPr>
      </p:pic>
      <p:pic>
        <p:nvPicPr>
          <p:cNvPr id="625" name="Picture 624" descr="Docker Icon in SVG, PNG formats">
            <a:extLst>
              <a:ext uri="{FF2B5EF4-FFF2-40B4-BE49-F238E27FC236}">
                <a16:creationId xmlns:a16="http://schemas.microsoft.com/office/drawing/2014/main" id="{CC681AFC-5BDB-74C4-A89B-6BA6DF2B223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5915" y="2459384"/>
            <a:ext cx="247147" cy="247147"/>
          </a:xfrm>
          <a:prstGeom prst="rect">
            <a:avLst/>
          </a:prstGeom>
        </p:spPr>
      </p:pic>
      <p:pic>
        <p:nvPicPr>
          <p:cNvPr id="629" name="Picture 628" descr="Docker Icon in SVG, PNG formats">
            <a:extLst>
              <a:ext uri="{FF2B5EF4-FFF2-40B4-BE49-F238E27FC236}">
                <a16:creationId xmlns:a16="http://schemas.microsoft.com/office/drawing/2014/main" id="{D61E0EED-CADB-5201-BC04-88668B515DA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6977" y="2888064"/>
            <a:ext cx="247147" cy="247147"/>
          </a:xfrm>
          <a:prstGeom prst="rect">
            <a:avLst/>
          </a:prstGeom>
        </p:spPr>
      </p:pic>
      <p:pic>
        <p:nvPicPr>
          <p:cNvPr id="631" name="Picture 630" descr="Docker Icon in SVG, PNG formats">
            <a:extLst>
              <a:ext uri="{FF2B5EF4-FFF2-40B4-BE49-F238E27FC236}">
                <a16:creationId xmlns:a16="http://schemas.microsoft.com/office/drawing/2014/main" id="{5208CC7B-BFBB-DEE3-0D47-2FDC595CDAA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62985" y="3014583"/>
            <a:ext cx="247147" cy="247147"/>
          </a:xfrm>
          <a:prstGeom prst="rect">
            <a:avLst/>
          </a:prstGeom>
        </p:spPr>
      </p:pic>
      <p:sp>
        <p:nvSpPr>
          <p:cNvPr id="677" name="TextBox 676">
            <a:extLst>
              <a:ext uri="{FF2B5EF4-FFF2-40B4-BE49-F238E27FC236}">
                <a16:creationId xmlns:a16="http://schemas.microsoft.com/office/drawing/2014/main" id="{28CD5A56-BB03-18DC-CA9A-716BB92B2385}"/>
              </a:ext>
            </a:extLst>
          </p:cNvPr>
          <p:cNvSpPr txBox="1"/>
          <p:nvPr/>
        </p:nvSpPr>
        <p:spPr>
          <a:xfrm>
            <a:off x="4510132" y="4400539"/>
            <a:ext cx="30577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trigger</a:t>
            </a:r>
          </a:p>
        </p:txBody>
      </p:sp>
      <p:pic>
        <p:nvPicPr>
          <p:cNvPr id="687" name="Picture 686">
            <a:extLst>
              <a:ext uri="{FF2B5EF4-FFF2-40B4-BE49-F238E27FC236}">
                <a16:creationId xmlns:a16="http://schemas.microsoft.com/office/drawing/2014/main" id="{F8946F9C-4916-91EC-4E38-C7862814410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68727" y="4423452"/>
            <a:ext cx="244715" cy="244715"/>
          </a:xfrm>
          <a:prstGeom prst="rect">
            <a:avLst/>
          </a:prstGeom>
        </p:spPr>
      </p:pic>
      <p:grpSp>
        <p:nvGrpSpPr>
          <p:cNvPr id="604" name="Group 603">
            <a:extLst>
              <a:ext uri="{FF2B5EF4-FFF2-40B4-BE49-F238E27FC236}">
                <a16:creationId xmlns:a16="http://schemas.microsoft.com/office/drawing/2014/main" id="{539D3B95-37BB-4AEA-083F-44488733A3D3}"/>
              </a:ext>
            </a:extLst>
          </p:cNvPr>
          <p:cNvGrpSpPr/>
          <p:nvPr/>
        </p:nvGrpSpPr>
        <p:grpSpPr>
          <a:xfrm>
            <a:off x="5990033" y="3892135"/>
            <a:ext cx="429030" cy="266298"/>
            <a:chOff x="5836602" y="3526478"/>
            <a:chExt cx="429030" cy="266298"/>
          </a:xfrm>
        </p:grpSpPr>
        <p:pic>
          <p:nvPicPr>
            <p:cNvPr id="685" name="Picture 684">
              <a:extLst>
                <a:ext uri="{FF2B5EF4-FFF2-40B4-BE49-F238E27FC236}">
                  <a16:creationId xmlns:a16="http://schemas.microsoft.com/office/drawing/2014/main" id="{7AE2D7F6-CD5B-6DBA-EAA7-92EBD7C2BB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6" name="TextBox 645">
              <a:extLst>
                <a:ext uri="{FF2B5EF4-FFF2-40B4-BE49-F238E27FC236}">
                  <a16:creationId xmlns:a16="http://schemas.microsoft.com/office/drawing/2014/main" id="{0CD0BFA2-3EA8-521D-CE70-5A08FE56D997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24</a:t>
              </a:r>
              <a:r>
                <a:rPr lang="en-US" sz="3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h</a:t>
              </a:r>
            </a:p>
          </p:txBody>
        </p:sp>
      </p:grpSp>
      <p:pic>
        <p:nvPicPr>
          <p:cNvPr id="692" name="Picture 691" descr="Python (programming language) - Wikipedia">
            <a:extLst>
              <a:ext uri="{FF2B5EF4-FFF2-40B4-BE49-F238E27FC236}">
                <a16:creationId xmlns:a16="http://schemas.microsoft.com/office/drawing/2014/main" id="{48C2BA47-F3B8-8AC0-9B2A-C67BCD391E0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91383" y="4244163"/>
            <a:ext cx="328588" cy="328588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Picture 694">
            <a:extLst>
              <a:ext uri="{FF2B5EF4-FFF2-40B4-BE49-F238E27FC236}">
                <a16:creationId xmlns:a16="http://schemas.microsoft.com/office/drawing/2014/main" id="{4BF7BEB4-4C12-8368-7A73-6A478C8035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7200000">
            <a:off x="7625786" y="2029437"/>
            <a:ext cx="217941" cy="2179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D310C-A59A-B0BC-FDB7-DC88DBD2678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66806" y="745130"/>
            <a:ext cx="857296" cy="1573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1E4613-0194-BF9B-9CD5-F7AB8C1D8CA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77704" y="4306474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8ED6C7-33AE-2038-7516-1C1732411EA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82344" y="3424828"/>
            <a:ext cx="329030" cy="329030"/>
          </a:xfrm>
          <a:prstGeom prst="rect">
            <a:avLst/>
          </a:prstGeom>
        </p:spPr>
      </p:pic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C8D7D11-EF5E-9203-1E5A-6C4D3A324783}"/>
              </a:ext>
            </a:extLst>
          </p:cNvPr>
          <p:cNvCxnSpPr>
            <a:cxnSpLocks/>
            <a:stCxn id="670" idx="1"/>
            <a:endCxn id="18" idx="0"/>
          </p:cNvCxnSpPr>
          <p:nvPr/>
        </p:nvCxnSpPr>
        <p:spPr>
          <a:xfrm rot="10800000" flipV="1">
            <a:off x="1846860" y="2797974"/>
            <a:ext cx="1122643" cy="30360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13" name="Picture 12" descr="Docker Icon in SVG, PNG formats">
            <a:extLst>
              <a:ext uri="{FF2B5EF4-FFF2-40B4-BE49-F238E27FC236}">
                <a16:creationId xmlns:a16="http://schemas.microsoft.com/office/drawing/2014/main" id="{7ECDF6FC-36EC-479C-0764-7022FBDE364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6154" y="2801978"/>
            <a:ext cx="247147" cy="24714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DD84F0F-C428-658E-C774-54C817E1F72C}"/>
              </a:ext>
            </a:extLst>
          </p:cNvPr>
          <p:cNvSpPr txBox="1"/>
          <p:nvPr/>
        </p:nvSpPr>
        <p:spPr>
          <a:xfrm>
            <a:off x="1046793" y="3101578"/>
            <a:ext cx="1600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prometheus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:9090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6E04F3B-47CD-FBCC-DBAF-3B5BEA8132E8}"/>
              </a:ext>
            </a:extLst>
          </p:cNvPr>
          <p:cNvCxnSpPr>
            <a:cxnSpLocks/>
            <a:stCxn id="28" idx="2"/>
            <a:endCxn id="23" idx="3"/>
          </p:cNvCxnSpPr>
          <p:nvPr/>
        </p:nvCxnSpPr>
        <p:spPr>
          <a:xfrm rot="5400000">
            <a:off x="2286871" y="3127721"/>
            <a:ext cx="1199666" cy="855958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0DE422-0703-0F6C-B669-ED4A241CBA43}"/>
              </a:ext>
            </a:extLst>
          </p:cNvPr>
          <p:cNvSpPr txBox="1"/>
          <p:nvPr/>
        </p:nvSpPr>
        <p:spPr>
          <a:xfrm>
            <a:off x="1229827" y="4017033"/>
            <a:ext cx="1228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rgbClr val="262626"/>
                </a:solidFill>
              </a:rPr>
              <a:t>grafana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:3000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A471F6A-DE7D-08BE-6682-F73B1056A1A4}"/>
              </a:ext>
            </a:extLst>
          </p:cNvPr>
          <p:cNvSpPr/>
          <p:nvPr/>
        </p:nvSpPr>
        <p:spPr>
          <a:xfrm>
            <a:off x="3176287" y="2648090"/>
            <a:ext cx="276792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92E324-5587-80C9-1884-0DCC975A402F}"/>
              </a:ext>
            </a:extLst>
          </p:cNvPr>
          <p:cNvSpPr/>
          <p:nvPr/>
        </p:nvSpPr>
        <p:spPr>
          <a:xfrm>
            <a:off x="4495007" y="2641341"/>
            <a:ext cx="276793" cy="307777"/>
          </a:xfrm>
          <a:prstGeom prst="rect">
            <a:avLst/>
          </a:prstGeom>
          <a:solidFill>
            <a:schemeClr val="lt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978DAC96-214C-F897-6C4F-9F37D8D0273D}"/>
              </a:ext>
            </a:extLst>
          </p:cNvPr>
          <p:cNvCxnSpPr>
            <a:cxnSpLocks/>
            <a:stCxn id="16" idx="3"/>
            <a:endCxn id="603" idx="0"/>
          </p:cNvCxnSpPr>
          <p:nvPr/>
        </p:nvCxnSpPr>
        <p:spPr>
          <a:xfrm>
            <a:off x="4973054" y="2875226"/>
            <a:ext cx="354997" cy="543671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99F27F60-AE5B-18CA-FBB0-E37DC96B7C62}"/>
              </a:ext>
            </a:extLst>
          </p:cNvPr>
          <p:cNvCxnSpPr>
            <a:cxnSpLocks/>
            <a:stCxn id="23" idx="0"/>
            <a:endCxn id="11" idx="2"/>
          </p:cNvCxnSpPr>
          <p:nvPr/>
        </p:nvCxnSpPr>
        <p:spPr>
          <a:xfrm flipV="1">
            <a:off x="1844276" y="3753858"/>
            <a:ext cx="2583" cy="263175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588" name="Picture 587" descr="Docker Icon in SVG, PNG formats">
            <a:extLst>
              <a:ext uri="{FF2B5EF4-FFF2-40B4-BE49-F238E27FC236}">
                <a16:creationId xmlns:a16="http://schemas.microsoft.com/office/drawing/2014/main" id="{574B036B-8E45-18A9-867C-8B6F4241BDC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52713" y="3097308"/>
            <a:ext cx="247147" cy="247147"/>
          </a:xfrm>
          <a:prstGeom prst="rect">
            <a:avLst/>
          </a:prstGeom>
        </p:spPr>
      </p:pic>
      <p:sp>
        <p:nvSpPr>
          <p:cNvPr id="591" name="TextBox 590">
            <a:extLst>
              <a:ext uri="{FF2B5EF4-FFF2-40B4-BE49-F238E27FC236}">
                <a16:creationId xmlns:a16="http://schemas.microsoft.com/office/drawing/2014/main" id="{0D2D2634-6F11-2706-F34A-8290E6A1834B}"/>
              </a:ext>
            </a:extLst>
          </p:cNvPr>
          <p:cNvSpPr txBox="1"/>
          <p:nvPr/>
        </p:nvSpPr>
        <p:spPr>
          <a:xfrm>
            <a:off x="1302113" y="3731425"/>
            <a:ext cx="14889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5F2B738-2CE3-E13E-34F1-23CDE1424AA7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7683" y="3732389"/>
            <a:ext cx="274988" cy="274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15FDA2A-38E6-790A-16F8-8ADFA35B631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250359" y="1378990"/>
            <a:ext cx="205822" cy="205822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C9BC564-2EAE-04D3-791A-0508D40CEC20}"/>
              </a:ext>
            </a:extLst>
          </p:cNvPr>
          <p:cNvSpPr/>
          <p:nvPr/>
        </p:nvSpPr>
        <p:spPr>
          <a:xfrm>
            <a:off x="4500828" y="2641341"/>
            <a:ext cx="472225" cy="144997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443C439-615B-6934-474E-09C570C7D391}"/>
              </a:ext>
            </a:extLst>
          </p:cNvPr>
          <p:cNvSpPr/>
          <p:nvPr/>
        </p:nvSpPr>
        <p:spPr>
          <a:xfrm>
            <a:off x="4495008" y="2801333"/>
            <a:ext cx="478046" cy="14778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7A3F31A-1512-400D-B86C-E47916CAE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020" y="1600201"/>
            <a:ext cx="345703" cy="309055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182AC757-98D0-1B32-C6CC-742068547CDA}"/>
              </a:ext>
            </a:extLst>
          </p:cNvPr>
          <p:cNvSpPr txBox="1"/>
          <p:nvPr/>
        </p:nvSpPr>
        <p:spPr>
          <a:xfrm>
            <a:off x="4500828" y="1867192"/>
            <a:ext cx="17164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elasticsearch</a:t>
            </a:r>
            <a:r>
              <a:rPr lang="en-US" sz="1200" dirty="0"/>
              <a:t> </a:t>
            </a:r>
            <a:r>
              <a:rPr lang="en-US" sz="1200" dirty="0">
                <a:solidFill>
                  <a:srgbClr val="0000EE"/>
                </a:solidFill>
              </a:rPr>
              <a:t>:9200</a:t>
            </a:r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83B086B-D46F-B105-4D32-D185B789DBF2}"/>
              </a:ext>
            </a:extLst>
          </p:cNvPr>
          <p:cNvCxnSpPr>
            <a:cxnSpLocks/>
            <a:stCxn id="14" idx="0"/>
            <a:endCxn id="45" idx="2"/>
          </p:cNvCxnSpPr>
          <p:nvPr/>
        </p:nvCxnSpPr>
        <p:spPr>
          <a:xfrm rot="5400000" flipH="1" flipV="1">
            <a:off x="4799416" y="2081716"/>
            <a:ext cx="497150" cy="62210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63" name="Picture 62" descr="Docker Icon in SVG, PNG formats">
            <a:extLst>
              <a:ext uri="{FF2B5EF4-FFF2-40B4-BE49-F238E27FC236}">
                <a16:creationId xmlns:a16="http://schemas.microsoft.com/office/drawing/2014/main" id="{B868BBE7-E83D-C8D7-D6F6-9109A97734A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2920" y="2355665"/>
            <a:ext cx="247147" cy="247147"/>
          </a:xfrm>
          <a:prstGeom prst="rect">
            <a:avLst/>
          </a:prstGeom>
        </p:spPr>
      </p:pic>
      <p:cxnSp>
        <p:nvCxnSpPr>
          <p:cNvPr id="576" name="Connector: Elbow 575">
            <a:extLst>
              <a:ext uri="{FF2B5EF4-FFF2-40B4-BE49-F238E27FC236}">
                <a16:creationId xmlns:a16="http://schemas.microsoft.com/office/drawing/2014/main" id="{1F7B340B-9CBE-5F90-754F-3B926E26B842}"/>
              </a:ext>
            </a:extLst>
          </p:cNvPr>
          <p:cNvCxnSpPr>
            <a:cxnSpLocks/>
            <a:stCxn id="715" idx="3"/>
            <a:endCxn id="10" idx="0"/>
          </p:cNvCxnSpPr>
          <p:nvPr/>
        </p:nvCxnSpPr>
        <p:spPr>
          <a:xfrm>
            <a:off x="4191024" y="1103694"/>
            <a:ext cx="1162246" cy="275296"/>
          </a:xfrm>
          <a:prstGeom prst="bentConnector2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025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>
          <a:extLst>
            <a:ext uri="{FF2B5EF4-FFF2-40B4-BE49-F238E27FC236}">
              <a16:creationId xmlns:a16="http://schemas.microsoft.com/office/drawing/2014/main" id="{25D6388D-7F14-3E67-49C1-31C320D97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C6143E3F-51A4-E2D2-5E42-6AEBBFC62ABF}"/>
              </a:ext>
            </a:extLst>
          </p:cNvPr>
          <p:cNvSpPr/>
          <p:nvPr/>
        </p:nvSpPr>
        <p:spPr>
          <a:xfrm>
            <a:off x="851790" y="747600"/>
            <a:ext cx="6997709" cy="389397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3" name="Google Shape;633;p91">
            <a:extLst>
              <a:ext uri="{FF2B5EF4-FFF2-40B4-BE49-F238E27FC236}">
                <a16:creationId xmlns:a16="http://schemas.microsoft.com/office/drawing/2014/main" id="{DF0AAE9E-1295-E879-B412-9C84573A24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549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Work Sans"/>
                <a:ea typeface="Work Sans"/>
                <a:cs typeface="Work Sans"/>
                <a:sym typeface="Work Sans"/>
              </a:rPr>
              <a:t>Monitoring</a:t>
            </a: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640" name="Google Shape;640;p91" title="Fichier 20.png">
            <a:extLst>
              <a:ext uri="{FF2B5EF4-FFF2-40B4-BE49-F238E27FC236}">
                <a16:creationId xmlns:a16="http://schemas.microsoft.com/office/drawing/2014/main" id="{6F2F4812-FA30-A89E-C6DC-56E69DDCC0E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2">
            <a:off x="7792129" y="-860609"/>
            <a:ext cx="4282176" cy="2117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641" name="Google Shape;641;p91" title="Fichier 20.png">
            <a:extLst>
              <a:ext uri="{FF2B5EF4-FFF2-40B4-BE49-F238E27FC236}">
                <a16:creationId xmlns:a16="http://schemas.microsoft.com/office/drawing/2014/main" id="{78182C36-2717-2611-DBA5-962E12F4D65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55255"/>
          <a:stretch/>
        </p:blipFill>
        <p:spPr>
          <a:xfrm rot="5400000">
            <a:off x="7892662" y="3745888"/>
            <a:ext cx="1916151" cy="2117225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5A0673A0-350B-40B5-00AF-9C15BB8093DC}"/>
              </a:ext>
            </a:extLst>
          </p:cNvPr>
          <p:cNvSpPr txBox="1"/>
          <p:nvPr/>
        </p:nvSpPr>
        <p:spPr>
          <a:xfrm>
            <a:off x="3638564" y="1351401"/>
            <a:ext cx="16575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backend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:8000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F0F6E1F-1C79-C899-3E44-16B8A4F4905B}"/>
              </a:ext>
            </a:extLst>
          </p:cNvPr>
          <p:cNvCxnSpPr>
            <a:cxnSpLocks/>
            <a:stCxn id="581" idx="1"/>
            <a:endCxn id="14" idx="3"/>
          </p:cNvCxnSpPr>
          <p:nvPr/>
        </p:nvCxnSpPr>
        <p:spPr>
          <a:xfrm flipH="1">
            <a:off x="5408472" y="4071926"/>
            <a:ext cx="1127944" cy="1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D39A2A2-8CE7-3C28-1E73-CBE2C0968EA2}"/>
              </a:ext>
            </a:extLst>
          </p:cNvPr>
          <p:cNvCxnSpPr>
            <a:cxnSpLocks/>
            <a:stCxn id="23" idx="3"/>
            <a:endCxn id="18" idx="1"/>
          </p:cNvCxnSpPr>
          <p:nvPr/>
        </p:nvCxnSpPr>
        <p:spPr>
          <a:xfrm>
            <a:off x="2224112" y="2616221"/>
            <a:ext cx="1388901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AFE0CC99-FBB4-00E3-CB59-2C5B36CFA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379" y="2751773"/>
            <a:ext cx="333670" cy="361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8D8B95-8869-5497-249B-D24279E7D1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9530" y="2786967"/>
            <a:ext cx="329030" cy="3290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450A45C-3208-78B9-967B-BCC33938943D}"/>
              </a:ext>
            </a:extLst>
          </p:cNvPr>
          <p:cNvSpPr txBox="1"/>
          <p:nvPr/>
        </p:nvSpPr>
        <p:spPr>
          <a:xfrm>
            <a:off x="3613013" y="2463717"/>
            <a:ext cx="17220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prometheus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:9090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42E218-7ABB-C458-7336-60CA5068A45B}"/>
              </a:ext>
            </a:extLst>
          </p:cNvPr>
          <p:cNvSpPr txBox="1"/>
          <p:nvPr/>
        </p:nvSpPr>
        <p:spPr>
          <a:xfrm>
            <a:off x="851790" y="2462332"/>
            <a:ext cx="1372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grafana</a:t>
            </a:r>
            <a:r>
              <a:rPr lang="en-US" dirty="0"/>
              <a:t> </a:t>
            </a:r>
            <a:r>
              <a:rPr lang="en-US" dirty="0">
                <a:solidFill>
                  <a:srgbClr val="0000EE"/>
                </a:solidFill>
              </a:rPr>
              <a:t>:3000</a:t>
            </a:r>
          </a:p>
        </p:txBody>
      </p:sp>
      <p:cxnSp>
        <p:nvCxnSpPr>
          <p:cNvPr id="580" name="Straight Arrow Connector 579">
            <a:extLst>
              <a:ext uri="{FF2B5EF4-FFF2-40B4-BE49-F238E27FC236}">
                <a16:creationId xmlns:a16="http://schemas.microsoft.com/office/drawing/2014/main" id="{E1905950-D315-140C-131A-88DEF5687B08}"/>
              </a:ext>
            </a:extLst>
          </p:cNvPr>
          <p:cNvCxnSpPr>
            <a:cxnSpLocks/>
            <a:stCxn id="18" idx="0"/>
            <a:endCxn id="52" idx="2"/>
          </p:cNvCxnSpPr>
          <p:nvPr/>
        </p:nvCxnSpPr>
        <p:spPr>
          <a:xfrm flipH="1" flipV="1">
            <a:off x="4467327" y="1659178"/>
            <a:ext cx="6718" cy="804539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1" name="TextBox 590">
            <a:extLst>
              <a:ext uri="{FF2B5EF4-FFF2-40B4-BE49-F238E27FC236}">
                <a16:creationId xmlns:a16="http://schemas.microsoft.com/office/drawing/2014/main" id="{81B57F9E-5249-3F65-F037-5C82320F6BBE}"/>
              </a:ext>
            </a:extLst>
          </p:cNvPr>
          <p:cNvSpPr txBox="1"/>
          <p:nvPr/>
        </p:nvSpPr>
        <p:spPr>
          <a:xfrm>
            <a:off x="4440999" y="1904480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03BB34-0766-BB5A-C46A-D800D40B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2087" y="4311189"/>
            <a:ext cx="210480" cy="21048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50749A3-6888-0CB6-1756-AE886F5D2494}"/>
              </a:ext>
            </a:extLst>
          </p:cNvPr>
          <p:cNvSpPr txBox="1"/>
          <p:nvPr/>
        </p:nvSpPr>
        <p:spPr>
          <a:xfrm>
            <a:off x="3539618" y="3918038"/>
            <a:ext cx="1868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pushgateway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:9091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50C08-7B82-E70F-85BB-882789E21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93" y="2845750"/>
            <a:ext cx="208694" cy="20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449022C-0587-DE76-015E-ABE806BAB5CE}"/>
              </a:ext>
            </a:extLst>
          </p:cNvPr>
          <p:cNvSpPr txBox="1"/>
          <p:nvPr/>
        </p:nvSpPr>
        <p:spPr>
          <a:xfrm>
            <a:off x="5978879" y="2462332"/>
            <a:ext cx="18706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>
                <a:solidFill>
                  <a:srgbClr val="262626"/>
                </a:solidFill>
              </a:rPr>
              <a:t>alertmanager</a:t>
            </a:r>
            <a:r>
              <a:rPr lang="en-US" b="1" dirty="0">
                <a:solidFill>
                  <a:srgbClr val="262626"/>
                </a:solidFill>
              </a:rPr>
              <a:t> </a:t>
            </a:r>
            <a:r>
              <a:rPr lang="en-US" dirty="0">
                <a:solidFill>
                  <a:srgbClr val="0000EE"/>
                </a:solidFill>
              </a:rPr>
              <a:t>:9093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16AE44C0-DC0E-4CE8-43F0-D877C05D8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8260" y="874272"/>
            <a:ext cx="538134" cy="9930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F143B77-256C-687D-43EE-E04999FECC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9766" y="1034586"/>
            <a:ext cx="455123" cy="336009"/>
          </a:xfrm>
          <a:prstGeom prst="rect">
            <a:avLst/>
          </a:prstGeom>
        </p:spPr>
      </p:pic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434235F-2EB5-8C95-CEB3-595C00763BA6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4474045" y="3192894"/>
            <a:ext cx="0" cy="725144"/>
          </a:xfrm>
          <a:prstGeom prst="straightConnector1">
            <a:avLst/>
          </a:prstGeom>
          <a:ln w="19050">
            <a:prstDash val="dash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5D520FAE-5827-8165-9CB3-D90AFA1CB165}"/>
              </a:ext>
            </a:extLst>
          </p:cNvPr>
          <p:cNvSpPr txBox="1"/>
          <p:nvPr/>
        </p:nvSpPr>
        <p:spPr>
          <a:xfrm>
            <a:off x="4440999" y="3427633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scrape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82F2ECC-9AE3-BAE2-99AB-EE673C1C414B}"/>
              </a:ext>
            </a:extLst>
          </p:cNvPr>
          <p:cNvSpPr txBox="1"/>
          <p:nvPr/>
        </p:nvSpPr>
        <p:spPr>
          <a:xfrm>
            <a:off x="5576952" y="3794927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push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9DA73CB-5265-1EB0-7EC7-7BED2A26980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 flipV="1">
            <a:off x="5335077" y="2616221"/>
            <a:ext cx="643802" cy="1385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F2324F5F-0858-12F5-BBCB-12B6DE9B48BF}"/>
              </a:ext>
            </a:extLst>
          </p:cNvPr>
          <p:cNvSpPr txBox="1"/>
          <p:nvPr/>
        </p:nvSpPr>
        <p:spPr>
          <a:xfrm>
            <a:off x="5232405" y="2332415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alerts</a:t>
            </a:r>
          </a:p>
        </p:txBody>
      </p:sp>
      <p:grpSp>
        <p:nvGrpSpPr>
          <p:cNvPr id="579" name="Group 578">
            <a:extLst>
              <a:ext uri="{FF2B5EF4-FFF2-40B4-BE49-F238E27FC236}">
                <a16:creationId xmlns:a16="http://schemas.microsoft.com/office/drawing/2014/main" id="{CB043595-B58D-58AA-BB7C-E696BEFEDDFA}"/>
              </a:ext>
            </a:extLst>
          </p:cNvPr>
          <p:cNvGrpSpPr/>
          <p:nvPr/>
        </p:nvGrpSpPr>
        <p:grpSpPr>
          <a:xfrm>
            <a:off x="6536416" y="3909823"/>
            <a:ext cx="754048" cy="324206"/>
            <a:chOff x="4084589" y="2171346"/>
            <a:chExt cx="974820" cy="423153"/>
          </a:xfrm>
          <a:solidFill>
            <a:schemeClr val="bg2">
              <a:lumMod val="50000"/>
              <a:lumOff val="50000"/>
            </a:schemeClr>
          </a:solidFill>
        </p:grpSpPr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E39F9BE9-E058-03D7-69CD-5E75550AE287}"/>
                </a:ext>
              </a:extLst>
            </p:cNvPr>
            <p:cNvSpPr/>
            <p:nvPr/>
          </p:nvSpPr>
          <p:spPr>
            <a:xfrm>
              <a:off x="4084589" y="2171346"/>
              <a:ext cx="974820" cy="42315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200" dirty="0"/>
                <a:t>ETL</a:t>
              </a:r>
            </a:p>
          </p:txBody>
        </p:sp>
        <p:pic>
          <p:nvPicPr>
            <p:cNvPr id="582" name="Picture 581" descr="Python (programming language) - Wikipedia">
              <a:extLst>
                <a:ext uri="{FF2B5EF4-FFF2-40B4-BE49-F238E27FC236}">
                  <a16:creationId xmlns:a16="http://schemas.microsoft.com/office/drawing/2014/main" id="{7C1135C2-5EA6-75C2-72CA-51F7F8FE732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71699" y="2204198"/>
              <a:ext cx="357449" cy="357449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92" name="TextBox 591">
            <a:extLst>
              <a:ext uri="{FF2B5EF4-FFF2-40B4-BE49-F238E27FC236}">
                <a16:creationId xmlns:a16="http://schemas.microsoft.com/office/drawing/2014/main" id="{6F1FF3A5-25ED-0909-E98D-0D2F2BEB54A9}"/>
              </a:ext>
            </a:extLst>
          </p:cNvPr>
          <p:cNvSpPr txBox="1"/>
          <p:nvPr/>
        </p:nvSpPr>
        <p:spPr>
          <a:xfrm>
            <a:off x="2523071" y="234118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query</a:t>
            </a:r>
          </a:p>
        </p:txBody>
      </p:sp>
      <p:pic>
        <p:nvPicPr>
          <p:cNvPr id="594" name="Picture 593">
            <a:extLst>
              <a:ext uri="{FF2B5EF4-FFF2-40B4-BE49-F238E27FC236}">
                <a16:creationId xmlns:a16="http://schemas.microsoft.com/office/drawing/2014/main" id="{5CC4CAC5-50AD-9D10-1DB2-F9B7919C164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50000"/>
          </a:blip>
          <a:stretch>
            <a:fillRect/>
          </a:stretch>
        </p:blipFill>
        <p:spPr>
          <a:xfrm>
            <a:off x="6551484" y="1640945"/>
            <a:ext cx="697149" cy="178372"/>
          </a:xfrm>
          <a:prstGeom prst="rect">
            <a:avLst/>
          </a:prstGeom>
        </p:spPr>
      </p:pic>
      <p:cxnSp>
        <p:nvCxnSpPr>
          <p:cNvPr id="595" name="Straight Arrow Connector 594">
            <a:extLst>
              <a:ext uri="{FF2B5EF4-FFF2-40B4-BE49-F238E27FC236}">
                <a16:creationId xmlns:a16="http://schemas.microsoft.com/office/drawing/2014/main" id="{A24BFB29-B4BB-15A7-F1B9-783BDAFF5EB3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6914189" y="1908884"/>
            <a:ext cx="0" cy="553448"/>
          </a:xfrm>
          <a:prstGeom prst="straightConnector1">
            <a:avLst/>
          </a:prstGeom>
          <a:ln w="19050">
            <a:solidFill>
              <a:schemeClr val="accent5">
                <a:shade val="95000"/>
                <a:satMod val="105000"/>
                <a:alpha val="50000"/>
              </a:schemeClr>
            </a:solidFill>
            <a:prstDash val="solid"/>
            <a:tailEnd type="triangl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99" name="TextBox 598">
            <a:extLst>
              <a:ext uri="{FF2B5EF4-FFF2-40B4-BE49-F238E27FC236}">
                <a16:creationId xmlns:a16="http://schemas.microsoft.com/office/drawing/2014/main" id="{550295F5-9D8E-FE76-C1EE-4A15C55C2955}"/>
              </a:ext>
            </a:extLst>
          </p:cNvPr>
          <p:cNvSpPr txBox="1"/>
          <p:nvPr/>
        </p:nvSpPr>
        <p:spPr>
          <a:xfrm>
            <a:off x="6767842" y="2055416"/>
            <a:ext cx="790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  <a:alpha val="50000"/>
                  </a:schemeClr>
                </a:solidFill>
              </a:rPr>
              <a:t>notify</a:t>
            </a:r>
          </a:p>
        </p:txBody>
      </p: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A8AB6CFD-0D7B-C20F-648C-0FC26FA29E7E}"/>
              </a:ext>
            </a:extLst>
          </p:cNvPr>
          <p:cNvGrpSpPr/>
          <p:nvPr/>
        </p:nvGrpSpPr>
        <p:grpSpPr>
          <a:xfrm>
            <a:off x="4038297" y="1923151"/>
            <a:ext cx="429030" cy="266298"/>
            <a:chOff x="5836602" y="3526478"/>
            <a:chExt cx="429030" cy="266298"/>
          </a:xfrm>
        </p:grpSpPr>
        <p:pic>
          <p:nvPicPr>
            <p:cNvPr id="638" name="Picture 637">
              <a:extLst>
                <a:ext uri="{FF2B5EF4-FFF2-40B4-BE49-F238E27FC236}">
                  <a16:creationId xmlns:a16="http://schemas.microsoft.com/office/drawing/2014/main" id="{C4AFF481-565D-FA7B-463F-0A1E4E82D0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39" name="TextBox 638">
              <a:extLst>
                <a:ext uri="{FF2B5EF4-FFF2-40B4-BE49-F238E27FC236}">
                  <a16:creationId xmlns:a16="http://schemas.microsoft.com/office/drawing/2014/main" id="{786F5BB7-182B-3545-18C2-4224F3718DC5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2" name="Group 641">
            <a:extLst>
              <a:ext uri="{FF2B5EF4-FFF2-40B4-BE49-F238E27FC236}">
                <a16:creationId xmlns:a16="http://schemas.microsoft.com/office/drawing/2014/main" id="{1BEE0611-A2BE-4650-73D3-1BC25D19880C}"/>
              </a:ext>
            </a:extLst>
          </p:cNvPr>
          <p:cNvGrpSpPr/>
          <p:nvPr/>
        </p:nvGrpSpPr>
        <p:grpSpPr>
          <a:xfrm>
            <a:off x="4024304" y="3444342"/>
            <a:ext cx="429030" cy="266298"/>
            <a:chOff x="5836602" y="3526478"/>
            <a:chExt cx="429030" cy="266298"/>
          </a:xfrm>
        </p:grpSpPr>
        <p:pic>
          <p:nvPicPr>
            <p:cNvPr id="643" name="Picture 642">
              <a:extLst>
                <a:ext uri="{FF2B5EF4-FFF2-40B4-BE49-F238E27FC236}">
                  <a16:creationId xmlns:a16="http://schemas.microsoft.com/office/drawing/2014/main" id="{8EF3ED6F-C831-AE11-4788-DE3CD6310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4" name="TextBox 643">
              <a:extLst>
                <a:ext uri="{FF2B5EF4-FFF2-40B4-BE49-F238E27FC236}">
                  <a16:creationId xmlns:a16="http://schemas.microsoft.com/office/drawing/2014/main" id="{4F7C82B6-5884-95DE-B7FA-E5594D81B03B}"/>
                </a:ext>
              </a:extLst>
            </p:cNvPr>
            <p:cNvSpPr txBox="1"/>
            <p:nvPr/>
          </p:nvSpPr>
          <p:spPr>
            <a:xfrm>
              <a:off x="5836602" y="3570582"/>
              <a:ext cx="429030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15 s</a:t>
              </a:r>
            </a:p>
          </p:txBody>
        </p:sp>
      </p:grpSp>
      <p:grpSp>
        <p:nvGrpSpPr>
          <p:cNvPr id="645" name="Group 644">
            <a:extLst>
              <a:ext uri="{FF2B5EF4-FFF2-40B4-BE49-F238E27FC236}">
                <a16:creationId xmlns:a16="http://schemas.microsoft.com/office/drawing/2014/main" id="{28CB518E-F23A-59F9-1BD8-B06BF2C2A87F}"/>
              </a:ext>
            </a:extLst>
          </p:cNvPr>
          <p:cNvGrpSpPr/>
          <p:nvPr/>
        </p:nvGrpSpPr>
        <p:grpSpPr>
          <a:xfrm>
            <a:off x="5447402" y="2666321"/>
            <a:ext cx="429030" cy="266298"/>
            <a:chOff x="5837250" y="3526478"/>
            <a:chExt cx="429030" cy="266298"/>
          </a:xfrm>
        </p:grpSpPr>
        <p:pic>
          <p:nvPicPr>
            <p:cNvPr id="647" name="Picture 646">
              <a:extLst>
                <a:ext uri="{FF2B5EF4-FFF2-40B4-BE49-F238E27FC236}">
                  <a16:creationId xmlns:a16="http://schemas.microsoft.com/office/drawing/2014/main" id="{6B2342F8-E6CA-01AA-38AA-CB8D13D9B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09286" y="3526478"/>
              <a:ext cx="266298" cy="266298"/>
            </a:xfrm>
            <a:prstGeom prst="rect">
              <a:avLst/>
            </a:prstGeom>
          </p:spPr>
        </p:pic>
        <p:sp>
          <p:nvSpPr>
            <p:cNvPr id="648" name="TextBox 647">
              <a:extLst>
                <a:ext uri="{FF2B5EF4-FFF2-40B4-BE49-F238E27FC236}">
                  <a16:creationId xmlns:a16="http://schemas.microsoft.com/office/drawing/2014/main" id="{C89E22B0-E42B-59EF-1913-BEEA2F47EECB}"/>
                </a:ext>
              </a:extLst>
            </p:cNvPr>
            <p:cNvSpPr txBox="1"/>
            <p:nvPr/>
          </p:nvSpPr>
          <p:spPr>
            <a:xfrm>
              <a:off x="5837250" y="3539585"/>
              <a:ext cx="42903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ETL</a:t>
              </a:r>
              <a:b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</a:br>
              <a:r>
                <a:rPr lang="en-US" sz="500" b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&gt;26 h</a:t>
              </a:r>
            </a:p>
          </p:txBody>
        </p:sp>
      </p:grpSp>
      <p:sp>
        <p:nvSpPr>
          <p:cNvPr id="649" name="Rectangle 648">
            <a:extLst>
              <a:ext uri="{FF2B5EF4-FFF2-40B4-BE49-F238E27FC236}">
                <a16:creationId xmlns:a16="http://schemas.microsoft.com/office/drawing/2014/main" id="{1332BD09-E8E1-3666-B811-349B98DA9565}"/>
              </a:ext>
            </a:extLst>
          </p:cNvPr>
          <p:cNvSpPr/>
          <p:nvPr/>
        </p:nvSpPr>
        <p:spPr>
          <a:xfrm>
            <a:off x="2348086" y="292306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Time Since Last Successful ETL</a:t>
            </a:r>
          </a:p>
        </p:txBody>
      </p:sp>
      <p:sp>
        <p:nvSpPr>
          <p:cNvPr id="651" name="Rectangle 650">
            <a:extLst>
              <a:ext uri="{FF2B5EF4-FFF2-40B4-BE49-F238E27FC236}">
                <a16:creationId xmlns:a16="http://schemas.microsoft.com/office/drawing/2014/main" id="{8CAA198F-3520-49A7-5C28-3B3FC81744D2}"/>
              </a:ext>
            </a:extLst>
          </p:cNvPr>
          <p:cNvSpPr/>
          <p:nvPr/>
        </p:nvSpPr>
        <p:spPr>
          <a:xfrm>
            <a:off x="2348086" y="3394532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Last ETL Duration</a:t>
            </a:r>
          </a:p>
        </p:txBody>
      </p:sp>
      <p:sp>
        <p:nvSpPr>
          <p:cNvPr id="653" name="Rectangle 652">
            <a:extLst>
              <a:ext uri="{FF2B5EF4-FFF2-40B4-BE49-F238E27FC236}">
                <a16:creationId xmlns:a16="http://schemas.microsoft.com/office/drawing/2014/main" id="{32F40984-0A08-B9E5-13BE-3CD960D26F0A}"/>
              </a:ext>
            </a:extLst>
          </p:cNvPr>
          <p:cNvSpPr/>
          <p:nvPr/>
        </p:nvSpPr>
        <p:spPr>
          <a:xfrm>
            <a:off x="2348086" y="3869309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Geocoding Failures</a:t>
            </a:r>
          </a:p>
        </p:txBody>
      </p:sp>
      <p:sp>
        <p:nvSpPr>
          <p:cNvPr id="655" name="Rectangle 654">
            <a:extLst>
              <a:ext uri="{FF2B5EF4-FFF2-40B4-BE49-F238E27FC236}">
                <a16:creationId xmlns:a16="http://schemas.microsoft.com/office/drawing/2014/main" id="{21D270ED-EDB8-55E8-EA44-A22CBDFCD29B}"/>
              </a:ext>
            </a:extLst>
          </p:cNvPr>
          <p:cNvSpPr/>
          <p:nvPr/>
        </p:nvSpPr>
        <p:spPr>
          <a:xfrm>
            <a:off x="2397466" y="840657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Requests</a:t>
            </a:r>
          </a:p>
        </p:txBody>
      </p:sp>
      <p:sp>
        <p:nvSpPr>
          <p:cNvPr id="657" name="Rectangle 656">
            <a:extLst>
              <a:ext uri="{FF2B5EF4-FFF2-40B4-BE49-F238E27FC236}">
                <a16:creationId xmlns:a16="http://schemas.microsoft.com/office/drawing/2014/main" id="{D7F02F9D-54BE-C679-CAC0-B6FABCF94A80}"/>
              </a:ext>
            </a:extLst>
          </p:cNvPr>
          <p:cNvSpPr/>
          <p:nvPr/>
        </p:nvSpPr>
        <p:spPr>
          <a:xfrm>
            <a:off x="2397466" y="1315434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Job Search Duration (p95)</a:t>
            </a:r>
          </a:p>
        </p:txBody>
      </p:sp>
      <p:sp>
        <p:nvSpPr>
          <p:cNvPr id="659" name="Rectangle 658">
            <a:extLst>
              <a:ext uri="{FF2B5EF4-FFF2-40B4-BE49-F238E27FC236}">
                <a16:creationId xmlns:a16="http://schemas.microsoft.com/office/drawing/2014/main" id="{1C02109E-EDF0-BC2C-9FF4-90052E0D4356}"/>
              </a:ext>
            </a:extLst>
          </p:cNvPr>
          <p:cNvSpPr/>
          <p:nvPr/>
        </p:nvSpPr>
        <p:spPr>
          <a:xfrm>
            <a:off x="2397466" y="1790211"/>
            <a:ext cx="1146624" cy="45654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Active Database Connections</a:t>
            </a:r>
          </a:p>
        </p:txBody>
      </p:sp>
    </p:spTree>
    <p:extLst>
      <p:ext uri="{BB962C8B-B14F-4D97-AF65-F5344CB8AC3E}">
        <p14:creationId xmlns:p14="http://schemas.microsoft.com/office/powerpoint/2010/main" val="65768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3" name="Google Shape;793;p107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94" name="Google Shape;794;p107" title="Datascientest-25-2000-90.jpg"/>
          <p:cNvPicPr preferRelativeResize="0"/>
          <p:nvPr/>
        </p:nvPicPr>
        <p:blipFill rotWithShape="1">
          <a:blip r:embed="rId4">
            <a:alphaModFix/>
          </a:blip>
          <a:srcRect l="45806" t="33593" r="9932" b="291"/>
          <a:stretch/>
        </p:blipFill>
        <p:spPr>
          <a:xfrm>
            <a:off x="5416500" y="208500"/>
            <a:ext cx="3425100" cy="4726500"/>
          </a:xfrm>
          <a:prstGeom prst="roundRect">
            <a:avLst>
              <a:gd name="adj" fmla="val 6927"/>
            </a:avLst>
          </a:prstGeom>
          <a:noFill/>
          <a:ln>
            <a:noFill/>
          </a:ln>
        </p:spPr>
      </p:pic>
      <p:pic>
        <p:nvPicPr>
          <p:cNvPr id="795" name="Google Shape;795;p107"/>
          <p:cNvPicPr preferRelativeResize="0"/>
          <p:nvPr/>
        </p:nvPicPr>
        <p:blipFill rotWithShape="1">
          <a:blip r:embed="rId5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96" name="Google Shape;796;p107" title="undraw_faq_h01d.gif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62379" y="1423463"/>
            <a:ext cx="2082850" cy="13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797" name="Google Shape;797;p107"/>
          <p:cNvSpPr/>
          <p:nvPr/>
        </p:nvSpPr>
        <p:spPr>
          <a:xfrm>
            <a:off x="1643004" y="2784088"/>
            <a:ext cx="2121600" cy="346800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b="1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QUESTIONS</a:t>
            </a:r>
            <a:endParaRPr sz="1800" b="1">
              <a:solidFill>
                <a:srgbClr val="F5FA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</Words>
  <Application>Microsoft Office PowerPoint</Application>
  <PresentationFormat>On-screen Show (16:9)</PresentationFormat>
  <Paragraphs>100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21" baseType="lpstr">
      <vt:lpstr>Arial</vt:lpstr>
      <vt:lpstr>Consolas</vt:lpstr>
      <vt:lpstr>Inter</vt:lpstr>
      <vt:lpstr>Inter Medium</vt:lpstr>
      <vt:lpstr>Inter SemiBold</vt:lpstr>
      <vt:lpstr>Rubik</vt:lpstr>
      <vt:lpstr>Urbanist Black</vt:lpstr>
      <vt:lpstr>Work Sans</vt:lpstr>
      <vt:lpstr>Work Sans Light</vt:lpstr>
      <vt:lpstr>Work Sans Medium</vt:lpstr>
      <vt:lpstr>Simple Light</vt:lpstr>
      <vt:lpstr>LIORA</vt:lpstr>
      <vt:lpstr>DATA ENGINEER</vt:lpstr>
      <vt:lpstr>Table of Contents</vt:lpstr>
      <vt:lpstr>First section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Sergey Krutikov</cp:lastModifiedBy>
  <cp:revision>142</cp:revision>
  <dcterms:modified xsi:type="dcterms:W3CDTF">2026-08-31T17:56:09Z</dcterms:modified>
</cp:coreProperties>
</file>