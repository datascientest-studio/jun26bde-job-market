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19"/>
  </p:notesMasterIdLst>
  <p:sldIdLst>
    <p:sldId id="256" r:id="rId2"/>
    <p:sldId id="294" r:id="rId3"/>
    <p:sldId id="290" r:id="rId4"/>
    <p:sldId id="302" r:id="rId5"/>
    <p:sldId id="276" r:id="rId6"/>
    <p:sldId id="298" r:id="rId7"/>
    <p:sldId id="299" r:id="rId8"/>
    <p:sldId id="283" r:id="rId9"/>
    <p:sldId id="277" r:id="rId10"/>
    <p:sldId id="285" r:id="rId11"/>
    <p:sldId id="287" r:id="rId12"/>
    <p:sldId id="273" r:id="rId13"/>
    <p:sldId id="286" r:id="rId14"/>
    <p:sldId id="278" r:id="rId15"/>
    <p:sldId id="296" r:id="rId16"/>
    <p:sldId id="300" r:id="rId17"/>
    <p:sldId id="257"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0000"/>
    <a:srgbClr val="FFFFC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44" autoAdjust="0"/>
    <p:restoredTop sz="66442" autoAdjust="0"/>
  </p:normalViewPr>
  <p:slideViewPr>
    <p:cSldViewPr snapToGrid="0">
      <p:cViewPr varScale="1">
        <p:scale>
          <a:sx n="139" d="100"/>
          <a:sy n="139" d="100"/>
        </p:scale>
        <p:origin x="2202" y="-96"/>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me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703850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r>
              <a:rPr lang="en-US" dirty="0"/>
              <a:t>As our data source, we use the API of the German Federal Employment Agency</a:t>
            </a:r>
          </a:p>
          <a:p>
            <a:pPr marL="171450" lvl="0" indent="-171450" algn="l" rtl="0">
              <a:spcBef>
                <a:spcPts val="0"/>
              </a:spcBef>
              <a:spcAft>
                <a:spcPts val="0"/>
              </a:spcAft>
            </a:pPr>
            <a:r>
              <a:rPr lang="en-US" dirty="0"/>
              <a:t>The API has a two-stage structure.</a:t>
            </a:r>
          </a:p>
          <a:p>
            <a:pPr marL="628650" lvl="1" indent="-171450" algn="l" rtl="0">
              <a:spcBef>
                <a:spcPts val="0"/>
              </a:spcBef>
              <a:spcAft>
                <a:spcPts val="0"/>
              </a:spcAft>
            </a:pPr>
            <a:r>
              <a:rPr lang="en-US" dirty="0"/>
              <a:t>First, the </a:t>
            </a:r>
            <a:r>
              <a:rPr lang="en-US" sz="1100" b="0" i="0" u="none" strike="noStrike" cap="none" dirty="0">
                <a:solidFill>
                  <a:srgbClr val="000000"/>
                </a:solidFill>
                <a:latin typeface="Arial"/>
                <a:ea typeface="Arial"/>
                <a:cs typeface="Arial"/>
                <a:sym typeface="Arial"/>
              </a:rPr>
              <a:t>/jobs</a:t>
            </a:r>
            <a:r>
              <a:rPr lang="en-US" dirty="0"/>
              <a:t> endpoint returns job summaries together with their IDs.</a:t>
            </a:r>
          </a:p>
          <a:p>
            <a:pPr marL="628650" lvl="1" indent="-171450" algn="l" rtl="0">
              <a:spcBef>
                <a:spcPts val="0"/>
              </a:spcBef>
              <a:spcAft>
                <a:spcPts val="0"/>
              </a:spcAft>
            </a:pPr>
            <a:r>
              <a:rPr lang="en-US" dirty="0"/>
              <a:t>We then use each ID to retrieve the complete job details.</a:t>
            </a:r>
          </a:p>
          <a:p>
            <a:pPr marL="171450" lvl="0" indent="-171450" algn="l" rtl="0">
              <a:spcBef>
                <a:spcPts val="0"/>
              </a:spcBef>
              <a:spcAft>
                <a:spcPts val="0"/>
              </a:spcAft>
            </a:pPr>
            <a:r>
              <a:rPr lang="en-US" dirty="0"/>
              <a:t>For our regular collection, we use the keywords Data Engineer, Data Analyst and AI Engineer.</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2DE0FF48-7459-8986-7D72-9D3CB36EB587}"/>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3C6CFCC3-EA9F-B1D6-F0A9-9FD48F132C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3AFA0482-F929-C474-9D2A-B09D677717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Here is a high-level overview of our project. It consists of two main phases: ingestion and runtime:</a:t>
            </a:r>
          </a:p>
          <a:p>
            <a:r>
              <a:rPr lang="en-US" dirty="0"/>
              <a:t>During ingestion, our ETL retrieves job data from the API. We preserve both the raw API responses and the cleaned data in the data archive, while the cleaned and enriched job records are loaded into PostgreSQL. Airflow runs this process automatically every morning at six.</a:t>
            </a:r>
          </a:p>
          <a:p>
            <a:r>
              <a:rPr lang="en-US" dirty="0"/>
              <a:t>At runtime, our </a:t>
            </a:r>
            <a:r>
              <a:rPr lang="en-US" dirty="0" err="1"/>
              <a:t>FastAPI</a:t>
            </a:r>
            <a:r>
              <a:rPr lang="en-US" dirty="0"/>
              <a:t> backend reads jobs and statistics from PostgreSQL and provides them to the Dash frontend, where the user can search for jobs, view statistics and explore them on a map.</a:t>
            </a:r>
          </a:p>
          <a:p>
            <a:r>
              <a:rPr lang="en-US" dirty="0"/>
              <a:t>Let us now look at the ETL in more detail.</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5180833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ETL consists of the usual extract, transform and load stages.</a:t>
            </a:r>
          </a:p>
          <a:p>
            <a:r>
              <a:rPr lang="en-US" dirty="0"/>
              <a:t>In the </a:t>
            </a:r>
            <a:r>
              <a:rPr lang="en-US" b="1" dirty="0"/>
              <a:t>extract</a:t>
            </a:r>
            <a:r>
              <a:rPr lang="en-US" dirty="0"/>
              <a:t> stage, we retrieve and save the search pages as raw JSON. Because the same job can appear in several search results, we deduplicate the jobs by their IDs. We then retrieve and save the full job details, again as raw JSON.</a:t>
            </a:r>
          </a:p>
          <a:p>
            <a:r>
              <a:rPr lang="en-US" dirty="0"/>
              <a:t>In the </a:t>
            </a:r>
            <a:r>
              <a:rPr lang="en-US" b="1" dirty="0"/>
              <a:t>transform</a:t>
            </a:r>
            <a:r>
              <a:rPr lang="en-US" dirty="0"/>
              <a:t> stage, we normalize and restructure the source data and classify the jobs. We keep only jobs located in Germany and geocode missing coordinates where needed. The resulting cleaned data is also preserved as JSON.</a:t>
            </a:r>
          </a:p>
          <a:p>
            <a:r>
              <a:rPr lang="en-US" dirty="0"/>
              <a:t>Finally, in the </a:t>
            </a:r>
            <a:r>
              <a:rPr lang="en-US" b="1" dirty="0"/>
              <a:t>load</a:t>
            </a:r>
            <a:r>
              <a:rPr lang="en-US" dirty="0"/>
              <a:t> stage, we create new PostgreSQL records or update existing jobs with the same ID.</a:t>
            </a:r>
          </a:p>
          <a:p>
            <a:r>
              <a:rPr lang="en-US" dirty="0"/>
              <a:t>Two parts of the transformation—geocoding and classification—are explained on the next slide.</a:t>
            </a:r>
          </a:p>
        </p:txBody>
      </p:sp>
    </p:spTree>
    <p:extLst>
      <p:ext uri="{BB962C8B-B14F-4D97-AF65-F5344CB8AC3E}">
        <p14:creationId xmlns:p14="http://schemas.microsoft.com/office/powerpoint/2010/main" val="34771065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31DAE28-F881-AA18-4627-70BD47EA54C9}"/>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847E18-20F5-248F-BBDA-ED2B528DD4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F2E233E-E30F-3F3D-996E-97CD739E26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As to geocoding: some jobs already contain coordinates, and we keep those coordinates unchanged. If coordinates are missing, we use the city, postal code and country with </a:t>
            </a:r>
            <a:r>
              <a:rPr lang="en-US" dirty="0" err="1"/>
              <a:t>Nominatim</a:t>
            </a:r>
            <a:r>
              <a:rPr lang="en-US" dirty="0"/>
              <a:t> via </a:t>
            </a:r>
            <a:r>
              <a:rPr lang="en-US" sz="1100" b="0" i="0" u="none" strike="noStrike" cap="none" dirty="0" err="1">
                <a:solidFill>
                  <a:srgbClr val="000000"/>
                </a:solidFill>
                <a:latin typeface="Arial"/>
                <a:ea typeface="Arial"/>
                <a:cs typeface="Arial"/>
                <a:sym typeface="Arial"/>
              </a:rPr>
              <a:t>geopy</a:t>
            </a:r>
            <a:r>
              <a:rPr lang="en-US" dirty="0"/>
              <a:t> to obtain latitude and longitude. These coordinates can then be used on the map.</a:t>
            </a:r>
          </a:p>
          <a:p>
            <a:r>
              <a:rPr lang="en-US" dirty="0"/>
              <a:t>For job classification, raw job titles are too heterogeneous for consistent analysis. We therefore use a rule-based classifier based on the job title and occupation. Jobs are mapped to broad categories such as Data Engineering, Data Analysis or Backend Development. If no rule matches, the category is Other.</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08650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FBE54DF-E4CF-B18B-F0F7-9D6CC1836AFC}"/>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9058E91-EAE9-5513-E70C-5DB19A698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C64AFCA-8149-9E3C-95EA-E9DAC24A22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Another issue we address is job freshness. </a:t>
            </a:r>
          </a:p>
          <a:p>
            <a:pPr marL="171450" lvl="0" indent="-171450" algn="l" rtl="0">
              <a:spcBef>
                <a:spcPts val="0"/>
              </a:spcBef>
              <a:spcAft>
                <a:spcPts val="0"/>
              </a:spcAft>
            </a:pPr>
            <a:r>
              <a:rPr lang="en-US" dirty="0"/>
              <a:t>A recent publication date does not necessarily mean that a job is actually new, because advertisements can be republished without changes.</a:t>
            </a:r>
          </a:p>
          <a:p>
            <a:pPr marL="171450" lvl="0" indent="-171450" algn="l" rtl="0">
              <a:spcBef>
                <a:spcPts val="0"/>
              </a:spcBef>
              <a:spcAft>
                <a:spcPts val="0"/>
              </a:spcAft>
            </a:pPr>
            <a:r>
              <a:rPr lang="en-US" dirty="0"/>
              <a:t>We therefore compare the current API data with the version stored in PostgreSQL. If </a:t>
            </a:r>
            <a:r>
              <a:rPr lang="en-US" sz="1100" b="0" i="0" u="none" strike="noStrike" cap="none" dirty="0" err="1">
                <a:solidFill>
                  <a:srgbClr val="000000"/>
                </a:solidFill>
                <a:latin typeface="Arial"/>
                <a:ea typeface="Arial"/>
                <a:cs typeface="Arial"/>
                <a:sym typeface="Arial"/>
              </a:rPr>
              <a:t>modified_at</a:t>
            </a:r>
            <a:r>
              <a:rPr lang="en-US" dirty="0"/>
              <a:t> changes, we treat it as a real update; if only the publication date changes, we count it as an unchanged republication.</a:t>
            </a:r>
          </a:p>
          <a:p>
            <a:pPr marL="171450" lvl="0" indent="-171450" algn="l" rtl="0">
              <a:spcBef>
                <a:spcPts val="0"/>
              </a:spcBef>
              <a:spcAft>
                <a:spcPts val="0"/>
              </a:spcAft>
            </a:pPr>
            <a:r>
              <a:rPr lang="en-US" dirty="0"/>
              <a:t>This gives the user a more meaningful freshness summary.</a:t>
            </a:r>
            <a:endParaRPr dirty="0"/>
          </a:p>
        </p:txBody>
      </p:sp>
    </p:spTree>
    <p:extLst>
      <p:ext uri="{BB962C8B-B14F-4D97-AF65-F5344CB8AC3E}">
        <p14:creationId xmlns:p14="http://schemas.microsoft.com/office/powerpoint/2010/main" val="898554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indent="-298450"/>
            <a:r>
              <a:rPr lang="en-US" dirty="0"/>
              <a:t>Now, a couple of words about Elasticsearch.</a:t>
            </a:r>
          </a:p>
          <a:p>
            <a:pPr marL="457200" indent="-298450"/>
            <a:r>
              <a:rPr lang="en-US" dirty="0"/>
              <a:t>Generally, our search interface has one free-text field, What, and three structured filters for location, company, and category.</a:t>
            </a:r>
          </a:p>
          <a:p>
            <a:pPr marL="457200" indent="-298450"/>
            <a:r>
              <a:rPr lang="en-US" dirty="0"/>
              <a:t>If the What field is empty, we query PostgreSQL directly using the remaining structured filters and order the results by publication date, newest first.</a:t>
            </a:r>
          </a:p>
          <a:p>
            <a:pPr marL="457200" indent="-298450"/>
            <a:r>
              <a:rPr lang="en-US" dirty="0"/>
              <a:t>If a free-text query is provided, we use Elasticsearch. It performs the full-text search together with the structured filters and ranks the results by relevance. Matches in the title have the highest weight, followed by occupation, company, and category, while the description has the lowest weight.</a:t>
            </a:r>
          </a:p>
          <a:p>
            <a:pPr marL="457200" indent="-298450"/>
            <a:r>
              <a:rPr lang="en-US" dirty="0"/>
              <a:t>Elasticsearch returns the ranked job IDs, and we retrieve the actual job records from PostgreSQL in the same order.</a:t>
            </a:r>
          </a:p>
          <a:p>
            <a:pPr marL="457200" indent="-298450"/>
            <a:r>
              <a:rPr lang="en-US" dirty="0"/>
              <a:t>This way, PostgreSQL remains our authoritative source.</a:t>
            </a:r>
          </a:p>
        </p:txBody>
      </p:sp>
    </p:spTree>
    <p:extLst>
      <p:ext uri="{BB962C8B-B14F-4D97-AF65-F5344CB8AC3E}">
        <p14:creationId xmlns:p14="http://schemas.microsoft.com/office/powerpoint/2010/main" val="1747742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runs as Docker services and is started with Docker Compose.</a:t>
            </a:r>
          </a:p>
          <a:p>
            <a:r>
              <a:rPr lang="en-US" dirty="0"/>
              <a:t>The most important services are obviously frontend, backend and the database.</a:t>
            </a:r>
          </a:p>
          <a:p>
            <a:r>
              <a:rPr lang="en-US" dirty="0"/>
              <a:t>At runtime, Dash communicates with </a:t>
            </a:r>
            <a:r>
              <a:rPr lang="en-US" dirty="0" err="1"/>
              <a:t>FastAPI</a:t>
            </a:r>
            <a:r>
              <a:rPr lang="en-US" dirty="0"/>
              <a:t> over HTTP. The backend reads job data from PostgreSQL and uses Elasticsearch for the free-text search we just discussed.</a:t>
            </a:r>
          </a:p>
          <a:p>
            <a:r>
              <a:rPr lang="en-US" dirty="0"/>
              <a:t>Airflow runs our ETL every morning at six. It updates PostgreSQL and synchronizes Elasticsearch.</a:t>
            </a:r>
          </a:p>
          <a:p>
            <a:r>
              <a:rPr lang="en-US" dirty="0"/>
              <a:t>For monitoring, Prometheus scrapes the backend every 15 seconds, and Grafana visualizes these metrics.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For the ETL metrics we let Airflow push them to </a:t>
            </a:r>
            <a:r>
              <a:rPr lang="en-US" dirty="0" err="1"/>
              <a:t>Pushgateway</a:t>
            </a:r>
            <a:r>
              <a:rPr lang="en-US" dirty="0"/>
              <a:t>.</a:t>
            </a:r>
          </a:p>
          <a:p>
            <a:r>
              <a:rPr lang="en-US" dirty="0" err="1"/>
              <a:t>Alertmanager</a:t>
            </a:r>
            <a:r>
              <a:rPr lang="en-US" dirty="0"/>
              <a:t> raises an alert if there has been no successful ETL run for more than 26 hours.</a:t>
            </a:r>
          </a:p>
          <a:p>
            <a:r>
              <a:rPr lang="en-US" dirty="0"/>
              <a:t>With nine services, this is quite a lot of code and configuration, so we use GitHub Actions for continuous integration to catch problems automatically when the project changes.</a:t>
            </a:r>
          </a:p>
        </p:txBody>
      </p:sp>
    </p:spTree>
    <p:extLst>
      <p:ext uri="{BB962C8B-B14F-4D97-AF65-F5344CB8AC3E}">
        <p14:creationId xmlns:p14="http://schemas.microsoft.com/office/powerpoint/2010/main" val="732733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use GitHub Actions for continuous integration. The workflow runs on every push and on pull requests targeting </a:t>
            </a:r>
            <a:r>
              <a:rPr lang="en-US" sz="1100" b="0" i="0" u="none" strike="noStrike" cap="none" dirty="0">
                <a:solidFill>
                  <a:srgbClr val="000000"/>
                </a:solidFill>
                <a:latin typeface="Arial"/>
                <a:ea typeface="Arial"/>
                <a:cs typeface="Arial"/>
                <a:sym typeface="Arial"/>
              </a:rPr>
              <a:t>main</a:t>
            </a:r>
            <a:r>
              <a:rPr lang="en-US" dirty="0"/>
              <a:t> or </a:t>
            </a:r>
            <a:r>
              <a:rPr lang="en-US" sz="1100" b="0" i="0" u="none" strike="noStrike" cap="none" dirty="0">
                <a:solidFill>
                  <a:srgbClr val="000000"/>
                </a:solidFill>
                <a:latin typeface="Arial"/>
                <a:ea typeface="Arial"/>
                <a:cs typeface="Arial"/>
                <a:sym typeface="Arial"/>
              </a:rPr>
              <a:t>master</a:t>
            </a:r>
            <a:r>
              <a:rPr lang="en-US" dirty="0"/>
              <a:t>.</a:t>
            </a:r>
          </a:p>
          <a:p>
            <a:r>
              <a:rPr lang="en-US" dirty="0"/>
              <a:t>It first prepares the environment by checking out the repository, setting up Python 3.12 and installing the dependencies. It then runs three checks: Black for code formatting, </a:t>
            </a:r>
            <a:r>
              <a:rPr lang="en-US" dirty="0" err="1"/>
              <a:t>pytest</a:t>
            </a:r>
            <a:r>
              <a:rPr lang="en-US" dirty="0"/>
              <a:t> for automated tests, and a Docker build to verify that the application can still be packaged successfully.</a:t>
            </a:r>
          </a:p>
          <a:p>
            <a:r>
              <a:rPr lang="en-US" dirty="0"/>
              <a:t>We configured the </a:t>
            </a:r>
            <a:r>
              <a:rPr lang="en-US" sz="1100" b="0" i="0" u="none" strike="noStrike" cap="none" dirty="0">
                <a:solidFill>
                  <a:srgbClr val="000000"/>
                </a:solidFill>
                <a:latin typeface="Arial"/>
                <a:ea typeface="Arial"/>
                <a:cs typeface="Arial"/>
                <a:sym typeface="Arial"/>
              </a:rPr>
              <a:t>validate</a:t>
            </a:r>
            <a:r>
              <a:rPr lang="en-US" dirty="0"/>
              <a:t> job as a required status check, so if any of these steps fails, the whole workflow fails and the merge is blocked.</a:t>
            </a:r>
          </a:p>
        </p:txBody>
      </p:sp>
    </p:spTree>
    <p:extLst>
      <p:ext uri="{BB962C8B-B14F-4D97-AF65-F5344CB8AC3E}">
        <p14:creationId xmlns:p14="http://schemas.microsoft.com/office/powerpoint/2010/main" val="34954881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dirty="0"/>
              <a:t>and the system is monitored with Prometheus and Grafana.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first limitation is market coverage: we currently use only one data source and selected search terms, so additional sources would improve coverage. Second, our observation period is still short, and freshness and historical trends become more useful over time. Third, our classification is rule-based and therefore has limited semantic understanding; this could be improved with semantic or machine-learning methods. Finally, this is a local demonstration deployment with simplified security and no horizontal scaling, so a production version would require stronger testing, security and deployment infrastructure.</a:t>
            </a:r>
          </a:p>
        </p:txBody>
      </p:sp>
    </p:spTree>
    <p:extLst>
      <p:ext uri="{BB962C8B-B14F-4D97-AF65-F5344CB8AC3E}">
        <p14:creationId xmlns:p14="http://schemas.microsoft.com/office/powerpoint/2010/main" val="18694627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Backend time-series metrics</a:t>
            </a:r>
            <a:r>
              <a:rPr lang="en-US" b="0" dirty="0"/>
              <a:t>:</a:t>
            </a:r>
          </a:p>
          <a:p>
            <a:r>
              <a:rPr lang="en-US" b="0" dirty="0"/>
              <a:t>Job Search Requests Counter → Cumulative number of requests (Grafana converts it into #requests per time window)</a:t>
            </a:r>
          </a:p>
          <a:p>
            <a:r>
              <a:rPr lang="en-US" b="0" dirty="0"/>
              <a:t>Job Search Duration (p95) Histogram → Observations accumulate in histogram buckets (Grafana calculates the 95th percentile over a time window)</a:t>
            </a:r>
          </a:p>
          <a:p>
            <a:r>
              <a:rPr lang="en-US" b="0" dirty="0"/>
              <a:t>Active Database Connections Gauge → Current value that can go up and down</a:t>
            </a:r>
          </a:p>
          <a:p>
            <a:pPr marL="158750" indent="0">
              <a:buNone/>
            </a:pPr>
            <a:endParaRPr lang="en-US" b="0" dirty="0"/>
          </a:p>
          <a:p>
            <a:pPr marL="158750" indent="0">
              <a:buNone/>
            </a:pPr>
            <a:r>
              <a:rPr lang="en-US" dirty="0"/>
              <a:t>ETL state metrics:</a:t>
            </a:r>
          </a:p>
          <a:p>
            <a:pPr lvl="0"/>
            <a:r>
              <a:rPr lang="en-US" b="0" dirty="0"/>
              <a:t>Time Since Last Successful ETL → derived from a Gauge that stores the Unix timestamp of the last successful ETL. </a:t>
            </a:r>
          </a:p>
          <a:p>
            <a:pPr lvl="0"/>
            <a:r>
              <a:rPr lang="en-US" b="0" dirty="0"/>
              <a:t>Last ETL Duration → Gauge storing the duration of the most recent ETL run. </a:t>
            </a:r>
          </a:p>
          <a:p>
            <a:pPr lvl="0"/>
            <a:r>
              <a:rPr lang="en-US" b="0" dirty="0"/>
              <a:t>Geocoding Failures → Gauge storing the number of failed geocoding requests in the most recent ETL run.</a:t>
            </a:r>
          </a:p>
          <a:p>
            <a:endParaRPr lang="en-US" dirty="0"/>
          </a:p>
          <a:p>
            <a:endParaRPr lang="en-US" b="0" dirty="0"/>
          </a:p>
          <a:p>
            <a:endParaRPr lang="en-US" b="0" dirty="0"/>
          </a:p>
          <a:p>
            <a:pPr marL="0" lvl="0" indent="0" algn="l" rtl="0">
              <a:spcBef>
                <a:spcPts val="0"/>
              </a:spcBef>
              <a:spcAft>
                <a:spcPts val="0"/>
              </a:spcAft>
              <a:buNone/>
            </a:pPr>
            <a:endParaRPr b="0" dirty="0"/>
          </a:p>
        </p:txBody>
      </p:sp>
    </p:spTree>
    <p:extLst>
      <p:ext uri="{BB962C8B-B14F-4D97-AF65-F5344CB8AC3E}">
        <p14:creationId xmlns:p14="http://schemas.microsoft.com/office/powerpoint/2010/main" val="2264944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8A5AE8C-369D-91D4-587D-8177342BE1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7A6C1C45-39F9-867E-6E24-3FB46997C4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C00D164-4E9A-4592-8B85-81BBEA7536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7126166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b5a5a12495_0_1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xml"/><Relationship Id="rId1" Type="http://schemas.openxmlformats.org/officeDocument/2006/relationships/slideLayout" Target="../slideLayouts/slideLayout22.xml"/><Relationship Id="rId4" Type="http://schemas.openxmlformats.org/officeDocument/2006/relationships/image" Target="../media/image23.png"/></Relationships>
</file>

<file path=ppt/slides/_rels/slide4.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4.xml"/><Relationship Id="rId16" Type="http://schemas.openxmlformats.org/officeDocument/2006/relationships/image" Target="../media/image35.png"/><Relationship Id="rId1" Type="http://schemas.openxmlformats.org/officeDocument/2006/relationships/slideLayout" Target="../slideLayouts/slideLayout2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3.png"/><Relationship Id="rId15" Type="http://schemas.openxmlformats.org/officeDocument/2006/relationships/image" Target="../media/image34.png"/><Relationship Id="rId10" Type="http://schemas.openxmlformats.org/officeDocument/2006/relationships/image" Target="../media/image29.png"/><Relationship Id="rId19" Type="http://schemas.openxmlformats.org/officeDocument/2006/relationships/image" Target="../media/image38.png"/><Relationship Id="rId4" Type="http://schemas.openxmlformats.org/officeDocument/2006/relationships/image" Target="../media/image24.png"/><Relationship Id="rId9" Type="http://schemas.openxmlformats.org/officeDocument/2006/relationships/image" Target="../media/image28.png"/><Relationship Id="rId14" Type="http://schemas.openxmlformats.org/officeDocument/2006/relationships/image" Target="../media/image33.png"/></Relationships>
</file>

<file path=ppt/slides/_rels/slide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2.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2.xml"/><Relationship Id="rId6" Type="http://schemas.openxmlformats.org/officeDocument/2006/relationships/image" Target="../media/image36.png"/><Relationship Id="rId5" Type="http://schemas.openxmlformats.org/officeDocument/2006/relationships/image" Target="../media/image26.png"/><Relationship Id="rId4" Type="http://schemas.openxmlformats.org/officeDocument/2006/relationships/image" Target="../media/image25.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6.png"/></Relationships>
</file>

<file path=ppt/slides/_rels/slide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3.png"/><Relationship Id="rId3" Type="http://schemas.openxmlformats.org/officeDocument/2006/relationships/image" Target="../media/image22.png"/><Relationship Id="rId7" Type="http://schemas.openxmlformats.org/officeDocument/2006/relationships/image" Target="../media/image36.png"/><Relationship Id="rId12"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5.png"/><Relationship Id="rId11" Type="http://schemas.openxmlformats.org/officeDocument/2006/relationships/image" Target="../media/image34.png"/><Relationship Id="rId5" Type="http://schemas.openxmlformats.org/officeDocument/2006/relationships/image" Target="../media/image29.png"/><Relationship Id="rId15" Type="http://schemas.openxmlformats.org/officeDocument/2006/relationships/image" Target="../media/image38.png"/><Relationship Id="rId10" Type="http://schemas.openxmlformats.org/officeDocument/2006/relationships/image" Target="../media/image27.png"/><Relationship Id="rId4" Type="http://schemas.openxmlformats.org/officeDocument/2006/relationships/image" Target="../media/image28.png"/><Relationship Id="rId9" Type="http://schemas.openxmlformats.org/officeDocument/2006/relationships/image" Target="../media/image41.png"/><Relationship Id="rId14" Type="http://schemas.openxmlformats.org/officeDocument/2006/relationships/image" Target="../media/image39.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2.xml"/><Relationship Id="rId6" Type="http://schemas.openxmlformats.org/officeDocument/2006/relationships/image" Target="../media/image49.gif"/><Relationship Id="rId5" Type="http://schemas.openxmlformats.org/officeDocument/2006/relationships/image" Target="../media/image48.png"/><Relationship Id="rId4" Type="http://schemas.openxmlformats.org/officeDocument/2006/relationships/image" Target="../media/image47.jp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2.xml"/><Relationship Id="rId6" Type="http://schemas.openxmlformats.org/officeDocument/2006/relationships/image" Target="../media/image28.png"/><Relationship Id="rId5" Type="http://schemas.openxmlformats.org/officeDocument/2006/relationships/image" Target="../media/image43.png"/><Relationship Id="rId10" Type="http://schemas.openxmlformats.org/officeDocument/2006/relationships/image" Target="../media/image51.png"/><Relationship Id="rId4" Type="http://schemas.openxmlformats.org/officeDocument/2006/relationships/image" Target="../media/image42.png"/><Relationship Id="rId9" Type="http://schemas.openxmlformats.org/officeDocument/2006/relationships/image" Target="../media/image37.png"/></Relationships>
</file>

<file path=ppt/slides/_rels/slide1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2.xml"/><Relationship Id="rId6" Type="http://schemas.openxmlformats.org/officeDocument/2006/relationships/image" Target="../media/image27.png"/><Relationship Id="rId11" Type="http://schemas.openxmlformats.org/officeDocument/2006/relationships/image" Target="../media/image40.png"/><Relationship Id="rId5" Type="http://schemas.openxmlformats.org/officeDocument/2006/relationships/image" Target="../media/image22.png"/><Relationship Id="rId10" Type="http://schemas.openxmlformats.org/officeDocument/2006/relationships/image" Target="../media/image39.png"/><Relationship Id="rId4" Type="http://schemas.openxmlformats.org/officeDocument/2006/relationships/image" Target="../media/image36.pn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9.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5.png"/><Relationship Id="rId2" Type="http://schemas.openxmlformats.org/officeDocument/2006/relationships/notesSlide" Target="../notesSlides/notesSlide16.xml"/><Relationship Id="rId16" Type="http://schemas.openxmlformats.org/officeDocument/2006/relationships/image" Target="../media/image34.png"/><Relationship Id="rId20" Type="http://schemas.openxmlformats.org/officeDocument/2006/relationships/image" Target="../media/image38.png"/><Relationship Id="rId1" Type="http://schemas.openxmlformats.org/officeDocument/2006/relationships/slideLayout" Target="../slideLayouts/slideLayout2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3.png"/><Relationship Id="rId15" Type="http://schemas.openxmlformats.org/officeDocument/2006/relationships/image" Target="../media/image36.png"/><Relationship Id="rId10" Type="http://schemas.openxmlformats.org/officeDocument/2006/relationships/image" Target="../media/image29.png"/><Relationship Id="rId19" Type="http://schemas.openxmlformats.org/officeDocument/2006/relationships/image" Target="../media/image37.png"/><Relationship Id="rId4" Type="http://schemas.openxmlformats.org/officeDocument/2006/relationships/image" Target="../media/image24.png"/><Relationship Id="rId9" Type="http://schemas.openxmlformats.org/officeDocument/2006/relationships/image" Target="../media/image28.png"/><Relationship Id="rId1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p:nvPr/>
        </p:nvSpPr>
        <p:spPr>
          <a:xfrm>
            <a:off x="198000" y="2167813"/>
            <a:ext cx="6173934" cy="307777"/>
          </a:xfrm>
          <a:prstGeom prst="rect">
            <a:avLst/>
          </a:prstGeom>
          <a:noFill/>
        </p:spPr>
        <p:txBody>
          <a:bodyPr wrap="square" rtlCol="0">
            <a:spAutoFit/>
          </a:bodyPr>
          <a:lstStyle/>
          <a:p>
            <a:r>
              <a:rPr lang="en-US" dirty="0">
                <a:solidFill>
                  <a:schemeClr val="bg1"/>
                </a:solidFill>
              </a:rPr>
              <a:t>Sergey Krutikov, François </a:t>
            </a:r>
            <a:r>
              <a:rPr lang="en-US" dirty="0" err="1">
                <a:solidFill>
                  <a:schemeClr val="bg1"/>
                </a:solidFill>
              </a:rPr>
              <a:t>Grygoryan</a:t>
            </a:r>
            <a:r>
              <a:rPr lang="en-US" dirty="0">
                <a:solidFill>
                  <a:schemeClr val="bg1"/>
                </a:solidFill>
              </a:rPr>
              <a:t>-Rolland, Ahmet Günay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69D3DF90-3B61-8947-23E5-081DF445B5C6}"/>
              </a:ext>
            </a:extLst>
          </p:cNvPr>
          <p:cNvSpPr txBox="1"/>
          <p:nvPr/>
        </p:nvSpPr>
        <p:spPr>
          <a:xfrm>
            <a:off x="1106598" y="1212691"/>
            <a:ext cx="6930803" cy="2462213"/>
          </a:xfrm>
          <a:prstGeom prst="rect">
            <a:avLst/>
          </a:prstGeom>
          <a:noFill/>
        </p:spPr>
        <p:txBody>
          <a:bodyPr wrap="square" rtlCol="0">
            <a:spAutoFit/>
          </a:bodyPr>
          <a:lstStyle/>
          <a:p>
            <a:pPr marL="285750" lvl="0" indent="-285750" algn="just">
              <a:buFont typeface="Arial" panose="020B0604020202020204" pitchFamily="34" charset="0"/>
              <a:buChar char="•"/>
            </a:pPr>
            <a:r>
              <a:rPr lang="en-US" dirty="0"/>
              <a:t>Job advertisements contain useful information about the </a:t>
            </a:r>
            <a:r>
              <a:rPr lang="en-US" dirty="0" err="1"/>
              <a:t>labour</a:t>
            </a:r>
            <a:r>
              <a:rPr lang="en-US" dirty="0"/>
              <a:t> market, such as </a:t>
            </a:r>
            <a:r>
              <a:rPr lang="en-US" b="1" dirty="0"/>
              <a:t>occupations</a:t>
            </a:r>
            <a:r>
              <a:rPr lang="en-US" dirty="0"/>
              <a:t>, </a:t>
            </a:r>
            <a:r>
              <a:rPr lang="en-US" b="1" dirty="0"/>
              <a:t>companies</a:t>
            </a:r>
            <a:r>
              <a:rPr lang="en-US" dirty="0"/>
              <a:t>, and </a:t>
            </a:r>
            <a:r>
              <a:rPr lang="en-US" b="1" dirty="0"/>
              <a:t>locations</a:t>
            </a:r>
            <a:r>
              <a:rPr lang="en-US" dirty="0"/>
              <a:t>.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The job market is </a:t>
            </a:r>
            <a:r>
              <a:rPr lang="en-US" b="1" dirty="0"/>
              <a:t>continuously</a:t>
            </a:r>
            <a:r>
              <a:rPr lang="en-US" dirty="0"/>
              <a:t> </a:t>
            </a:r>
            <a:r>
              <a:rPr lang="en-US" b="1" dirty="0"/>
              <a:t>changing:</a:t>
            </a:r>
            <a:r>
              <a:rPr lang="en-US" dirty="0"/>
              <a:t> new advertisements appear, existing ones are modified or republished, and others disappear.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A </a:t>
            </a:r>
            <a:r>
              <a:rPr lang="en-US" b="1" dirty="0"/>
              <a:t>single</a:t>
            </a:r>
            <a:r>
              <a:rPr lang="en-US" dirty="0"/>
              <a:t> </a:t>
            </a:r>
            <a:r>
              <a:rPr lang="en-US" b="1" dirty="0"/>
              <a:t>snapshot</a:t>
            </a:r>
            <a:r>
              <a:rPr lang="en-US" dirty="0"/>
              <a:t> is therefore </a:t>
            </a:r>
            <a:r>
              <a:rPr lang="en-US" b="1" dirty="0"/>
              <a:t>not enough </a:t>
            </a:r>
            <a:r>
              <a:rPr lang="en-US" dirty="0"/>
              <a:t>to observe these changes over time.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Our goal is to </a:t>
            </a:r>
            <a:r>
              <a:rPr lang="en-US" b="1" dirty="0"/>
              <a:t>collect</a:t>
            </a:r>
            <a:r>
              <a:rPr lang="en-US" dirty="0"/>
              <a:t> job advertisements </a:t>
            </a:r>
            <a:r>
              <a:rPr lang="en-US" b="1" dirty="0"/>
              <a:t>regularly</a:t>
            </a:r>
            <a:r>
              <a:rPr lang="en-US" dirty="0"/>
              <a:t> and turn them into structured data that can be </a:t>
            </a:r>
            <a:r>
              <a:rPr lang="en-US" b="1" dirty="0"/>
              <a:t>searched and </a:t>
            </a:r>
            <a:r>
              <a:rPr lang="en-US" b="1" dirty="0" err="1"/>
              <a:t>analysed</a:t>
            </a:r>
            <a:r>
              <a:rPr lang="en-US" dirty="0"/>
              <a:t>.</a:t>
            </a:r>
          </a:p>
          <a:p>
            <a:pPr algn="just"/>
            <a:endParaRPr lang="en-US" dirty="0"/>
          </a:p>
        </p:txBody>
      </p:sp>
    </p:spTree>
    <p:extLst>
      <p:ext uri="{BB962C8B-B14F-4D97-AF65-F5344CB8AC3E}">
        <p14:creationId xmlns:p14="http://schemas.microsoft.com/office/powerpoint/2010/main" val="3379445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err="1">
                <a:latin typeface="Work Sans"/>
                <a:ea typeface="Work Sans"/>
                <a:cs typeface="Work Sans"/>
                <a:sym typeface="Work Sans"/>
              </a:rPr>
              <a:t>Arbeitsagentur</a:t>
            </a:r>
            <a:r>
              <a:rPr lang="en-US" b="1" dirty="0">
                <a:latin typeface="Work Sans"/>
                <a:ea typeface="Work Sans"/>
                <a:cs typeface="Work Sans"/>
                <a:sym typeface="Work Sans"/>
              </a:rPr>
              <a:t>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03040"/>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7785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499675" y="1588570"/>
            <a:ext cx="1332417" cy="29950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summary</a:t>
            </a:r>
          </a:p>
        </p:txBody>
      </p:sp>
      <p:sp>
        <p:nvSpPr>
          <p:cNvPr id="46" name="Rectangle 45">
            <a:extLst>
              <a:ext uri="{FF2B5EF4-FFF2-40B4-BE49-F238E27FC236}">
                <a16:creationId xmlns:a16="http://schemas.microsoft.com/office/drawing/2014/main" id="{B58A120E-955F-AEE4-CB78-16E44FD3B0B6}"/>
              </a:ext>
            </a:extLst>
          </p:cNvPr>
          <p:cNvSpPr/>
          <p:nvPr/>
        </p:nvSpPr>
        <p:spPr>
          <a:xfrm>
            <a:off x="3499674" y="2181836"/>
            <a:ext cx="1332417" cy="30553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summary</a:t>
            </a:r>
          </a:p>
        </p:txBody>
      </p:sp>
      <p:sp>
        <p:nvSpPr>
          <p:cNvPr id="49" name="Rectangle 48">
            <a:extLst>
              <a:ext uri="{FF2B5EF4-FFF2-40B4-BE49-F238E27FC236}">
                <a16:creationId xmlns:a16="http://schemas.microsoft.com/office/drawing/2014/main" id="{71E435B9-FD8B-239B-7931-CBF905ED7B59}"/>
              </a:ext>
            </a:extLst>
          </p:cNvPr>
          <p:cNvSpPr/>
          <p:nvPr/>
        </p:nvSpPr>
        <p:spPr>
          <a:xfrm>
            <a:off x="3499676" y="2781127"/>
            <a:ext cx="1332415" cy="28680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6870608" y="159714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34693"/>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53902"/>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399476"/>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510398" y="3361695"/>
            <a:ext cx="1330025" cy="2942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summary</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a:off x="2884382" y="1731439"/>
            <a:ext cx="615293" cy="688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4832092" y="1738324"/>
            <a:ext cx="1013461" cy="7998"/>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a:off x="6290281" y="1746322"/>
            <a:ext cx="580327" cy="322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1523959"/>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4840424" y="1471441"/>
            <a:ext cx="937441" cy="276999"/>
          </a:xfrm>
          <a:prstGeom prst="rect">
            <a:avLst/>
          </a:prstGeom>
          <a:noFill/>
        </p:spPr>
        <p:txBody>
          <a:bodyPr wrap="square" rtlCol="0">
            <a:spAutoFit/>
          </a:bodyPr>
          <a:lstStyle/>
          <a:p>
            <a:pPr algn="ctr"/>
            <a:r>
              <a:rPr lang="en-US" sz="1200" dirty="0"/>
              <a:t>ID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890446" y="1725374"/>
            <a:ext cx="374764" cy="843692"/>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308712" y="2307108"/>
            <a:ext cx="1548957" cy="85441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6870607" y="2189566"/>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a:off x="4832091" y="2334602"/>
            <a:ext cx="1013462" cy="631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a:off x="6290281" y="2340919"/>
            <a:ext cx="580326" cy="104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2118556"/>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4840423" y="2074236"/>
            <a:ext cx="937442" cy="276999"/>
          </a:xfrm>
          <a:prstGeom prst="rect">
            <a:avLst/>
          </a:prstGeom>
          <a:noFill/>
        </p:spPr>
        <p:txBody>
          <a:bodyPr wrap="square" rtlCol="0">
            <a:spAutoFit/>
          </a:bodyPr>
          <a:lstStyle/>
          <a:p>
            <a:pPr algn="ctr"/>
            <a:r>
              <a:rPr lang="en-US" sz="1200" dirty="0"/>
              <a:t>ID 2</a:t>
            </a:r>
          </a:p>
        </p:txBody>
      </p:sp>
      <p:sp>
        <p:nvSpPr>
          <p:cNvPr id="645" name="Rectangle 644">
            <a:extLst>
              <a:ext uri="{FF2B5EF4-FFF2-40B4-BE49-F238E27FC236}">
                <a16:creationId xmlns:a16="http://schemas.microsoft.com/office/drawing/2014/main" id="{13D1585E-C127-DE77-D2E3-AD73E25094EA}"/>
              </a:ext>
            </a:extLst>
          </p:cNvPr>
          <p:cNvSpPr/>
          <p:nvPr/>
        </p:nvSpPr>
        <p:spPr>
          <a:xfrm>
            <a:off x="6804209" y="3358367"/>
            <a:ext cx="1144897" cy="29752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4840423" y="3507131"/>
            <a:ext cx="1005130" cy="1664"/>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a:off x="6290281" y="3507131"/>
            <a:ext cx="51392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3284768"/>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4840423" y="3240448"/>
            <a:ext cx="937442" cy="276999"/>
          </a:xfrm>
          <a:prstGeom prst="rect">
            <a:avLst/>
          </a:prstGeom>
          <a:noFill/>
        </p:spPr>
        <p:txBody>
          <a:bodyPr wrap="square" rtlCol="0">
            <a:spAutoFit/>
          </a:bodyPr>
          <a:lstStyle/>
          <a:p>
            <a:pPr algn="ctr"/>
            <a:r>
              <a:rPr lang="en-US" sz="1200" dirty="0"/>
              <a:t>ID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595482" y="2020338"/>
            <a:ext cx="964694" cy="843694"/>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79329"/>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31439"/>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2656959" y="4095637"/>
            <a:ext cx="4668765" cy="355654"/>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  </a:t>
            </a:r>
            <a:r>
              <a:rPr lang="en-US" sz="1200" dirty="0">
                <a:solidFill>
                  <a:schemeClr val="accent6">
                    <a:lumMod val="95000"/>
                  </a:schemeClr>
                </a:solidFill>
              </a:rPr>
              <a:t>title | occupation | … | publication date | 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2692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30259"/>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427582" y="1234710"/>
            <a:ext cx="811736"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5777865" y="1240308"/>
            <a:ext cx="1360896" cy="246221"/>
          </a:xfrm>
          <a:prstGeom prst="rect">
            <a:avLst/>
          </a:prstGeom>
          <a:noFill/>
        </p:spPr>
        <p:txBody>
          <a:bodyPr wrap="square" rtlCol="0">
            <a:spAutoFit/>
          </a:bodyPr>
          <a:lstStyle/>
          <a:p>
            <a:pPr algn="ctr"/>
            <a:r>
              <a:rPr lang="en-US" sz="1000" b="1" dirty="0"/>
              <a:t>GET /</a:t>
            </a:r>
            <a:r>
              <a:rPr lang="en-US" sz="1000" b="1" dirty="0" err="1"/>
              <a:t>jobdetails</a:t>
            </a:r>
            <a:r>
              <a:rPr lang="en-US" sz="1000" b="1" dirty="0"/>
              <a:t>{ID}</a:t>
            </a:r>
          </a:p>
        </p:txBody>
      </p:sp>
      <p:grpSp>
        <p:nvGrpSpPr>
          <p:cNvPr id="14" name="Group 13">
            <a:extLst>
              <a:ext uri="{FF2B5EF4-FFF2-40B4-BE49-F238E27FC236}">
                <a16:creationId xmlns:a16="http://schemas.microsoft.com/office/drawing/2014/main" id="{5D8CC33A-E28C-5194-F2E9-969C48650233}"/>
              </a:ext>
            </a:extLst>
          </p:cNvPr>
          <p:cNvGrpSpPr/>
          <p:nvPr/>
        </p:nvGrpSpPr>
        <p:grpSpPr>
          <a:xfrm>
            <a:off x="2280476" y="747600"/>
            <a:ext cx="2710868" cy="3124729"/>
            <a:chOff x="756203" y="620303"/>
            <a:chExt cx="2710868" cy="3124729"/>
          </a:xfrm>
        </p:grpSpPr>
        <p:sp>
          <p:nvSpPr>
            <p:cNvPr id="15" name="Rectangle 14">
              <a:extLst>
                <a:ext uri="{FF2B5EF4-FFF2-40B4-BE49-F238E27FC236}">
                  <a16:creationId xmlns:a16="http://schemas.microsoft.com/office/drawing/2014/main" id="{BC82264C-29E4-B5EC-5173-9EB51365314A}"/>
                </a:ext>
              </a:extLst>
            </p:cNvPr>
            <p:cNvSpPr/>
            <p:nvPr/>
          </p:nvSpPr>
          <p:spPr>
            <a:xfrm>
              <a:off x="756205" y="620303"/>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93EB2D5B-90B7-7E78-B8F1-6B1282EF2AF8}"/>
                </a:ext>
              </a:extLst>
            </p:cNvPr>
            <p:cNvSpPr txBox="1"/>
            <p:nvPr/>
          </p:nvSpPr>
          <p:spPr>
            <a:xfrm>
              <a:off x="756203" y="620303"/>
              <a:ext cx="271086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1) Get a list of job summaries </a:t>
              </a:r>
            </a:p>
          </p:txBody>
        </p:sp>
      </p:grpSp>
      <p:grpSp>
        <p:nvGrpSpPr>
          <p:cNvPr id="17" name="Group 16">
            <a:extLst>
              <a:ext uri="{FF2B5EF4-FFF2-40B4-BE49-F238E27FC236}">
                <a16:creationId xmlns:a16="http://schemas.microsoft.com/office/drawing/2014/main" id="{5AD0B565-EABA-F13C-FD46-F0EDD71980BF}"/>
              </a:ext>
            </a:extLst>
          </p:cNvPr>
          <p:cNvGrpSpPr/>
          <p:nvPr/>
        </p:nvGrpSpPr>
        <p:grpSpPr>
          <a:xfrm>
            <a:off x="5606636" y="751260"/>
            <a:ext cx="2710869" cy="3124729"/>
            <a:chOff x="756202" y="620302"/>
            <a:chExt cx="2710869" cy="3124729"/>
          </a:xfrm>
        </p:grpSpPr>
        <p:sp>
          <p:nvSpPr>
            <p:cNvPr id="18" name="Rectangle 17">
              <a:extLst>
                <a:ext uri="{FF2B5EF4-FFF2-40B4-BE49-F238E27FC236}">
                  <a16:creationId xmlns:a16="http://schemas.microsoft.com/office/drawing/2014/main" id="{18A72EC9-9FE2-DD9D-2D68-6FA9E177AA3E}"/>
                </a:ext>
              </a:extLst>
            </p:cNvPr>
            <p:cNvSpPr/>
            <p:nvPr/>
          </p:nvSpPr>
          <p:spPr>
            <a:xfrm>
              <a:off x="756205" y="620302"/>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F1B5E146-593D-4E6A-2F92-AD205E63A440}"/>
                </a:ext>
              </a:extLst>
            </p:cNvPr>
            <p:cNvSpPr txBox="1"/>
            <p:nvPr/>
          </p:nvSpPr>
          <p:spPr>
            <a:xfrm>
              <a:off x="756202" y="620303"/>
              <a:ext cx="2710865"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2) Get job details for each ID</a:t>
              </a:r>
            </a:p>
          </p:txBody>
        </p:sp>
      </p:grpSp>
    </p:spTree>
    <p:extLst>
      <p:ext uri="{BB962C8B-B14F-4D97-AF65-F5344CB8AC3E}">
        <p14:creationId xmlns:p14="http://schemas.microsoft.com/office/powerpoint/2010/main" val="652692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E1EAE5B8-303D-1298-4E33-2B8F241EDA6B}"/>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61A1BC26-6E05-5C6A-2A20-BAF1F6E79BA5}"/>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5419DE-FA0A-85F6-B347-8981B5DB121F}"/>
              </a:ext>
            </a:extLst>
          </p:cNvPr>
          <p:cNvPicPr preferRelativeResize="0">
            <a:picLocks/>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A93534E7-FC14-DB92-9A46-F73AC9755CFD}"/>
              </a:ext>
            </a:extLst>
          </p:cNvPr>
          <p:cNvPicPr preferRelativeResize="0">
            <a:picLocks/>
          </p:cNvPicPr>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14DAE253-7465-90A5-AC34-913CB3C17248}"/>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E30B2F4E-92E4-4E0D-F22D-310D2F80226A}"/>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327FF3FB-5378-D148-8504-945568143D7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0B463696-4E26-934D-48E4-61AE595DF748}"/>
              </a:ext>
            </a:extLst>
          </p:cNvPr>
          <p:cNvGrpSpPr/>
          <p:nvPr/>
        </p:nvGrpSpPr>
        <p:grpSpPr>
          <a:xfrm>
            <a:off x="3436362" y="756895"/>
            <a:ext cx="863446" cy="423153"/>
            <a:chOff x="1457875" y="2258330"/>
            <a:chExt cx="863446" cy="423153"/>
          </a:xfrm>
          <a:solidFill>
            <a:schemeClr val="bg2">
              <a:lumMod val="50000"/>
              <a:lumOff val="50000"/>
            </a:schemeClr>
          </a:solidFill>
        </p:grpSpPr>
        <p:sp>
          <p:nvSpPr>
            <p:cNvPr id="35" name="Rectangle 34">
              <a:extLst>
                <a:ext uri="{FF2B5EF4-FFF2-40B4-BE49-F238E27FC236}">
                  <a16:creationId xmlns:a16="http://schemas.microsoft.com/office/drawing/2014/main" id="{53C6E216-E262-706F-3102-64F2BC1C0820}"/>
                </a:ext>
              </a:extLst>
            </p:cNvPr>
            <p:cNvSpPr/>
            <p:nvPr/>
          </p:nvSpPr>
          <p:spPr>
            <a:xfrm>
              <a:off x="1457875" y="2258330"/>
              <a:ext cx="863446"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API</a:t>
              </a:r>
            </a:p>
          </p:txBody>
        </p:sp>
        <p:pic>
          <p:nvPicPr>
            <p:cNvPr id="3" name="Picture 2">
              <a:extLst>
                <a:ext uri="{FF2B5EF4-FFF2-40B4-BE49-F238E27FC236}">
                  <a16:creationId xmlns:a16="http://schemas.microsoft.com/office/drawing/2014/main" id="{CC23C87E-017F-A2C2-44A2-2196366D2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1416" y="2310153"/>
              <a:ext cx="326543" cy="326543"/>
            </a:xfrm>
            <a:prstGeom prst="rect">
              <a:avLst/>
            </a:prstGeom>
            <a:grpFill/>
            <a:ln>
              <a:noFill/>
            </a:ln>
          </p:spPr>
        </p:pic>
      </p:grpSp>
      <p:pic>
        <p:nvPicPr>
          <p:cNvPr id="44" name="Picture 43">
            <a:extLst>
              <a:ext uri="{FF2B5EF4-FFF2-40B4-BE49-F238E27FC236}">
                <a16:creationId xmlns:a16="http://schemas.microsoft.com/office/drawing/2014/main" id="{EBF5DEB3-23D5-F52A-B7AD-74E9B3056A2B}"/>
              </a:ext>
            </a:extLst>
          </p:cNvPr>
          <p:cNvPicPr>
            <a:picLocks noChangeAspect="1"/>
          </p:cNvPicPr>
          <p:nvPr/>
        </p:nvPicPr>
        <p:blipFill>
          <a:blip r:embed="rId6"/>
          <a:stretch>
            <a:fillRect/>
          </a:stretch>
        </p:blipFill>
        <p:spPr>
          <a:xfrm>
            <a:off x="6556879" y="1750129"/>
            <a:ext cx="473331" cy="423153"/>
          </a:xfrm>
          <a:prstGeom prst="rect">
            <a:avLst/>
          </a:prstGeom>
        </p:spPr>
      </p:pic>
      <p:pic>
        <p:nvPicPr>
          <p:cNvPr id="46" name="Picture 45">
            <a:extLst>
              <a:ext uri="{FF2B5EF4-FFF2-40B4-BE49-F238E27FC236}">
                <a16:creationId xmlns:a16="http://schemas.microsoft.com/office/drawing/2014/main" id="{E22BF4A8-BEB5-4997-BD0B-BD85D9A1DE67}"/>
              </a:ext>
            </a:extLst>
          </p:cNvPr>
          <p:cNvPicPr>
            <a:picLocks noChangeAspect="1"/>
          </p:cNvPicPr>
          <p:nvPr/>
        </p:nvPicPr>
        <p:blipFill>
          <a:blip r:embed="rId7"/>
          <a:stretch>
            <a:fillRect/>
          </a:stretch>
        </p:blipFill>
        <p:spPr>
          <a:xfrm>
            <a:off x="1115768" y="1731813"/>
            <a:ext cx="393496" cy="452741"/>
          </a:xfrm>
          <a:prstGeom prst="rect">
            <a:avLst/>
          </a:prstGeom>
        </p:spPr>
      </p:pic>
      <p:sp>
        <p:nvSpPr>
          <p:cNvPr id="630" name="TextBox 629">
            <a:extLst>
              <a:ext uri="{FF2B5EF4-FFF2-40B4-BE49-F238E27FC236}">
                <a16:creationId xmlns:a16="http://schemas.microsoft.com/office/drawing/2014/main" id="{A38710E4-3778-16C8-B141-BF79360A950A}"/>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pages (JSON)</a:t>
            </a:r>
          </a:p>
        </p:txBody>
      </p:sp>
      <p:pic>
        <p:nvPicPr>
          <p:cNvPr id="661" name="Picture 660">
            <a:extLst>
              <a:ext uri="{FF2B5EF4-FFF2-40B4-BE49-F238E27FC236}">
                <a16:creationId xmlns:a16="http://schemas.microsoft.com/office/drawing/2014/main" id="{D3A61941-2F9C-AE34-FE72-E0F9AC3D345A}"/>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1CA6FCA-F42B-7415-A413-0E3307F298EF}"/>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0A1E5BA3-8DA0-4A79-5EDD-9ED4ECA8F8ED}"/>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pages + cleaned data</a:t>
            </a:r>
          </a:p>
        </p:txBody>
      </p:sp>
      <p:sp>
        <p:nvSpPr>
          <p:cNvPr id="681" name="TextBox 680">
            <a:extLst>
              <a:ext uri="{FF2B5EF4-FFF2-40B4-BE49-F238E27FC236}">
                <a16:creationId xmlns:a16="http://schemas.microsoft.com/office/drawing/2014/main" id="{42F77EB2-BCD3-C1D9-5243-DA5D55B156C3}"/>
              </a:ext>
            </a:extLst>
          </p:cNvPr>
          <p:cNvSpPr txBox="1"/>
          <p:nvPr/>
        </p:nvSpPr>
        <p:spPr>
          <a:xfrm>
            <a:off x="756203" y="2164981"/>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636146DA-665B-D601-C716-F0FBD5DE912D}"/>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2FC24F0A-662F-E051-F1C9-AA7F1328A790}"/>
              </a:ext>
            </a:extLst>
          </p:cNvPr>
          <p:cNvPicPr>
            <a:picLocks noChangeAspect="1"/>
          </p:cNvPicPr>
          <p:nvPr/>
        </p:nvPicPr>
        <p:blipFill>
          <a:blip r:embed="rId10"/>
          <a:stretch>
            <a:fillRect/>
          </a:stretch>
        </p:blipFill>
        <p:spPr>
          <a:xfrm>
            <a:off x="4741521" y="3442311"/>
            <a:ext cx="690489" cy="509775"/>
          </a:xfrm>
          <a:prstGeom prst="rect">
            <a:avLst/>
          </a:prstGeom>
        </p:spPr>
      </p:pic>
      <p:pic>
        <p:nvPicPr>
          <p:cNvPr id="721" name="Picture 720">
            <a:extLst>
              <a:ext uri="{FF2B5EF4-FFF2-40B4-BE49-F238E27FC236}">
                <a16:creationId xmlns:a16="http://schemas.microsoft.com/office/drawing/2014/main" id="{DC3CF0A3-4679-3420-1F86-C5597748D98F}"/>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87E703C0-E4FB-0185-4987-519BBC96B551}"/>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057ADC65-E996-04A1-E6F0-88816A35FB08}"/>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376E0B26-0477-FB9B-94B4-E05281569776}"/>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4A6E8BA2-148A-26B6-6A2E-10B619CEB40B}"/>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300DA765-7C0B-D302-37F5-BD5F0C69F9DE}"/>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802810FD-50E6-9A50-8E3A-6542EF8790F5}"/>
              </a:ext>
            </a:extLst>
          </p:cNvPr>
          <p:cNvCxnSpPr>
            <a:cxnSpLocks/>
            <a:stCxn id="11" idx="3"/>
            <a:endCxn id="44" idx="1"/>
          </p:cNvCxnSpPr>
          <p:nvPr/>
        </p:nvCxnSpPr>
        <p:spPr>
          <a:xfrm>
            <a:off x="4297300" y="1960515"/>
            <a:ext cx="2259579"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EEB4A253-3780-59E3-4D9B-E4522364CA6B}"/>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559F5E5-76FB-8477-544C-9149EDFDFD1F}"/>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631AF80A-EF7C-60D5-FCA9-2C1A0D4285E0}"/>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E7F1C9EB-F46D-53C7-4868-95628482017D}"/>
              </a:ext>
            </a:extLst>
          </p:cNvPr>
          <p:cNvCxnSpPr>
            <a:cxnSpLocks/>
            <a:stCxn id="11" idx="1"/>
            <a:endCxn id="46" idx="3"/>
          </p:cNvCxnSpPr>
          <p:nvPr/>
        </p:nvCxnSpPr>
        <p:spPr>
          <a:xfrm flipH="1" flipV="1">
            <a:off x="1509264" y="1958184"/>
            <a:ext cx="1929612" cy="233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6" name="Group 5">
            <a:extLst>
              <a:ext uri="{FF2B5EF4-FFF2-40B4-BE49-F238E27FC236}">
                <a16:creationId xmlns:a16="http://schemas.microsoft.com/office/drawing/2014/main" id="{7B976F51-FB89-285A-3077-9FDC93C06708}"/>
              </a:ext>
            </a:extLst>
          </p:cNvPr>
          <p:cNvGrpSpPr/>
          <p:nvPr/>
        </p:nvGrpSpPr>
        <p:grpSpPr>
          <a:xfrm>
            <a:off x="756202" y="620303"/>
            <a:ext cx="5483449" cy="1883507"/>
            <a:chOff x="756203" y="620303"/>
            <a:chExt cx="5119894" cy="1883507"/>
          </a:xfrm>
        </p:grpSpPr>
        <p:sp>
          <p:nvSpPr>
            <p:cNvPr id="29" name="Rectangle 28">
              <a:extLst>
                <a:ext uri="{FF2B5EF4-FFF2-40B4-BE49-F238E27FC236}">
                  <a16:creationId xmlns:a16="http://schemas.microsoft.com/office/drawing/2014/main" id="{CA2FD163-7C5A-613E-35B1-7C541EACEA08}"/>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4B52172-F7DD-C64A-B9BC-9AE57D9927E5}"/>
                </a:ext>
              </a:extLst>
            </p:cNvPr>
            <p:cNvSpPr txBox="1"/>
            <p:nvPr/>
          </p:nvSpPr>
          <p:spPr>
            <a:xfrm>
              <a:off x="756203" y="620303"/>
              <a:ext cx="914400"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a:t>
              </a:r>
            </a:p>
          </p:txBody>
        </p:sp>
      </p:grpSp>
      <p:grpSp>
        <p:nvGrpSpPr>
          <p:cNvPr id="12" name="Group 11">
            <a:extLst>
              <a:ext uri="{FF2B5EF4-FFF2-40B4-BE49-F238E27FC236}">
                <a16:creationId xmlns:a16="http://schemas.microsoft.com/office/drawing/2014/main" id="{F0DE7B8A-B6E6-F9BB-869A-6617D0CD3CA7}"/>
              </a:ext>
            </a:extLst>
          </p:cNvPr>
          <p:cNvGrpSpPr/>
          <p:nvPr/>
        </p:nvGrpSpPr>
        <p:grpSpPr>
          <a:xfrm>
            <a:off x="756203" y="2740982"/>
            <a:ext cx="5483448" cy="1782826"/>
            <a:chOff x="756203" y="2740982"/>
            <a:chExt cx="5119894" cy="1782826"/>
          </a:xfrm>
        </p:grpSpPr>
        <p:sp>
          <p:nvSpPr>
            <p:cNvPr id="31" name="Rectangle 30">
              <a:extLst>
                <a:ext uri="{FF2B5EF4-FFF2-40B4-BE49-F238E27FC236}">
                  <a16:creationId xmlns:a16="http://schemas.microsoft.com/office/drawing/2014/main" id="{ADBAEA6E-7FFD-D67E-CAA0-C82184E47991}"/>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0E03FA98-5C09-B126-E3A9-4239B47DBE17}"/>
                </a:ext>
              </a:extLst>
            </p:cNvPr>
            <p:cNvSpPr txBox="1"/>
            <p:nvPr/>
          </p:nvSpPr>
          <p:spPr>
            <a:xfrm>
              <a:off x="766079" y="2754037"/>
              <a:ext cx="891051"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Runtime</a:t>
              </a:r>
            </a:p>
          </p:txBody>
        </p:sp>
      </p:grpSp>
      <p:pic>
        <p:nvPicPr>
          <p:cNvPr id="7" name="Picture 6">
            <a:extLst>
              <a:ext uri="{FF2B5EF4-FFF2-40B4-BE49-F238E27FC236}">
                <a16:creationId xmlns:a16="http://schemas.microsoft.com/office/drawing/2014/main" id="{41ED3C5F-4A1D-5AAB-AA88-C72516AA5CB6}"/>
              </a:ext>
            </a:extLst>
          </p:cNvPr>
          <p:cNvPicPr>
            <a:picLocks noChangeAspect="1"/>
          </p:cNvPicPr>
          <p:nvPr/>
        </p:nvPicPr>
        <p:blipFill>
          <a:blip r:embed="rId15"/>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FB83EBFB-6E5B-C7BF-10D4-E8B394483159}"/>
              </a:ext>
            </a:extLst>
          </p:cNvPr>
          <p:cNvPicPr>
            <a:picLocks noChangeAspect="1"/>
          </p:cNvPicPr>
          <p:nvPr/>
        </p:nvPicPr>
        <p:blipFill>
          <a:blip r:embed="rId16"/>
          <a:stretch>
            <a:fillRect/>
          </a:stretch>
        </p:blipFill>
        <p:spPr>
          <a:xfrm>
            <a:off x="1185663" y="1422081"/>
            <a:ext cx="253705" cy="279950"/>
          </a:xfrm>
          <a:prstGeom prst="rect">
            <a:avLst/>
          </a:prstGeom>
        </p:spPr>
      </p:pic>
      <p:pic>
        <p:nvPicPr>
          <p:cNvPr id="2" name="Picture 1" descr="File:PostgreSQL logo.3colors.540x557.png">
            <a:extLst>
              <a:ext uri="{FF2B5EF4-FFF2-40B4-BE49-F238E27FC236}">
                <a16:creationId xmlns:a16="http://schemas.microsoft.com/office/drawing/2014/main" id="{7371D8AF-A9F3-3E5B-653E-0B2F09C8A3A6}"/>
              </a:ext>
            </a:extLst>
          </p:cNvPr>
          <p:cNvPicPr>
            <a:picLocks noChangeAspect="1"/>
          </p:cNvPicPr>
          <p:nvPr/>
        </p:nvPicPr>
        <p:blipFill>
          <a:blip r:embed="rId17"/>
          <a:stretch>
            <a:fillRect/>
          </a:stretch>
        </p:blipFill>
        <p:spPr>
          <a:xfrm>
            <a:off x="6668860" y="1450594"/>
            <a:ext cx="274086" cy="282715"/>
          </a:xfrm>
          <a:prstGeom prst="rect">
            <a:avLst/>
          </a:prstGeom>
        </p:spPr>
      </p:pic>
      <p:cxnSp>
        <p:nvCxnSpPr>
          <p:cNvPr id="588" name="Straight Arrow Connector 587">
            <a:extLst>
              <a:ext uri="{FF2B5EF4-FFF2-40B4-BE49-F238E27FC236}">
                <a16:creationId xmlns:a16="http://schemas.microsoft.com/office/drawing/2014/main" id="{B8C70AFD-D74A-DB2E-4D93-8C1CBB45CF6A}"/>
              </a:ext>
            </a:extLst>
          </p:cNvPr>
          <p:cNvCxnSpPr>
            <a:cxnSpLocks/>
            <a:stCxn id="715" idx="1"/>
            <a:endCxn id="661" idx="3"/>
          </p:cNvCxnSpPr>
          <p:nvPr/>
        </p:nvCxnSpPr>
        <p:spPr>
          <a:xfrm flipH="1" flipV="1">
            <a:off x="3436362" y="3694189"/>
            <a:ext cx="1305159" cy="301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11" name="Connector: Elbow 610">
            <a:extLst>
              <a:ext uri="{FF2B5EF4-FFF2-40B4-BE49-F238E27FC236}">
                <a16:creationId xmlns:a16="http://schemas.microsoft.com/office/drawing/2014/main" id="{8B2D85B5-18F8-60D2-722A-560001019AFB}"/>
              </a:ext>
            </a:extLst>
          </p:cNvPr>
          <p:cNvCxnSpPr>
            <a:cxnSpLocks/>
            <a:stCxn id="44" idx="2"/>
            <a:endCxn id="715" idx="3"/>
          </p:cNvCxnSpPr>
          <p:nvPr/>
        </p:nvCxnSpPr>
        <p:spPr>
          <a:xfrm rot="5400000">
            <a:off x="5350820" y="2254473"/>
            <a:ext cx="1523917" cy="1361535"/>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4C93B2C-1E6E-DF15-C397-5C3DC6D0F32C}"/>
              </a:ext>
            </a:extLst>
          </p:cNvPr>
          <p:cNvSpPr txBox="1"/>
          <p:nvPr/>
        </p:nvSpPr>
        <p:spPr>
          <a:xfrm>
            <a:off x="4313475" y="1693939"/>
            <a:ext cx="1913434" cy="276999"/>
          </a:xfrm>
          <a:prstGeom prst="rect">
            <a:avLst/>
          </a:prstGeom>
          <a:noFill/>
        </p:spPr>
        <p:txBody>
          <a:bodyPr wrap="square" rtlCol="0">
            <a:spAutoFit/>
          </a:bodyPr>
          <a:lstStyle/>
          <a:p>
            <a:pPr algn="ctr"/>
            <a:r>
              <a:rPr lang="en-US" sz="1200" dirty="0">
                <a:solidFill>
                  <a:schemeClr val="tx1">
                    <a:lumMod val="75000"/>
                    <a:lumOff val="25000"/>
                  </a:schemeClr>
                </a:solidFill>
              </a:rPr>
              <a:t>cleaned &amp; enriched data</a:t>
            </a:r>
          </a:p>
        </p:txBody>
      </p:sp>
      <p:sp>
        <p:nvSpPr>
          <p:cNvPr id="677" name="TextBox 676">
            <a:extLst>
              <a:ext uri="{FF2B5EF4-FFF2-40B4-BE49-F238E27FC236}">
                <a16:creationId xmlns:a16="http://schemas.microsoft.com/office/drawing/2014/main" id="{32EDD3CD-C71D-620C-198E-B4DD1A1B607A}"/>
              </a:ext>
            </a:extLst>
          </p:cNvPr>
          <p:cNvSpPr txBox="1"/>
          <p:nvPr/>
        </p:nvSpPr>
        <p:spPr>
          <a:xfrm rot="16200000">
            <a:off x="5964964"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pic>
        <p:nvPicPr>
          <p:cNvPr id="14" name="Picture 13">
            <a:extLst>
              <a:ext uri="{FF2B5EF4-FFF2-40B4-BE49-F238E27FC236}">
                <a16:creationId xmlns:a16="http://schemas.microsoft.com/office/drawing/2014/main" id="{5E11DD78-C0E6-1329-7A2A-A9A388564486}"/>
              </a:ext>
            </a:extLst>
          </p:cNvPr>
          <p:cNvPicPr>
            <a:picLocks noChangeAspect="1"/>
          </p:cNvPicPr>
          <p:nvPr/>
        </p:nvPicPr>
        <p:blipFill>
          <a:blip r:embed="rId18"/>
          <a:stretch>
            <a:fillRect/>
          </a:stretch>
        </p:blipFill>
        <p:spPr>
          <a:xfrm>
            <a:off x="3499903" y="2182628"/>
            <a:ext cx="736364" cy="285709"/>
          </a:xfrm>
          <a:prstGeom prst="rect">
            <a:avLst/>
          </a:prstGeom>
        </p:spPr>
      </p:pic>
      <p:pic>
        <p:nvPicPr>
          <p:cNvPr id="17" name="Picture 16">
            <a:extLst>
              <a:ext uri="{FF2B5EF4-FFF2-40B4-BE49-F238E27FC236}">
                <a16:creationId xmlns:a16="http://schemas.microsoft.com/office/drawing/2014/main" id="{872F5CFF-FB68-9533-F951-80B9F938132A}"/>
              </a:ext>
            </a:extLst>
          </p:cNvPr>
          <p:cNvPicPr>
            <a:picLocks noChangeAspect="1"/>
          </p:cNvPicPr>
          <p:nvPr/>
        </p:nvPicPr>
        <p:blipFill>
          <a:blip r:embed="rId19"/>
          <a:srcRect/>
          <a:stretch/>
        </p:blipFill>
        <p:spPr>
          <a:xfrm>
            <a:off x="4297300" y="2230080"/>
            <a:ext cx="490256" cy="190142"/>
          </a:xfrm>
          <a:prstGeom prst="rect">
            <a:avLst/>
          </a:prstGeom>
        </p:spPr>
      </p:pic>
    </p:spTree>
    <p:extLst>
      <p:ext uri="{BB962C8B-B14F-4D97-AF65-F5344CB8AC3E}">
        <p14:creationId xmlns:p14="http://schemas.microsoft.com/office/powerpoint/2010/main" val="2602992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4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7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1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1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1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8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7"/>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727"/>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72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2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5"/>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7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0" grpId="0"/>
      <p:bldP spid="670" grpId="0"/>
      <p:bldP spid="681" grpId="0"/>
      <p:bldP spid="4" grpId="0"/>
      <p:bldP spid="37" grpId="0" animBg="1"/>
      <p:bldP spid="647" grpId="0"/>
      <p:bldP spid="67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F507A431-3C08-473B-C965-5E29A3EFE23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ETL</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574017"/>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1111614"/>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V="1">
            <a:off x="1626651" y="1334662"/>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839941"/>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348993"/>
            <a:ext cx="393496" cy="452741"/>
          </a:xfrm>
          <a:prstGeom prst="rect">
            <a:avLst/>
          </a:prstGeom>
        </p:spPr>
      </p:pic>
      <p:grpSp>
        <p:nvGrpSpPr>
          <p:cNvPr id="2" name="Group 1">
            <a:extLst>
              <a:ext uri="{FF2B5EF4-FFF2-40B4-BE49-F238E27FC236}">
                <a16:creationId xmlns:a16="http://schemas.microsoft.com/office/drawing/2014/main" id="{92B72449-3739-5134-4E4C-A039C63F515B}"/>
              </a:ext>
            </a:extLst>
          </p:cNvPr>
          <p:cNvGrpSpPr/>
          <p:nvPr/>
        </p:nvGrpSpPr>
        <p:grpSpPr>
          <a:xfrm>
            <a:off x="761429" y="812005"/>
            <a:ext cx="7561865" cy="1047037"/>
            <a:chOff x="761429" y="664298"/>
            <a:chExt cx="7561865" cy="1047037"/>
          </a:xfrm>
        </p:grpSpPr>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grpSp>
      <p:grpSp>
        <p:nvGrpSpPr>
          <p:cNvPr id="4" name="Group 3">
            <a:extLst>
              <a:ext uri="{FF2B5EF4-FFF2-40B4-BE49-F238E27FC236}">
                <a16:creationId xmlns:a16="http://schemas.microsoft.com/office/drawing/2014/main" id="{919E18D2-172F-92E8-6C6E-646451872968}"/>
              </a:ext>
            </a:extLst>
          </p:cNvPr>
          <p:cNvGrpSpPr/>
          <p:nvPr/>
        </p:nvGrpSpPr>
        <p:grpSpPr>
          <a:xfrm>
            <a:off x="768342" y="2022090"/>
            <a:ext cx="7553118" cy="1046249"/>
            <a:chOff x="768342" y="1874383"/>
            <a:chExt cx="7553118" cy="1046249"/>
          </a:xfrm>
        </p:grpSpPr>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grpSp>
      <p:grpSp>
        <p:nvGrpSpPr>
          <p:cNvPr id="9" name="Group 8">
            <a:extLst>
              <a:ext uri="{FF2B5EF4-FFF2-40B4-BE49-F238E27FC236}">
                <a16:creationId xmlns:a16="http://schemas.microsoft.com/office/drawing/2014/main" id="{D7EDE7CE-4890-5626-BF22-B6AE53D277F5}"/>
              </a:ext>
            </a:extLst>
          </p:cNvPr>
          <p:cNvGrpSpPr/>
          <p:nvPr/>
        </p:nvGrpSpPr>
        <p:grpSpPr>
          <a:xfrm>
            <a:off x="761428" y="3231384"/>
            <a:ext cx="7560032" cy="1042731"/>
            <a:chOff x="761428" y="3083677"/>
            <a:chExt cx="7560032" cy="1042731"/>
          </a:xfrm>
        </p:grpSpPr>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gr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302896"/>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404531"/>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157756"/>
            <a:ext cx="357449" cy="357449"/>
          </a:xfrm>
          <a:prstGeom prst="rect">
            <a:avLst/>
          </a:prstGeom>
          <a:noFill/>
          <a:ln>
            <a:noFill/>
          </a:ln>
        </p:spPr>
      </p:pic>
      <p:sp>
        <p:nvSpPr>
          <p:cNvPr id="584" name="Rectangle: Rounded Corners 583">
            <a:extLst>
              <a:ext uri="{FF2B5EF4-FFF2-40B4-BE49-F238E27FC236}">
                <a16:creationId xmlns:a16="http://schemas.microsoft.com/office/drawing/2014/main" id="{BE78CD90-E400-E30D-5DA2-1D6E568B3A6B}"/>
              </a:ext>
            </a:extLst>
          </p:cNvPr>
          <p:cNvSpPr/>
          <p:nvPr/>
        </p:nvSpPr>
        <p:spPr>
          <a:xfrm>
            <a:off x="1893581" y="957692"/>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 pages (raw JSON)</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949559"/>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by job ID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6" idx="1"/>
          </p:cNvCxnSpPr>
          <p:nvPr/>
        </p:nvCxnSpPr>
        <p:spPr>
          <a:xfrm>
            <a:off x="2967982" y="1334662"/>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949559"/>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a:t>
            </a:r>
          </a:p>
          <a:p>
            <a:pPr algn="ctr"/>
            <a:r>
              <a:rPr lang="en-US" sz="1200" dirty="0"/>
              <a:t>job details (raw JSON)</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334662"/>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334662"/>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202609"/>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a:t>
            </a:r>
            <a:r>
              <a:rPr lang="en-US" sz="1200" i="1" dirty="0"/>
              <a:t>missing</a:t>
            </a:r>
            <a:r>
              <a:rPr lang="en-US" sz="1200" dirty="0"/>
              <a:t>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202609"/>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Normalize, restructure &amp; classify</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33" idx="3"/>
          </p:cNvCxnSpPr>
          <p:nvPr/>
        </p:nvCxnSpPr>
        <p:spPr>
          <a:xfrm flipH="1" flipV="1">
            <a:off x="4307226" y="2572601"/>
            <a:ext cx="263269"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573459"/>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4147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2024049"/>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processed</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E57FDD88-1AA5-BE87-F562-464E2B16FA5D}"/>
              </a:ext>
            </a:extLst>
          </p:cNvPr>
          <p:cNvSpPr/>
          <p:nvPr/>
        </p:nvSpPr>
        <p:spPr>
          <a:xfrm>
            <a:off x="6503185" y="807281"/>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785594"/>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8"/>
          <a:stretch>
            <a:fillRect/>
          </a:stretch>
        </p:blipFill>
        <p:spPr>
          <a:xfrm>
            <a:off x="6008646" y="839493"/>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8"/>
          <a:stretch>
            <a:fillRect/>
          </a:stretch>
        </p:blipFill>
        <p:spPr>
          <a:xfrm>
            <a:off x="1374476" y="2071316"/>
            <a:ext cx="207645" cy="229125"/>
          </a:xfrm>
          <a:prstGeom prst="rect">
            <a:avLst/>
          </a:prstGeom>
        </p:spPr>
      </p:pic>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201751"/>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cxnSp>
        <p:nvCxnSpPr>
          <p:cNvPr id="13" name="Straight Arrow Connector 12">
            <a:extLst>
              <a:ext uri="{FF2B5EF4-FFF2-40B4-BE49-F238E27FC236}">
                <a16:creationId xmlns:a16="http://schemas.microsoft.com/office/drawing/2014/main" id="{09E88688-1505-AFCE-F3E3-AA407DFE0788}"/>
              </a:ext>
            </a:extLst>
          </p:cNvPr>
          <p:cNvCxnSpPr>
            <a:cxnSpLocks/>
            <a:stCxn id="33" idx="1"/>
            <a:endCxn id="613" idx="3"/>
          </p:cNvCxnSpPr>
          <p:nvPr/>
        </p:nvCxnSpPr>
        <p:spPr>
          <a:xfrm flipH="1">
            <a:off x="2969558" y="2572601"/>
            <a:ext cx="263267"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15" name="Rectangle 14">
            <a:extLst>
              <a:ext uri="{FF2B5EF4-FFF2-40B4-BE49-F238E27FC236}">
                <a16:creationId xmlns:a16="http://schemas.microsoft.com/office/drawing/2014/main" id="{43952FF3-7D50-5E98-C549-4494794967CA}"/>
              </a:ext>
            </a:extLst>
          </p:cNvPr>
          <p:cNvSpPr/>
          <p:nvPr/>
        </p:nvSpPr>
        <p:spPr>
          <a:xfrm>
            <a:off x="6501351" y="807281"/>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8" name="TextBox 7">
            <a:extLst>
              <a:ext uri="{FF2B5EF4-FFF2-40B4-BE49-F238E27FC236}">
                <a16:creationId xmlns:a16="http://schemas.microsoft.com/office/drawing/2014/main" id="{21610CE4-8D87-08C5-3F57-013345B9054F}"/>
              </a:ext>
            </a:extLst>
          </p:cNvPr>
          <p:cNvSpPr txBox="1"/>
          <p:nvPr/>
        </p:nvSpPr>
        <p:spPr>
          <a:xfrm>
            <a:off x="2688059" y="2164147"/>
            <a:ext cx="440682" cy="307777"/>
          </a:xfrm>
          <a:prstGeom prst="rect">
            <a:avLst/>
          </a:prstGeom>
          <a:noFill/>
        </p:spPr>
        <p:txBody>
          <a:bodyPr wrap="square" rtlCol="0">
            <a:spAutoFit/>
          </a:bodyPr>
          <a:lstStyle/>
          <a:p>
            <a:r>
              <a:rPr lang="en-US" b="1" dirty="0">
                <a:solidFill>
                  <a:srgbClr val="FF0000"/>
                </a:solidFill>
              </a:rPr>
              <a:t>?</a:t>
            </a:r>
          </a:p>
        </p:txBody>
      </p:sp>
      <p:sp>
        <p:nvSpPr>
          <p:cNvPr id="17" name="TextBox 16">
            <a:extLst>
              <a:ext uri="{FF2B5EF4-FFF2-40B4-BE49-F238E27FC236}">
                <a16:creationId xmlns:a16="http://schemas.microsoft.com/office/drawing/2014/main" id="{60249AE2-9F30-38D9-EE7C-B60D0F157222}"/>
              </a:ext>
            </a:extLst>
          </p:cNvPr>
          <p:cNvSpPr txBox="1"/>
          <p:nvPr/>
        </p:nvSpPr>
        <p:spPr>
          <a:xfrm>
            <a:off x="5381627" y="2627254"/>
            <a:ext cx="440682" cy="307777"/>
          </a:xfrm>
          <a:prstGeom prst="rect">
            <a:avLst/>
          </a:prstGeom>
          <a:noFill/>
        </p:spPr>
        <p:txBody>
          <a:bodyPr wrap="square" rtlCol="0">
            <a:spAutoFit/>
          </a:bodyPr>
          <a:lstStyle/>
          <a:p>
            <a:r>
              <a:rPr lang="en-US" b="1" dirty="0">
                <a:solidFill>
                  <a:srgbClr val="FF0000"/>
                </a:solidFill>
              </a:rPr>
              <a:t>?</a:t>
            </a:r>
          </a:p>
        </p:txBody>
      </p:sp>
    </p:spTree>
    <p:extLst>
      <p:ext uri="{BB962C8B-B14F-4D97-AF65-F5344CB8AC3E}">
        <p14:creationId xmlns:p14="http://schemas.microsoft.com/office/powerpoint/2010/main" val="3956861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8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8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9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9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60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1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13"/>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62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24"/>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681"/>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46"/>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4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9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 grpId="0" animBg="1"/>
      <p:bldP spid="586" grpId="0" animBg="1"/>
      <p:bldP spid="596" grpId="0" animBg="1"/>
      <p:bldP spid="613" grpId="0" animBg="1"/>
      <p:bldP spid="615" grpId="0" animBg="1"/>
      <p:bldP spid="646" grpId="0" animBg="1"/>
      <p:bldP spid="681" grpId="0" animBg="1"/>
      <p:bldP spid="683" grpId="0" animBg="1"/>
      <p:bldP spid="33" grpId="0" animBg="1"/>
      <p:bldP spid="15" grpId="0" animBg="1"/>
      <p:bldP spid="8"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B1FAE6A0-51A5-DC4B-6948-77D378DD9E5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72D8162-C66D-ED2D-08E7-2F0D377B6B7B}"/>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Data Enrichment &amp; Standardization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F4DFA2C3-2055-74F2-E79B-81D5C71EA31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0AAA7DA-E26D-34E8-FA55-17ED6D61128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DE00A5D5-F740-A6FB-C694-F36F173307A0}"/>
              </a:ext>
            </a:extLst>
          </p:cNvPr>
          <p:cNvSpPr txBox="1"/>
          <p:nvPr/>
        </p:nvSpPr>
        <p:spPr>
          <a:xfrm>
            <a:off x="1552575" y="663535"/>
            <a:ext cx="6038850" cy="3754874"/>
          </a:xfrm>
          <a:prstGeom prst="rect">
            <a:avLst/>
          </a:prstGeom>
          <a:noFill/>
        </p:spPr>
        <p:txBody>
          <a:bodyPr wrap="square">
            <a:spAutoFit/>
          </a:bodyPr>
          <a:lstStyle/>
          <a:p>
            <a:r>
              <a:rPr lang="en-US" b="1" dirty="0"/>
              <a:t>Location enrichment</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with existing coordinates keep those coordinates unchanged.</a:t>
            </a:r>
          </a:p>
          <a:p>
            <a:pPr lvl="0"/>
            <a:endParaRPr lang="en-US" sz="1000" dirty="0"/>
          </a:p>
          <a:p>
            <a:pPr marL="285750" lvl="0" indent="-285750">
              <a:buFont typeface="Arial" panose="020B0604020202020204" pitchFamily="34" charset="0"/>
              <a:buChar char="•"/>
            </a:pPr>
            <a:r>
              <a:rPr lang="en-US" dirty="0"/>
              <a:t>If coordinates are missing, we use </a:t>
            </a:r>
            <a:r>
              <a:rPr lang="en-US" b="1" dirty="0"/>
              <a:t>city, postal code </a:t>
            </a:r>
            <a:r>
              <a:rPr lang="en-US" dirty="0"/>
              <a:t>and</a:t>
            </a:r>
            <a:r>
              <a:rPr lang="en-US" b="1" dirty="0"/>
              <a:t> country</a:t>
            </a:r>
            <a:r>
              <a:rPr lang="en-US" dirty="0"/>
              <a:t> with </a:t>
            </a:r>
            <a:r>
              <a:rPr lang="en-US" b="1" dirty="0" err="1"/>
              <a:t>Nominatim</a:t>
            </a:r>
            <a:r>
              <a:rPr lang="en-US" b="1" dirty="0"/>
              <a:t> </a:t>
            </a:r>
            <a:r>
              <a:rPr lang="en-US" dirty="0"/>
              <a:t>via</a:t>
            </a:r>
            <a:r>
              <a:rPr lang="en-US" b="1" dirty="0"/>
              <a:t> </a:t>
            </a:r>
            <a:r>
              <a:rPr lang="en-US" b="1" dirty="0" err="1"/>
              <a:t>geopy</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This provides latitude and longitude for the map where possible. </a:t>
            </a:r>
          </a:p>
          <a:p>
            <a:endParaRPr lang="en-US" b="1" dirty="0"/>
          </a:p>
          <a:p>
            <a:r>
              <a:rPr lang="en-US" b="1" dirty="0"/>
              <a:t>Job classification</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Raw job titles are too </a:t>
            </a:r>
            <a:r>
              <a:rPr lang="en-US" b="1" dirty="0"/>
              <a:t>heterogeneous</a:t>
            </a:r>
            <a:r>
              <a:rPr lang="en-US" dirty="0"/>
              <a:t> for consistent analysis.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We therefore apply a </a:t>
            </a:r>
            <a:r>
              <a:rPr lang="en-US" b="1" dirty="0"/>
              <a:t>rule-based </a:t>
            </a:r>
            <a:r>
              <a:rPr lang="en-US" dirty="0"/>
              <a:t>classifier to </a:t>
            </a:r>
            <a:r>
              <a:rPr lang="en-US" b="1" dirty="0"/>
              <a:t>title + occupation</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are mapped to broad categories such as </a:t>
            </a:r>
            <a:r>
              <a:rPr lang="en-US" b="1" dirty="0"/>
              <a:t>Data Engineering</a:t>
            </a:r>
            <a:r>
              <a:rPr lang="en-US" dirty="0"/>
              <a:t>,</a:t>
            </a:r>
            <a:r>
              <a:rPr lang="en-US" b="1" dirty="0"/>
              <a:t> Data Analysis </a:t>
            </a:r>
            <a:r>
              <a:rPr lang="en-US" dirty="0"/>
              <a:t>or</a:t>
            </a:r>
            <a:r>
              <a:rPr lang="en-US" b="1" dirty="0"/>
              <a:t> Backend Development</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If no rule matches, the category is </a:t>
            </a:r>
            <a:r>
              <a:rPr lang="en-US" b="1" dirty="0"/>
              <a:t>Other</a:t>
            </a:r>
            <a:r>
              <a:rPr lang="en-US" dirty="0"/>
              <a:t>.</a:t>
            </a:r>
          </a:p>
        </p:txBody>
      </p:sp>
    </p:spTree>
    <p:extLst>
      <p:ext uri="{BB962C8B-B14F-4D97-AF65-F5344CB8AC3E}">
        <p14:creationId xmlns:p14="http://schemas.microsoft.com/office/powerpoint/2010/main" val="21412223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2997488-2C12-DDBC-DB44-0D8980A2D0F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A290BDE-2C9F-46D6-5D95-8F86A5CC646B}"/>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Freshness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4DCCE95-1452-4925-4FA7-D103926B3664}"/>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97F795AE-4770-9ADD-6FD6-49CC0B47EBC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40089255-2033-5307-E307-A9E0899A7E63}"/>
              </a:ext>
            </a:extLst>
          </p:cNvPr>
          <p:cNvSpPr txBox="1"/>
          <p:nvPr/>
        </p:nvSpPr>
        <p:spPr>
          <a:xfrm>
            <a:off x="1552575" y="1415605"/>
            <a:ext cx="6038850" cy="2031325"/>
          </a:xfrm>
          <a:prstGeom prst="rect">
            <a:avLst/>
          </a:prstGeom>
          <a:noFill/>
        </p:spPr>
        <p:txBody>
          <a:bodyPr wrap="square">
            <a:spAutoFit/>
          </a:bodyPr>
          <a:lstStyle/>
          <a:p>
            <a:pPr marL="285750" lvl="0" indent="-285750">
              <a:buFont typeface="Arial" panose="020B0604020202020204" pitchFamily="34" charset="0"/>
              <a:buChar char="•"/>
            </a:pPr>
            <a:r>
              <a:rPr lang="en-US" dirty="0"/>
              <a:t>A </a:t>
            </a:r>
            <a:r>
              <a:rPr lang="en-US" b="1" dirty="0"/>
              <a:t>recent </a:t>
            </a:r>
            <a:r>
              <a:rPr lang="en-US" dirty="0"/>
              <a:t>publication date does</a:t>
            </a:r>
            <a:r>
              <a:rPr lang="en-US" b="1" dirty="0"/>
              <a:t> not </a:t>
            </a:r>
            <a:r>
              <a:rPr lang="en-US" dirty="0"/>
              <a:t>necessarily mean a </a:t>
            </a:r>
            <a:r>
              <a:rPr lang="en-US" b="1" dirty="0"/>
              <a:t>new </a:t>
            </a:r>
            <a:r>
              <a:rPr lang="en-US" dirty="0"/>
              <a:t>advertisement; jobs can be republished without changes.</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We compare the current API data with PostgreSQL: a changed </a:t>
            </a:r>
            <a:r>
              <a:rPr lang="en-US" b="1" dirty="0" err="1"/>
              <a:t>modified_at</a:t>
            </a:r>
            <a:r>
              <a:rPr lang="en-US" b="1" dirty="0"/>
              <a:t> </a:t>
            </a:r>
            <a:r>
              <a:rPr lang="en-US" dirty="0"/>
              <a:t>means an </a:t>
            </a:r>
            <a:r>
              <a:rPr lang="en-US" b="1" dirty="0"/>
              <a:t>actual update</a:t>
            </a:r>
            <a:r>
              <a:rPr lang="en-US" dirty="0"/>
              <a:t>, while only a changed </a:t>
            </a:r>
            <a:r>
              <a:rPr lang="en-US" b="1" dirty="0"/>
              <a:t>publication date </a:t>
            </a:r>
            <a:r>
              <a:rPr lang="en-US" dirty="0"/>
              <a:t>means an </a:t>
            </a:r>
            <a:r>
              <a:rPr lang="en-US" b="1" dirty="0"/>
              <a:t>unchanged republication</a:t>
            </a:r>
            <a:r>
              <a:rPr lang="en-US" dirty="0"/>
              <a:t>.</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This lets us show a more meaningful </a:t>
            </a:r>
            <a:r>
              <a:rPr lang="en-US" b="1" dirty="0"/>
              <a:t>freshness summary</a:t>
            </a:r>
            <a:r>
              <a:rPr lang="en-US" dirty="0"/>
              <a:t> in the frontend.</a:t>
            </a:r>
          </a:p>
        </p:txBody>
      </p:sp>
    </p:spTree>
    <p:extLst>
      <p:ext uri="{BB962C8B-B14F-4D97-AF65-F5344CB8AC3E}">
        <p14:creationId xmlns:p14="http://schemas.microsoft.com/office/powerpoint/2010/main" val="32717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Free-Text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659" name="Rectangle 658">
            <a:extLst>
              <a:ext uri="{FF2B5EF4-FFF2-40B4-BE49-F238E27FC236}">
                <a16:creationId xmlns:a16="http://schemas.microsoft.com/office/drawing/2014/main" id="{BC9C1D7B-62FD-0EBA-83D3-2D8F6F584FF2}"/>
              </a:ext>
            </a:extLst>
          </p:cNvPr>
          <p:cNvSpPr/>
          <p:nvPr/>
        </p:nvSpPr>
        <p:spPr>
          <a:xfrm>
            <a:off x="6155337" y="2558411"/>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3489969" y="1795601"/>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3793707" y="1527240"/>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4903984" y="1796223"/>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2846859" y="2632911"/>
            <a:ext cx="1443854" cy="838350"/>
            <a:chOff x="5661388"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3568787" y="2049495"/>
            <a:ext cx="224921" cy="583416"/>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4922985" y="2049495"/>
            <a:ext cx="258786" cy="58113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4459844" y="2630627"/>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5"/>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4358346" y="1297357"/>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4484894" y="1054813"/>
            <a:ext cx="1127232" cy="246221"/>
          </a:xfrm>
          <a:prstGeom prst="rect">
            <a:avLst/>
          </a:prstGeom>
          <a:noFill/>
        </p:spPr>
        <p:txBody>
          <a:bodyPr wrap="none" rtlCol="0">
            <a:spAutoFit/>
          </a:bodyPr>
          <a:lstStyle/>
          <a:p>
            <a:r>
              <a:rPr lang="en-US" sz="1000" dirty="0"/>
              <a:t>Search triggered</a:t>
            </a:r>
          </a:p>
        </p:txBody>
      </p: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5181771" y="3468979"/>
            <a:ext cx="0" cy="20373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4459844" y="3672709"/>
            <a:ext cx="1443854" cy="838350"/>
            <a:chOff x="5661388" y="2891695"/>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9" name="Oval 8">
            <a:extLst>
              <a:ext uri="{FF2B5EF4-FFF2-40B4-BE49-F238E27FC236}">
                <a16:creationId xmlns:a16="http://schemas.microsoft.com/office/drawing/2014/main" id="{43F299F7-A4CB-B46F-4F96-481661DAA388}"/>
              </a:ext>
            </a:extLst>
          </p:cNvPr>
          <p:cNvSpPr/>
          <p:nvPr/>
        </p:nvSpPr>
        <p:spPr>
          <a:xfrm>
            <a:off x="4256286" y="108620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0A8F18E5-5CDE-FF36-24F1-48CFFD84EFD6}"/>
              </a:ext>
            </a:extLst>
          </p:cNvPr>
          <p:cNvPicPr>
            <a:picLocks noChangeAspect="1"/>
          </p:cNvPicPr>
          <p:nvPr/>
        </p:nvPicPr>
        <p:blipFill>
          <a:blip r:embed="rId6"/>
          <a:stretch>
            <a:fillRect/>
          </a:stretch>
        </p:blipFill>
        <p:spPr>
          <a:xfrm>
            <a:off x="2148507" y="597989"/>
            <a:ext cx="4419677" cy="380479"/>
          </a:xfrm>
          <a:prstGeom prst="rect">
            <a:avLst/>
          </a:prstGeom>
        </p:spPr>
      </p:pic>
    </p:spTree>
    <p:extLst>
      <p:ext uri="{BB962C8B-B14F-4D97-AF65-F5344CB8AC3E}">
        <p14:creationId xmlns:p14="http://schemas.microsoft.com/office/powerpoint/2010/main" val="286430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3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9" grpId="0" animBg="1"/>
      <p:bldP spid="724" grpId="0"/>
      <p:bldP spid="725" grpId="0" animBg="1"/>
      <p:bldP spid="726" grpId="0"/>
      <p:bldP spid="737" grpId="0"/>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624" name="TextBox 623">
            <a:extLst>
              <a:ext uri="{FF2B5EF4-FFF2-40B4-BE49-F238E27FC236}">
                <a16:creationId xmlns:a16="http://schemas.microsoft.com/office/drawing/2014/main" id="{68B56A9A-9D78-9898-6DC1-F2F1390C3A52}"/>
              </a:ext>
            </a:extLst>
          </p:cNvPr>
          <p:cNvSpPr txBox="1"/>
          <p:nvPr/>
        </p:nvSpPr>
        <p:spPr>
          <a:xfrm>
            <a:off x="4460287" y="1256034"/>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sp>
        <p:nvSpPr>
          <p:cNvPr id="633" name="Google Shape;633;p91">
            <a:extLst>
              <a:ext uri="{FF2B5EF4-FFF2-40B4-BE49-F238E27FC236}">
                <a16:creationId xmlns:a16="http://schemas.microsoft.com/office/drawing/2014/main" id="{1FF0F72C-42EA-89B7-6496-D13A3CF51C7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Docker Deployment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666" name="Connector: Elbow 665">
            <a:extLst>
              <a:ext uri="{FF2B5EF4-FFF2-40B4-BE49-F238E27FC236}">
                <a16:creationId xmlns:a16="http://schemas.microsoft.com/office/drawing/2014/main" id="{A1A69FD4-93A3-D7D5-B457-DAE78C272D39}"/>
              </a:ext>
            </a:extLst>
          </p:cNvPr>
          <p:cNvCxnSpPr>
            <a:cxnSpLocks/>
            <a:stCxn id="616" idx="0"/>
            <a:endCxn id="57" idx="2"/>
          </p:cNvCxnSpPr>
          <p:nvPr/>
        </p:nvCxnSpPr>
        <p:spPr>
          <a:xfrm rot="16200000" flipV="1">
            <a:off x="2232545" y="1621262"/>
            <a:ext cx="573987" cy="1036145"/>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743812" y="2429073"/>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cxnSp>
        <p:nvCxnSpPr>
          <p:cNvPr id="762" name="Straight Arrow Connector 761">
            <a:extLst>
              <a:ext uri="{FF2B5EF4-FFF2-40B4-BE49-F238E27FC236}">
                <a16:creationId xmlns:a16="http://schemas.microsoft.com/office/drawing/2014/main" id="{4EBDB629-1BDF-4AC1-A071-93B3FBAA22FA}"/>
              </a:ext>
            </a:extLst>
          </p:cNvPr>
          <p:cNvCxnSpPr>
            <a:cxnSpLocks/>
            <a:stCxn id="744" idx="3"/>
            <a:endCxn id="750" idx="1"/>
          </p:cNvCxnSpPr>
          <p:nvPr/>
        </p:nvCxnSpPr>
        <p:spPr>
          <a:xfrm flipV="1">
            <a:off x="3965333" y="1487654"/>
            <a:ext cx="1479020" cy="168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745587" y="1847423"/>
            <a:ext cx="2767" cy="58165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2" name="Group 1">
            <a:extLst>
              <a:ext uri="{FF2B5EF4-FFF2-40B4-BE49-F238E27FC236}">
                <a16:creationId xmlns:a16="http://schemas.microsoft.com/office/drawing/2014/main" id="{7CA7404D-1CDD-E9BE-4600-C0FF6281445F}"/>
              </a:ext>
            </a:extLst>
          </p:cNvPr>
          <p:cNvGrpSpPr/>
          <p:nvPr/>
        </p:nvGrpSpPr>
        <p:grpSpPr>
          <a:xfrm>
            <a:off x="3100083" y="1101202"/>
            <a:ext cx="1296542" cy="746221"/>
            <a:chOff x="3325773" y="784324"/>
            <a:chExt cx="1296542" cy="746221"/>
          </a:xfrm>
        </p:grpSpPr>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4"/>
            <a:stretch>
              <a:fillRect/>
            </a:stretch>
          </p:blipFill>
          <p:spPr>
            <a:xfrm>
              <a:off x="3700433" y="784324"/>
              <a:ext cx="575868" cy="106267"/>
            </a:xfrm>
            <a:prstGeom prst="rect">
              <a:avLst/>
            </a:prstGeom>
          </p:spPr>
        </p:pic>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000" dirty="0">
                  <a:solidFill>
                    <a:srgbClr val="0000EE"/>
                  </a:solidFill>
                </a:rPr>
                <a:t>:8000</a:t>
              </a:r>
            </a:p>
          </p:txBody>
        </p: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5"/>
            <a:stretch>
              <a:fillRect/>
            </a:stretch>
          </p:blipFill>
          <p:spPr>
            <a:xfrm>
              <a:off x="3761387" y="945097"/>
              <a:ext cx="429637" cy="317193"/>
            </a:xfrm>
            <a:prstGeom prst="rect">
              <a:avLst/>
            </a:prstGeom>
          </p:spPr>
        </p:pic>
      </p:grpSp>
      <p:sp>
        <p:nvSpPr>
          <p:cNvPr id="4" name="TextBox 3">
            <a:extLst>
              <a:ext uri="{FF2B5EF4-FFF2-40B4-BE49-F238E27FC236}">
                <a16:creationId xmlns:a16="http://schemas.microsoft.com/office/drawing/2014/main" id="{476B9BFE-EEDA-540F-C48E-13A34C225DF0}"/>
              </a:ext>
            </a:extLst>
          </p:cNvPr>
          <p:cNvSpPr txBox="1"/>
          <p:nvPr/>
        </p:nvSpPr>
        <p:spPr>
          <a:xfrm>
            <a:off x="2341112" y="1142904"/>
            <a:ext cx="1121456"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2229825" y="1419899"/>
            <a:ext cx="1305872"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grpSp>
        <p:nvGrpSpPr>
          <p:cNvPr id="17" name="Group 16">
            <a:extLst>
              <a:ext uri="{FF2B5EF4-FFF2-40B4-BE49-F238E27FC236}">
                <a16:creationId xmlns:a16="http://schemas.microsoft.com/office/drawing/2014/main" id="{D6D7D48C-6305-8932-A479-6E770CF58BF3}"/>
              </a:ext>
            </a:extLst>
          </p:cNvPr>
          <p:cNvGrpSpPr/>
          <p:nvPr/>
        </p:nvGrpSpPr>
        <p:grpSpPr>
          <a:xfrm>
            <a:off x="4951499" y="1261301"/>
            <a:ext cx="1318444" cy="594193"/>
            <a:chOff x="6171289" y="944423"/>
            <a:chExt cx="1318444" cy="594193"/>
          </a:xfrm>
        </p:grpSpPr>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6"/>
            <a:stretch>
              <a:fillRect/>
            </a:stretch>
          </p:blipFill>
          <p:spPr>
            <a:xfrm>
              <a:off x="6660901" y="944423"/>
              <a:ext cx="345703" cy="309055"/>
            </a:xfrm>
            <a:prstGeom prst="rect">
              <a:avLst/>
            </a:prstGeom>
          </p:spPr>
        </p:pic>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30440" y="949172"/>
              <a:ext cx="197063" cy="112154"/>
            </a:xfrm>
            <a:prstGeom prst="rect">
              <a:avLst/>
            </a:prstGeom>
          </p:spPr>
        </p:pic>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000" dirty="0">
                  <a:solidFill>
                    <a:srgbClr val="0000EE"/>
                  </a:solidFill>
                </a:rPr>
                <a:t>:5432</a:t>
              </a:r>
            </a:p>
          </p:txBody>
        </p:sp>
      </p:grpSp>
      <p:grpSp>
        <p:nvGrpSpPr>
          <p:cNvPr id="21" name="Group 20">
            <a:extLst>
              <a:ext uri="{FF2B5EF4-FFF2-40B4-BE49-F238E27FC236}">
                <a16:creationId xmlns:a16="http://schemas.microsoft.com/office/drawing/2014/main" id="{D3A2471C-3020-15A9-7774-95928863520E}"/>
              </a:ext>
            </a:extLst>
          </p:cNvPr>
          <p:cNvGrpSpPr/>
          <p:nvPr/>
        </p:nvGrpSpPr>
        <p:grpSpPr>
          <a:xfrm>
            <a:off x="6896022" y="3683798"/>
            <a:ext cx="1082194" cy="564384"/>
            <a:chOff x="4833398" y="3609544"/>
            <a:chExt cx="1082194" cy="564384"/>
          </a:xfrm>
        </p:grpSpPr>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4993191" y="3878036"/>
              <a:ext cx="762608" cy="295892"/>
            </a:xfrm>
            <a:prstGeom prst="rect">
              <a:avLst/>
            </a:prstGeom>
          </p:spPr>
        </p:pic>
        <p:sp>
          <p:nvSpPr>
            <p:cNvPr id="603" name="TextBox 602">
              <a:extLst>
                <a:ext uri="{FF2B5EF4-FFF2-40B4-BE49-F238E27FC236}">
                  <a16:creationId xmlns:a16="http://schemas.microsoft.com/office/drawing/2014/main" id="{A2C88963-4E5C-BFB4-7FAF-925A3E6AF2B0}"/>
                </a:ext>
              </a:extLst>
            </p:cNvPr>
            <p:cNvSpPr txBox="1"/>
            <p:nvPr/>
          </p:nvSpPr>
          <p:spPr>
            <a:xfrm>
              <a:off x="4833398" y="3609544"/>
              <a:ext cx="1082194"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000" dirty="0">
                  <a:solidFill>
                    <a:srgbClr val="0000EE"/>
                  </a:solidFill>
                </a:rPr>
                <a:t>:8080</a:t>
              </a:r>
            </a:p>
          </p:txBody>
        </p:sp>
      </p:grpSp>
      <p:cxnSp>
        <p:nvCxnSpPr>
          <p:cNvPr id="608" name="Connector: Elbow 607">
            <a:extLst>
              <a:ext uri="{FF2B5EF4-FFF2-40B4-BE49-F238E27FC236}">
                <a16:creationId xmlns:a16="http://schemas.microsoft.com/office/drawing/2014/main" id="{8565C8D3-9B03-3EBE-49CA-10FE31FDE57D}"/>
              </a:ext>
            </a:extLst>
          </p:cNvPr>
          <p:cNvCxnSpPr>
            <a:cxnSpLocks/>
            <a:stCxn id="603" idx="3"/>
            <a:endCxn id="36" idx="3"/>
          </p:cNvCxnSpPr>
          <p:nvPr/>
        </p:nvCxnSpPr>
        <p:spPr>
          <a:xfrm flipH="1" flipV="1">
            <a:off x="7164016" y="1420815"/>
            <a:ext cx="814200" cy="2401483"/>
          </a:xfrm>
          <a:prstGeom prst="bentConnector3">
            <a:avLst>
              <a:gd name="adj1" fmla="val -280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9"/>
          <a:stretch>
            <a:fillRect/>
          </a:stretch>
        </p:blipFill>
        <p:spPr>
          <a:xfrm>
            <a:off x="3780638" y="2131594"/>
            <a:ext cx="247147" cy="247147"/>
          </a:xfrm>
          <a:prstGeom prst="rect">
            <a:avLst/>
          </a:prstGeom>
        </p:spPr>
      </p:pic>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9"/>
          <a:stretch>
            <a:fillRect/>
          </a:stretch>
        </p:blipFill>
        <p:spPr>
          <a:xfrm>
            <a:off x="3088437" y="2138348"/>
            <a:ext cx="247147" cy="247147"/>
          </a:xfrm>
          <a:prstGeom prst="rect">
            <a:avLst/>
          </a:prstGeom>
        </p:spPr>
      </p:pic>
      <p:grpSp>
        <p:nvGrpSpPr>
          <p:cNvPr id="15" name="Group 14">
            <a:extLst>
              <a:ext uri="{FF2B5EF4-FFF2-40B4-BE49-F238E27FC236}">
                <a16:creationId xmlns:a16="http://schemas.microsoft.com/office/drawing/2014/main" id="{1B11BCEC-1E16-2FFB-A35B-A2B5445EE3EA}"/>
              </a:ext>
            </a:extLst>
          </p:cNvPr>
          <p:cNvGrpSpPr/>
          <p:nvPr/>
        </p:nvGrpSpPr>
        <p:grpSpPr>
          <a:xfrm>
            <a:off x="1377672" y="1062008"/>
            <a:ext cx="1247586" cy="790333"/>
            <a:chOff x="1139471" y="745130"/>
            <a:chExt cx="1247586" cy="790333"/>
          </a:xfrm>
        </p:grpSpPr>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10"/>
            <a:stretch>
              <a:fillRect/>
            </a:stretch>
          </p:blipFill>
          <p:spPr>
            <a:xfrm>
              <a:off x="1592600" y="944424"/>
              <a:ext cx="399024" cy="317193"/>
            </a:xfrm>
            <a:prstGeom prst="rect">
              <a:avLst/>
            </a:prstGeom>
          </p:spPr>
        </p:pic>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000" dirty="0">
                  <a:solidFill>
                    <a:srgbClr val="0000EE"/>
                  </a:solidFill>
                </a:rPr>
                <a:t>:8050</a:t>
              </a:r>
            </a:p>
          </p:txBody>
        </p:sp>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1"/>
            <a:stretch>
              <a:fillRect/>
            </a:stretch>
          </p:blipFill>
          <p:spPr>
            <a:xfrm>
              <a:off x="1366806" y="745130"/>
              <a:ext cx="857296" cy="157394"/>
            </a:xfrm>
            <a:prstGeom prst="rect">
              <a:avLst/>
            </a:prstGeom>
          </p:spPr>
        </p:pic>
      </p:grpSp>
      <p:cxnSp>
        <p:nvCxnSpPr>
          <p:cNvPr id="12" name="Connector: Elbow 11">
            <a:extLst>
              <a:ext uri="{FF2B5EF4-FFF2-40B4-BE49-F238E27FC236}">
                <a16:creationId xmlns:a16="http://schemas.microsoft.com/office/drawing/2014/main" id="{0C8D7D11-EF5E-9203-1E5A-6C4D3A324783}"/>
              </a:ext>
            </a:extLst>
          </p:cNvPr>
          <p:cNvCxnSpPr>
            <a:cxnSpLocks/>
            <a:stCxn id="618" idx="2"/>
            <a:endCxn id="704" idx="0"/>
          </p:cNvCxnSpPr>
          <p:nvPr/>
        </p:nvCxnSpPr>
        <p:spPr>
          <a:xfrm rot="5400000">
            <a:off x="2091465" y="2728507"/>
            <a:ext cx="954617" cy="9713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9"/>
          <a:stretch>
            <a:fillRect/>
          </a:stretch>
        </p:blipFill>
        <p:spPr>
          <a:xfrm>
            <a:off x="2422554" y="2623917"/>
            <a:ext cx="247147" cy="247147"/>
          </a:xfrm>
          <a:prstGeom prst="rect">
            <a:avLst/>
          </a:prstGeom>
        </p:spPr>
      </p:pic>
      <p:grpSp>
        <p:nvGrpSpPr>
          <p:cNvPr id="27" name="Group 26">
            <a:extLst>
              <a:ext uri="{FF2B5EF4-FFF2-40B4-BE49-F238E27FC236}">
                <a16:creationId xmlns:a16="http://schemas.microsoft.com/office/drawing/2014/main" id="{E1B1FC45-10FA-18D3-8D87-1F19DF97A8F9}"/>
              </a:ext>
            </a:extLst>
          </p:cNvPr>
          <p:cNvGrpSpPr/>
          <p:nvPr/>
        </p:nvGrpSpPr>
        <p:grpSpPr>
          <a:xfrm>
            <a:off x="1039787" y="3691468"/>
            <a:ext cx="1433532" cy="646815"/>
            <a:chOff x="1130093" y="3107043"/>
            <a:chExt cx="1433532" cy="646815"/>
          </a:xfrm>
        </p:grpSpPr>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2"/>
            <a:stretch>
              <a:fillRect/>
            </a:stretch>
          </p:blipFill>
          <p:spPr>
            <a:xfrm>
              <a:off x="1682344" y="3424828"/>
              <a:ext cx="329030" cy="329030"/>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130093" y="3107043"/>
              <a:ext cx="14335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000" dirty="0">
                  <a:solidFill>
                    <a:srgbClr val="0000EE"/>
                  </a:solidFill>
                </a:rPr>
                <a:t>:9090</a:t>
              </a:r>
            </a:p>
          </p:txBody>
        </p:sp>
      </p:grpSp>
      <p:grpSp>
        <p:nvGrpSpPr>
          <p:cNvPr id="29" name="Group 28">
            <a:extLst>
              <a:ext uri="{FF2B5EF4-FFF2-40B4-BE49-F238E27FC236}">
                <a16:creationId xmlns:a16="http://schemas.microsoft.com/office/drawing/2014/main" id="{71259EE1-8E97-74AE-55F4-D78D9706AC5C}"/>
              </a:ext>
            </a:extLst>
          </p:cNvPr>
          <p:cNvGrpSpPr/>
          <p:nvPr/>
        </p:nvGrpSpPr>
        <p:grpSpPr>
          <a:xfrm>
            <a:off x="1169063" y="2442754"/>
            <a:ext cx="1159432" cy="638692"/>
            <a:chOff x="1264560" y="4003212"/>
            <a:chExt cx="1159432" cy="638692"/>
          </a:xfrm>
        </p:grpSpPr>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3"/>
            <a:stretch>
              <a:fillRect/>
            </a:stretch>
          </p:blipFill>
          <p:spPr>
            <a:xfrm>
              <a:off x="1677704" y="4280211"/>
              <a:ext cx="333670" cy="361693"/>
            </a:xfrm>
            <a:prstGeom prst="rect">
              <a:avLst/>
            </a:prstGeom>
          </p:spPr>
        </p:pic>
        <p:sp>
          <p:nvSpPr>
            <p:cNvPr id="23" name="TextBox 22">
              <a:extLst>
                <a:ext uri="{FF2B5EF4-FFF2-40B4-BE49-F238E27FC236}">
                  <a16:creationId xmlns:a16="http://schemas.microsoft.com/office/drawing/2014/main" id="{9F0DE422-0703-0F6C-B669-ED4A241CBA43}"/>
                </a:ext>
              </a:extLst>
            </p:cNvPr>
            <p:cNvSpPr txBox="1"/>
            <p:nvPr/>
          </p:nvSpPr>
          <p:spPr>
            <a:xfrm>
              <a:off x="1264560" y="4003212"/>
              <a:ext cx="1159432"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000" dirty="0">
                  <a:solidFill>
                    <a:srgbClr val="0000EE"/>
                  </a:solidFill>
                </a:rPr>
                <a:t>:3000</a:t>
              </a:r>
            </a:p>
          </p:txBody>
        </p:sp>
      </p:grpSp>
      <p:sp>
        <p:nvSpPr>
          <p:cNvPr id="32" name="Rectangle 31">
            <a:extLst>
              <a:ext uri="{FF2B5EF4-FFF2-40B4-BE49-F238E27FC236}">
                <a16:creationId xmlns:a16="http://schemas.microsoft.com/office/drawing/2014/main" id="{9C92E324-5587-80C9-1884-0DCC975A402F}"/>
              </a:ext>
            </a:extLst>
          </p:cNvPr>
          <p:cNvSpPr/>
          <p:nvPr/>
        </p:nvSpPr>
        <p:spPr>
          <a:xfrm>
            <a:off x="4269317" y="2426328"/>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9"/>
          <a:stretch>
            <a:fillRect/>
          </a:stretch>
        </p:blipFill>
        <p:spPr>
          <a:xfrm>
            <a:off x="3116219" y="2747491"/>
            <a:ext cx="247147" cy="247147"/>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193590"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204032" y="2586965"/>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0"/>
            <a:endCxn id="601" idx="2"/>
          </p:cNvCxnSpPr>
          <p:nvPr/>
        </p:nvCxnSpPr>
        <p:spPr>
          <a:xfrm rot="5400000" flipH="1" flipV="1">
            <a:off x="4736250" y="1551857"/>
            <a:ext cx="570834" cy="1178108"/>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30" name="Group 29">
            <a:extLst>
              <a:ext uri="{FF2B5EF4-FFF2-40B4-BE49-F238E27FC236}">
                <a16:creationId xmlns:a16="http://schemas.microsoft.com/office/drawing/2014/main" id="{273BB5E5-4D58-0042-3012-34929A9B6807}"/>
              </a:ext>
            </a:extLst>
          </p:cNvPr>
          <p:cNvGrpSpPr/>
          <p:nvPr/>
        </p:nvGrpSpPr>
        <p:grpSpPr>
          <a:xfrm>
            <a:off x="6141121" y="1266287"/>
            <a:ext cx="1716428" cy="581068"/>
            <a:chOff x="4500828" y="1612050"/>
            <a:chExt cx="1716428" cy="581068"/>
          </a:xfrm>
        </p:grpSpPr>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6"/>
            <a:stretch>
              <a:fillRect/>
            </a:stretch>
          </p:blipFill>
          <p:spPr>
            <a:xfrm>
              <a:off x="5178020" y="1612050"/>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916119"/>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000" dirty="0">
                  <a:solidFill>
                    <a:srgbClr val="0000EE"/>
                  </a:solidFill>
                </a:rPr>
                <a:t>:9200</a:t>
              </a:r>
            </a:p>
          </p:txBody>
        </p:sp>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4"/>
            <a:stretch>
              <a:fillRect/>
            </a:stretch>
          </p:blipFill>
          <p:spPr>
            <a:xfrm>
              <a:off x="5245531" y="1614339"/>
              <a:ext cx="205822" cy="102668"/>
            </a:xfrm>
            <a:prstGeom prst="rect">
              <a:avLst/>
            </a:prstGeom>
          </p:spPr>
        </p:pic>
      </p:grpSp>
      <p:cxnSp>
        <p:nvCxnSpPr>
          <p:cNvPr id="58" name="Connector: Elbow 57">
            <a:extLst>
              <a:ext uri="{FF2B5EF4-FFF2-40B4-BE49-F238E27FC236}">
                <a16:creationId xmlns:a16="http://schemas.microsoft.com/office/drawing/2014/main" id="{D83B086B-D46F-B105-4D32-D185B789DBF2}"/>
              </a:ext>
            </a:extLst>
          </p:cNvPr>
          <p:cNvCxnSpPr>
            <a:cxnSpLocks/>
            <a:stCxn id="670" idx="3"/>
            <a:endCxn id="45" idx="2"/>
          </p:cNvCxnSpPr>
          <p:nvPr/>
        </p:nvCxnSpPr>
        <p:spPr>
          <a:xfrm flipV="1">
            <a:off x="4747362" y="1847355"/>
            <a:ext cx="2251973" cy="735607"/>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9"/>
          <a:stretch>
            <a:fillRect/>
          </a:stretch>
        </p:blipFill>
        <p:spPr>
          <a:xfrm>
            <a:off x="4498594" y="2164254"/>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11" idx="2"/>
            <a:endCxn id="578" idx="2"/>
          </p:cNvCxnSpPr>
          <p:nvPr/>
        </p:nvCxnSpPr>
        <p:spPr>
          <a:xfrm rot="5400000" flipH="1" flipV="1">
            <a:off x="3621415" y="2357760"/>
            <a:ext cx="115660" cy="3845385"/>
          </a:xfrm>
          <a:prstGeom prst="bentConnector3">
            <a:avLst>
              <a:gd name="adj1" fmla="val -197648"/>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6" name="Straight Arrow Connector 45">
            <a:extLst>
              <a:ext uri="{FF2B5EF4-FFF2-40B4-BE49-F238E27FC236}">
                <a16:creationId xmlns:a16="http://schemas.microsoft.com/office/drawing/2014/main" id="{36CAC7D1-4AD5-36D9-3BB6-B747E04DB9F4}"/>
              </a:ext>
            </a:extLst>
          </p:cNvPr>
          <p:cNvCxnSpPr>
            <a:cxnSpLocks/>
            <a:stCxn id="670" idx="1"/>
            <a:endCxn id="23" idx="3"/>
          </p:cNvCxnSpPr>
          <p:nvPr/>
        </p:nvCxnSpPr>
        <p:spPr>
          <a:xfrm flipH="1" flipV="1">
            <a:off x="2328495" y="2581254"/>
            <a:ext cx="415317" cy="1708"/>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1" name="Connector: Elbow 60">
            <a:extLst>
              <a:ext uri="{FF2B5EF4-FFF2-40B4-BE49-F238E27FC236}">
                <a16:creationId xmlns:a16="http://schemas.microsoft.com/office/drawing/2014/main" id="{90F2D6E8-FDD6-5AC5-EB36-442E01E842F2}"/>
              </a:ext>
            </a:extLst>
          </p:cNvPr>
          <p:cNvCxnSpPr>
            <a:cxnSpLocks/>
            <a:stCxn id="603" idx="3"/>
            <a:endCxn id="44" idx="0"/>
          </p:cNvCxnSpPr>
          <p:nvPr/>
        </p:nvCxnSpPr>
        <p:spPr>
          <a:xfrm flipH="1" flipV="1">
            <a:off x="5613963" y="1261301"/>
            <a:ext cx="2364253" cy="2560997"/>
          </a:xfrm>
          <a:prstGeom prst="bentConnector4">
            <a:avLst>
              <a:gd name="adj1" fmla="val -9669"/>
              <a:gd name="adj2" fmla="val 108926"/>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02" name="TextBox 601">
            <a:extLst>
              <a:ext uri="{FF2B5EF4-FFF2-40B4-BE49-F238E27FC236}">
                <a16:creationId xmlns:a16="http://schemas.microsoft.com/office/drawing/2014/main" id="{EC042D39-91E3-18C4-75C3-521CB6F495BA}"/>
              </a:ext>
            </a:extLst>
          </p:cNvPr>
          <p:cNvSpPr txBox="1"/>
          <p:nvPr/>
        </p:nvSpPr>
        <p:spPr>
          <a:xfrm>
            <a:off x="7164016" y="729752"/>
            <a:ext cx="1058884"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sp>
        <p:nvSpPr>
          <p:cNvPr id="611" name="TextBox 610">
            <a:extLst>
              <a:ext uri="{FF2B5EF4-FFF2-40B4-BE49-F238E27FC236}">
                <a16:creationId xmlns:a16="http://schemas.microsoft.com/office/drawing/2014/main" id="{3C8C8A28-F684-F05F-ECDA-E100BF1A9381}"/>
              </a:ext>
            </a:extLst>
          </p:cNvPr>
          <p:cNvSpPr txBox="1"/>
          <p:nvPr/>
        </p:nvSpPr>
        <p:spPr>
          <a:xfrm>
            <a:off x="7314447" y="1152311"/>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sync</a:t>
            </a:r>
          </a:p>
        </p:txBody>
      </p:sp>
      <p:pic>
        <p:nvPicPr>
          <p:cNvPr id="612" name="Picture 611">
            <a:extLst>
              <a:ext uri="{FF2B5EF4-FFF2-40B4-BE49-F238E27FC236}">
                <a16:creationId xmlns:a16="http://schemas.microsoft.com/office/drawing/2014/main" id="{9D793979-398E-F0E2-1801-6C83A845C4C5}"/>
              </a:ext>
            </a:extLst>
          </p:cNvPr>
          <p:cNvPicPr>
            <a:picLocks noChangeAspect="1"/>
          </p:cNvPicPr>
          <p:nvPr/>
        </p:nvPicPr>
        <p:blipFill>
          <a:blip r:embed="rId15"/>
          <a:srcRect/>
          <a:stretch/>
        </p:blipFill>
        <p:spPr>
          <a:xfrm>
            <a:off x="7164203" y="4280453"/>
            <a:ext cx="545832" cy="211696"/>
          </a:xfrm>
          <a:prstGeom prst="rect">
            <a:avLst/>
          </a:prstGeom>
        </p:spPr>
      </p:pic>
      <p:pic>
        <p:nvPicPr>
          <p:cNvPr id="43" name="Picture 42" descr="Docker Icon in SVG, PNG formats">
            <a:extLst>
              <a:ext uri="{FF2B5EF4-FFF2-40B4-BE49-F238E27FC236}">
                <a16:creationId xmlns:a16="http://schemas.microsoft.com/office/drawing/2014/main" id="{02BF4F29-3FA0-3D81-9E27-266C051E12FF}"/>
              </a:ext>
            </a:extLst>
          </p:cNvPr>
          <p:cNvPicPr>
            <a:picLocks noChangeAspect="1"/>
          </p:cNvPicPr>
          <p:nvPr/>
        </p:nvPicPr>
        <p:blipFill>
          <a:blip r:embed="rId9"/>
          <a:stretch>
            <a:fillRect/>
          </a:stretch>
        </p:blipFill>
        <p:spPr>
          <a:xfrm>
            <a:off x="4951499" y="2302755"/>
            <a:ext cx="247147" cy="247147"/>
          </a:xfrm>
          <a:prstGeom prst="rect">
            <a:avLst/>
          </a:prstGeom>
        </p:spPr>
      </p:pic>
      <p:grpSp>
        <p:nvGrpSpPr>
          <p:cNvPr id="577" name="Group 576">
            <a:extLst>
              <a:ext uri="{FF2B5EF4-FFF2-40B4-BE49-F238E27FC236}">
                <a16:creationId xmlns:a16="http://schemas.microsoft.com/office/drawing/2014/main" id="{1BEE3F64-79E9-0128-9AA2-21A825C33886}"/>
              </a:ext>
            </a:extLst>
          </p:cNvPr>
          <p:cNvGrpSpPr/>
          <p:nvPr/>
        </p:nvGrpSpPr>
        <p:grpSpPr>
          <a:xfrm>
            <a:off x="4833961" y="3683798"/>
            <a:ext cx="1549390" cy="538825"/>
            <a:chOff x="3699350" y="3918038"/>
            <a:chExt cx="1549390" cy="538825"/>
          </a:xfrm>
        </p:grpSpPr>
        <p:pic>
          <p:nvPicPr>
            <p:cNvPr id="578" name="Picture 577">
              <a:extLst>
                <a:ext uri="{FF2B5EF4-FFF2-40B4-BE49-F238E27FC236}">
                  <a16:creationId xmlns:a16="http://schemas.microsoft.com/office/drawing/2014/main" id="{70EBEC04-5C19-B805-C556-937840546B3A}"/>
                </a:ext>
              </a:extLst>
            </p:cNvPr>
            <p:cNvPicPr>
              <a:picLocks noChangeAspect="1"/>
            </p:cNvPicPr>
            <p:nvPr/>
          </p:nvPicPr>
          <p:blipFill>
            <a:blip r:embed="rId12"/>
            <a:stretch>
              <a:fillRect/>
            </a:stretch>
          </p:blipFill>
          <p:spPr>
            <a:xfrm>
              <a:off x="4362087" y="4246383"/>
              <a:ext cx="210480" cy="210480"/>
            </a:xfrm>
            <a:prstGeom prst="rect">
              <a:avLst/>
            </a:prstGeom>
          </p:spPr>
        </p:pic>
        <p:sp>
          <p:nvSpPr>
            <p:cNvPr id="579" name="TextBox 578">
              <a:extLst>
                <a:ext uri="{FF2B5EF4-FFF2-40B4-BE49-F238E27FC236}">
                  <a16:creationId xmlns:a16="http://schemas.microsoft.com/office/drawing/2014/main" id="{07349DDB-24EF-530B-6C45-8F4C7FC067F4}"/>
                </a:ext>
              </a:extLst>
            </p:cNvPr>
            <p:cNvSpPr txBox="1"/>
            <p:nvPr/>
          </p:nvSpPr>
          <p:spPr>
            <a:xfrm>
              <a:off x="3699350" y="3918038"/>
              <a:ext cx="1549390" cy="276999"/>
            </a:xfrm>
            <a:prstGeom prst="rect">
              <a:avLst/>
            </a:prstGeom>
            <a:noFill/>
          </p:spPr>
          <p:txBody>
            <a:bodyPr wrap="square" rtlCol="0">
              <a:spAutoFit/>
            </a:bodyPr>
            <a:lstStyle/>
            <a:p>
              <a:pPr algn="ctr"/>
              <a:r>
                <a:rPr lang="en-US" sz="1200" b="1" dirty="0" err="1">
                  <a:solidFill>
                    <a:srgbClr val="262626"/>
                  </a:solidFill>
                </a:rPr>
                <a:t>pushgateway</a:t>
              </a:r>
              <a:r>
                <a:rPr lang="en-US" sz="1200" b="1" dirty="0">
                  <a:solidFill>
                    <a:srgbClr val="262626"/>
                  </a:solidFill>
                </a:rPr>
                <a:t> </a:t>
              </a:r>
              <a:r>
                <a:rPr lang="en-US" sz="1000" dirty="0">
                  <a:solidFill>
                    <a:srgbClr val="0000EE"/>
                  </a:solidFill>
                </a:rPr>
                <a:t>:9091</a:t>
              </a:r>
            </a:p>
          </p:txBody>
        </p:sp>
      </p:grpSp>
      <p:grpSp>
        <p:nvGrpSpPr>
          <p:cNvPr id="581" name="Group 580">
            <a:extLst>
              <a:ext uri="{FF2B5EF4-FFF2-40B4-BE49-F238E27FC236}">
                <a16:creationId xmlns:a16="http://schemas.microsoft.com/office/drawing/2014/main" id="{937C7800-0DCC-FE3F-7C02-BE2E02884469}"/>
              </a:ext>
            </a:extLst>
          </p:cNvPr>
          <p:cNvGrpSpPr/>
          <p:nvPr/>
        </p:nvGrpSpPr>
        <p:grpSpPr>
          <a:xfrm>
            <a:off x="3205412" y="3691468"/>
            <a:ext cx="1502296" cy="531155"/>
            <a:chOff x="6163041" y="2436617"/>
            <a:chExt cx="1502296" cy="531155"/>
          </a:xfrm>
        </p:grpSpPr>
        <p:pic>
          <p:nvPicPr>
            <p:cNvPr id="582" name="Picture 581">
              <a:extLst>
                <a:ext uri="{FF2B5EF4-FFF2-40B4-BE49-F238E27FC236}">
                  <a16:creationId xmlns:a16="http://schemas.microsoft.com/office/drawing/2014/main" id="{4E7F6785-9F64-EC53-EC48-501B361AB092}"/>
                </a:ext>
              </a:extLst>
            </p:cNvPr>
            <p:cNvPicPr>
              <a:picLocks noChangeAspect="1"/>
            </p:cNvPicPr>
            <p:nvPr/>
          </p:nvPicPr>
          <p:blipFill>
            <a:blip r:embed="rId12"/>
            <a:stretch>
              <a:fillRect/>
            </a:stretch>
          </p:blipFill>
          <p:spPr>
            <a:xfrm>
              <a:off x="6809093" y="2759078"/>
              <a:ext cx="208694" cy="208694"/>
            </a:xfrm>
            <a:prstGeom prst="rect">
              <a:avLst/>
            </a:prstGeom>
          </p:spPr>
        </p:pic>
        <p:sp>
          <p:nvSpPr>
            <p:cNvPr id="584" name="TextBox 583">
              <a:extLst>
                <a:ext uri="{FF2B5EF4-FFF2-40B4-BE49-F238E27FC236}">
                  <a16:creationId xmlns:a16="http://schemas.microsoft.com/office/drawing/2014/main" id="{BC3071E4-D6C0-69D3-50D6-6928959F8EE1}"/>
                </a:ext>
              </a:extLst>
            </p:cNvPr>
            <p:cNvSpPr txBox="1"/>
            <p:nvPr/>
          </p:nvSpPr>
          <p:spPr>
            <a:xfrm>
              <a:off x="6163041" y="2436617"/>
              <a:ext cx="1502296" cy="276999"/>
            </a:xfrm>
            <a:prstGeom prst="rect">
              <a:avLst/>
            </a:prstGeom>
            <a:noFill/>
          </p:spPr>
          <p:txBody>
            <a:bodyPr wrap="square" rtlCol="0">
              <a:spAutoFit/>
            </a:bodyPr>
            <a:lstStyle/>
            <a:p>
              <a:pPr algn="ctr"/>
              <a:r>
                <a:rPr lang="en-US" sz="1200" b="1" dirty="0" err="1">
                  <a:solidFill>
                    <a:srgbClr val="262626"/>
                  </a:solidFill>
                </a:rPr>
                <a:t>alertmanager</a:t>
              </a:r>
              <a:r>
                <a:rPr lang="en-US" sz="1200" b="1" dirty="0">
                  <a:solidFill>
                    <a:srgbClr val="262626"/>
                  </a:solidFill>
                </a:rPr>
                <a:t> </a:t>
              </a:r>
              <a:r>
                <a:rPr lang="en-US" sz="1000" dirty="0">
                  <a:solidFill>
                    <a:srgbClr val="0000EE"/>
                  </a:solidFill>
                </a:rPr>
                <a:t>:9093</a:t>
              </a:r>
            </a:p>
          </p:txBody>
        </p:sp>
      </p:grpSp>
      <p:cxnSp>
        <p:nvCxnSpPr>
          <p:cNvPr id="598" name="Connector: Elbow 597">
            <a:extLst>
              <a:ext uri="{FF2B5EF4-FFF2-40B4-BE49-F238E27FC236}">
                <a16:creationId xmlns:a16="http://schemas.microsoft.com/office/drawing/2014/main" id="{00592433-AAB6-EBBA-427C-FDA4956C94B8}"/>
              </a:ext>
            </a:extLst>
          </p:cNvPr>
          <p:cNvCxnSpPr>
            <a:cxnSpLocks/>
            <a:stCxn id="16" idx="2"/>
            <a:endCxn id="603" idx="0"/>
          </p:cNvCxnSpPr>
          <p:nvPr/>
        </p:nvCxnSpPr>
        <p:spPr>
          <a:xfrm rot="16200000" flipH="1">
            <a:off x="5465563" y="1712242"/>
            <a:ext cx="949048" cy="2994064"/>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4" name="Connector: Elbow 603">
            <a:extLst>
              <a:ext uri="{FF2B5EF4-FFF2-40B4-BE49-F238E27FC236}">
                <a16:creationId xmlns:a16="http://schemas.microsoft.com/office/drawing/2014/main" id="{18C0D358-9AEA-419D-50A5-DA7D4D2A8811}"/>
              </a:ext>
            </a:extLst>
          </p:cNvPr>
          <p:cNvCxnSpPr>
            <a:cxnSpLocks/>
            <a:stCxn id="634" idx="2"/>
            <a:endCxn id="579" idx="0"/>
          </p:cNvCxnSpPr>
          <p:nvPr/>
        </p:nvCxnSpPr>
        <p:spPr>
          <a:xfrm rot="16200000" flipH="1">
            <a:off x="4364297" y="2439439"/>
            <a:ext cx="945576" cy="1543142"/>
          </a:xfrm>
          <a:prstGeom prst="bentConnector3">
            <a:avLst>
              <a:gd name="adj1" fmla="val 72833"/>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7" name="Connector: Elbow 606">
            <a:extLst>
              <a:ext uri="{FF2B5EF4-FFF2-40B4-BE49-F238E27FC236}">
                <a16:creationId xmlns:a16="http://schemas.microsoft.com/office/drawing/2014/main" id="{2CCFBE42-CAE6-50C3-937E-1E156A3C2430}"/>
              </a:ext>
            </a:extLst>
          </p:cNvPr>
          <p:cNvCxnSpPr>
            <a:cxnSpLocks/>
            <a:stCxn id="670" idx="2"/>
            <a:endCxn id="584" idx="0"/>
          </p:cNvCxnSpPr>
          <p:nvPr/>
        </p:nvCxnSpPr>
        <p:spPr>
          <a:xfrm rot="16200000" flipH="1">
            <a:off x="3373764" y="3108672"/>
            <a:ext cx="954618" cy="210973"/>
          </a:xfrm>
          <a:prstGeom prst="bentConnector3">
            <a:avLst>
              <a:gd name="adj1" fmla="val 80599"/>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6" name="Rectangle 615">
            <a:extLst>
              <a:ext uri="{FF2B5EF4-FFF2-40B4-BE49-F238E27FC236}">
                <a16:creationId xmlns:a16="http://schemas.microsoft.com/office/drawing/2014/main" id="{B79268E1-1FF2-E3F7-83C4-892B534AD046}"/>
              </a:ext>
            </a:extLst>
          </p:cNvPr>
          <p:cNvSpPr/>
          <p:nvPr/>
        </p:nvSpPr>
        <p:spPr>
          <a:xfrm>
            <a:off x="2798587"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8" name="Rectangle 617">
            <a:extLst>
              <a:ext uri="{FF2B5EF4-FFF2-40B4-BE49-F238E27FC236}">
                <a16:creationId xmlns:a16="http://schemas.microsoft.com/office/drawing/2014/main" id="{6A879483-F847-70AB-D6F6-8DB6192989F2}"/>
              </a:ext>
            </a:extLst>
          </p:cNvPr>
          <p:cNvSpPr/>
          <p:nvPr/>
        </p:nvSpPr>
        <p:spPr>
          <a:xfrm>
            <a:off x="2815400" y="2589064"/>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E45319CC-60ED-A6EB-B129-B32EAD07A434}"/>
              </a:ext>
            </a:extLst>
          </p:cNvPr>
          <p:cNvSpPr/>
          <p:nvPr/>
        </p:nvSpPr>
        <p:spPr>
          <a:xfrm>
            <a:off x="3826491" y="2590437"/>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9" name="Picture 638" descr="Docker Icon in SVG, PNG formats">
            <a:extLst>
              <a:ext uri="{FF2B5EF4-FFF2-40B4-BE49-F238E27FC236}">
                <a16:creationId xmlns:a16="http://schemas.microsoft.com/office/drawing/2014/main" id="{E5A945B1-3F34-99BC-1F39-58D5B7CC0C47}"/>
              </a:ext>
            </a:extLst>
          </p:cNvPr>
          <p:cNvPicPr>
            <a:picLocks noChangeAspect="1"/>
          </p:cNvPicPr>
          <p:nvPr/>
        </p:nvPicPr>
        <p:blipFill>
          <a:blip r:embed="rId9"/>
          <a:stretch>
            <a:fillRect/>
          </a:stretch>
        </p:blipFill>
        <p:spPr>
          <a:xfrm>
            <a:off x="4531769" y="2763306"/>
            <a:ext cx="247147" cy="247147"/>
          </a:xfrm>
          <a:prstGeom prst="rect">
            <a:avLst/>
          </a:prstGeom>
        </p:spPr>
      </p:pic>
      <p:pic>
        <p:nvPicPr>
          <p:cNvPr id="642" name="Picture 641" descr="Docker Icon in SVG, PNG formats">
            <a:extLst>
              <a:ext uri="{FF2B5EF4-FFF2-40B4-BE49-F238E27FC236}">
                <a16:creationId xmlns:a16="http://schemas.microsoft.com/office/drawing/2014/main" id="{C0DD4458-A889-CD6E-4B04-0306FE962967}"/>
              </a:ext>
            </a:extLst>
          </p:cNvPr>
          <p:cNvPicPr>
            <a:picLocks noChangeAspect="1"/>
          </p:cNvPicPr>
          <p:nvPr/>
        </p:nvPicPr>
        <p:blipFill>
          <a:blip r:embed="rId9"/>
          <a:stretch>
            <a:fillRect/>
          </a:stretch>
        </p:blipFill>
        <p:spPr>
          <a:xfrm>
            <a:off x="4133708" y="2760667"/>
            <a:ext cx="247147" cy="247147"/>
          </a:xfrm>
          <a:prstGeom prst="rect">
            <a:avLst/>
          </a:prstGeom>
        </p:spPr>
      </p:pic>
      <p:pic>
        <p:nvPicPr>
          <p:cNvPr id="643" name="Picture 642" descr="Docker Icon in SVG, PNG formats">
            <a:extLst>
              <a:ext uri="{FF2B5EF4-FFF2-40B4-BE49-F238E27FC236}">
                <a16:creationId xmlns:a16="http://schemas.microsoft.com/office/drawing/2014/main" id="{75167DDE-E160-93D8-99D0-057A836EE44C}"/>
              </a:ext>
            </a:extLst>
          </p:cNvPr>
          <p:cNvPicPr>
            <a:picLocks noChangeAspect="1"/>
          </p:cNvPicPr>
          <p:nvPr/>
        </p:nvPicPr>
        <p:blipFill>
          <a:blip r:embed="rId9"/>
          <a:stretch>
            <a:fillRect/>
          </a:stretch>
        </p:blipFill>
        <p:spPr>
          <a:xfrm>
            <a:off x="3803464" y="2763305"/>
            <a:ext cx="247147" cy="247147"/>
          </a:xfrm>
          <a:prstGeom prst="rect">
            <a:avLst/>
          </a:prstGeom>
        </p:spPr>
      </p:pic>
      <p:cxnSp>
        <p:nvCxnSpPr>
          <p:cNvPr id="662" name="Straight Arrow Connector 661">
            <a:extLst>
              <a:ext uri="{FF2B5EF4-FFF2-40B4-BE49-F238E27FC236}">
                <a16:creationId xmlns:a16="http://schemas.microsoft.com/office/drawing/2014/main" id="{38A6E58C-57E3-AE74-D6CF-A3782CBB906B}"/>
              </a:ext>
            </a:extLst>
          </p:cNvPr>
          <p:cNvCxnSpPr>
            <a:cxnSpLocks/>
            <a:stCxn id="603" idx="1"/>
            <a:endCxn id="579" idx="3"/>
          </p:cNvCxnSpPr>
          <p:nvPr/>
        </p:nvCxnSpPr>
        <p:spPr>
          <a:xfrm flipH="1">
            <a:off x="6383351" y="3822298"/>
            <a:ext cx="512671" cy="0"/>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74" name="TextBox 673">
            <a:extLst>
              <a:ext uri="{FF2B5EF4-FFF2-40B4-BE49-F238E27FC236}">
                <a16:creationId xmlns:a16="http://schemas.microsoft.com/office/drawing/2014/main" id="{D892161A-D96B-8D63-1B9B-9133C504EAA1}"/>
              </a:ext>
            </a:extLst>
          </p:cNvPr>
          <p:cNvSpPr txBox="1"/>
          <p:nvPr/>
        </p:nvSpPr>
        <p:spPr>
          <a:xfrm>
            <a:off x="6386592" y="3537953"/>
            <a:ext cx="61274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sp>
        <p:nvSpPr>
          <p:cNvPr id="679" name="TextBox 678">
            <a:extLst>
              <a:ext uri="{FF2B5EF4-FFF2-40B4-BE49-F238E27FC236}">
                <a16:creationId xmlns:a16="http://schemas.microsoft.com/office/drawing/2014/main" id="{A7C092EA-DD48-C62A-EA0F-6407E3AB9805}"/>
              </a:ext>
            </a:extLst>
          </p:cNvPr>
          <p:cNvSpPr txBox="1"/>
          <p:nvPr/>
        </p:nvSpPr>
        <p:spPr>
          <a:xfrm>
            <a:off x="1921067" y="4321241"/>
            <a:ext cx="3447675"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680" name="TextBox 679">
            <a:extLst>
              <a:ext uri="{FF2B5EF4-FFF2-40B4-BE49-F238E27FC236}">
                <a16:creationId xmlns:a16="http://schemas.microsoft.com/office/drawing/2014/main" id="{4E3C30D1-6F4C-10EF-6C6A-90F28B779B28}"/>
              </a:ext>
            </a:extLst>
          </p:cNvPr>
          <p:cNvSpPr txBox="1"/>
          <p:nvPr/>
        </p:nvSpPr>
        <p:spPr>
          <a:xfrm>
            <a:off x="2488222" y="3559934"/>
            <a:ext cx="647561" cy="276999"/>
          </a:xfrm>
          <a:prstGeom prst="rect">
            <a:avLst/>
          </a:prstGeom>
          <a:noFill/>
        </p:spPr>
        <p:txBody>
          <a:bodyPr wrap="square" rtlCol="0">
            <a:spAutoFit/>
          </a:bodyPr>
          <a:lstStyle/>
          <a:p>
            <a:pPr algn="ctr"/>
            <a:r>
              <a:rPr lang="en-US" sz="1200" dirty="0">
                <a:solidFill>
                  <a:schemeClr val="tx1">
                    <a:lumMod val="75000"/>
                    <a:lumOff val="25000"/>
                  </a:schemeClr>
                </a:solidFill>
              </a:rPr>
              <a:t>alert</a:t>
            </a:r>
          </a:p>
        </p:txBody>
      </p:sp>
      <p:sp>
        <p:nvSpPr>
          <p:cNvPr id="681" name="TextBox 680">
            <a:extLst>
              <a:ext uri="{FF2B5EF4-FFF2-40B4-BE49-F238E27FC236}">
                <a16:creationId xmlns:a16="http://schemas.microsoft.com/office/drawing/2014/main" id="{B6B50507-72F7-BBF6-6E74-EB5A67B30E57}"/>
              </a:ext>
            </a:extLst>
          </p:cNvPr>
          <p:cNvSpPr txBox="1"/>
          <p:nvPr/>
        </p:nvSpPr>
        <p:spPr>
          <a:xfrm>
            <a:off x="2139094" y="3878302"/>
            <a:ext cx="1376138" cy="246221"/>
          </a:xfrm>
          <a:prstGeom prst="rect">
            <a:avLst/>
          </a:prstGeom>
          <a:noFill/>
        </p:spPr>
        <p:txBody>
          <a:bodyPr wrap="square" rtlCol="0">
            <a:spAutoFit/>
          </a:bodyPr>
          <a:lstStyle/>
          <a:p>
            <a:pPr algn="ctr"/>
            <a:r>
              <a:rPr lang="en-US" sz="1000" dirty="0">
                <a:solidFill>
                  <a:schemeClr val="tx1">
                    <a:lumMod val="75000"/>
                    <a:lumOff val="25000"/>
                  </a:schemeClr>
                </a:solidFill>
              </a:rPr>
              <a:t>[ETL overdue 2h?]</a:t>
            </a:r>
          </a:p>
        </p:txBody>
      </p:sp>
      <p:cxnSp>
        <p:nvCxnSpPr>
          <p:cNvPr id="682" name="Straight Arrow Connector 681">
            <a:extLst>
              <a:ext uri="{FF2B5EF4-FFF2-40B4-BE49-F238E27FC236}">
                <a16:creationId xmlns:a16="http://schemas.microsoft.com/office/drawing/2014/main" id="{0F323F58-7904-EFD6-330F-9BD1E6243611}"/>
              </a:ext>
            </a:extLst>
          </p:cNvPr>
          <p:cNvCxnSpPr>
            <a:cxnSpLocks/>
            <a:stCxn id="18" idx="3"/>
            <a:endCxn id="584" idx="1"/>
          </p:cNvCxnSpPr>
          <p:nvPr/>
        </p:nvCxnSpPr>
        <p:spPr>
          <a:xfrm>
            <a:off x="2473319" y="3829968"/>
            <a:ext cx="732093" cy="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94" name="Connector: Elbow 693">
            <a:extLst>
              <a:ext uri="{FF2B5EF4-FFF2-40B4-BE49-F238E27FC236}">
                <a16:creationId xmlns:a16="http://schemas.microsoft.com/office/drawing/2014/main" id="{025B8F0E-F385-D4A1-78AC-0E13BC087EF9}"/>
              </a:ext>
            </a:extLst>
          </p:cNvPr>
          <p:cNvCxnSpPr>
            <a:cxnSpLocks/>
            <a:stCxn id="18" idx="1"/>
            <a:endCxn id="713" idx="0"/>
          </p:cNvCxnSpPr>
          <p:nvPr/>
        </p:nvCxnSpPr>
        <p:spPr>
          <a:xfrm rot="10800000" flipH="1">
            <a:off x="1039787" y="1101202"/>
            <a:ext cx="2722890" cy="2728766"/>
          </a:xfrm>
          <a:prstGeom prst="bentConnector4">
            <a:avLst>
              <a:gd name="adj1" fmla="val -8395"/>
              <a:gd name="adj2" fmla="val 1083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95" name="TextBox 694">
            <a:extLst>
              <a:ext uri="{FF2B5EF4-FFF2-40B4-BE49-F238E27FC236}">
                <a16:creationId xmlns:a16="http://schemas.microsoft.com/office/drawing/2014/main" id="{EA7053D9-B52D-9D8E-2BBC-AA4F516E9D36}"/>
              </a:ext>
            </a:extLst>
          </p:cNvPr>
          <p:cNvSpPr txBox="1"/>
          <p:nvPr/>
        </p:nvSpPr>
        <p:spPr>
          <a:xfrm rot="16200000">
            <a:off x="293651" y="2304254"/>
            <a:ext cx="1318130"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704" name="Rectangle 703">
            <a:extLst>
              <a:ext uri="{FF2B5EF4-FFF2-40B4-BE49-F238E27FC236}">
                <a16:creationId xmlns:a16="http://schemas.microsoft.com/office/drawing/2014/main" id="{E8533429-8D73-52DA-3466-DCFB2E317C04}"/>
              </a:ext>
            </a:extLst>
          </p:cNvPr>
          <p:cNvSpPr/>
          <p:nvPr/>
        </p:nvSpPr>
        <p:spPr>
          <a:xfrm>
            <a:off x="1844099" y="3691466"/>
            <a:ext cx="478046" cy="17323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TextBox 706">
            <a:extLst>
              <a:ext uri="{FF2B5EF4-FFF2-40B4-BE49-F238E27FC236}">
                <a16:creationId xmlns:a16="http://schemas.microsoft.com/office/drawing/2014/main" id="{50AD4687-5C4E-C403-4E9D-5404D3AE9A97}"/>
              </a:ext>
            </a:extLst>
          </p:cNvPr>
          <p:cNvSpPr txBox="1"/>
          <p:nvPr/>
        </p:nvSpPr>
        <p:spPr>
          <a:xfrm rot="16200000">
            <a:off x="1245315" y="3278648"/>
            <a:ext cx="671404"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cxnSp>
        <p:nvCxnSpPr>
          <p:cNvPr id="708" name="Straight Arrow Connector 707">
            <a:extLst>
              <a:ext uri="{FF2B5EF4-FFF2-40B4-BE49-F238E27FC236}">
                <a16:creationId xmlns:a16="http://schemas.microsoft.com/office/drawing/2014/main" id="{B1AB7FB5-9332-8A45-87FF-4F0B61E999F1}"/>
              </a:ext>
            </a:extLst>
          </p:cNvPr>
          <p:cNvCxnSpPr>
            <a:cxnSpLocks/>
            <a:stCxn id="9" idx="2"/>
            <a:endCxn id="18" idx="0"/>
          </p:cNvCxnSpPr>
          <p:nvPr/>
        </p:nvCxnSpPr>
        <p:spPr>
          <a:xfrm>
            <a:off x="1749042" y="3081446"/>
            <a:ext cx="7511" cy="61002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717" name="Connector: Elbow 716">
            <a:extLst>
              <a:ext uri="{FF2B5EF4-FFF2-40B4-BE49-F238E27FC236}">
                <a16:creationId xmlns:a16="http://schemas.microsoft.com/office/drawing/2014/main" id="{D2D14661-B651-232E-DFD6-E19312F43344}"/>
              </a:ext>
            </a:extLst>
          </p:cNvPr>
          <p:cNvCxnSpPr>
            <a:cxnSpLocks/>
            <a:stCxn id="742" idx="3"/>
            <a:endCxn id="10" idx="0"/>
          </p:cNvCxnSpPr>
          <p:nvPr/>
        </p:nvCxnSpPr>
        <p:spPr>
          <a:xfrm flipV="1">
            <a:off x="3956560" y="1268576"/>
            <a:ext cx="3032175" cy="64543"/>
          </a:xfrm>
          <a:prstGeom prst="bentConnector4">
            <a:avLst>
              <a:gd name="adj1" fmla="val 16105"/>
              <a:gd name="adj2" fmla="val 716219"/>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742" name="Rectangle 741">
            <a:extLst>
              <a:ext uri="{FF2B5EF4-FFF2-40B4-BE49-F238E27FC236}">
                <a16:creationId xmlns:a16="http://schemas.microsoft.com/office/drawing/2014/main" id="{EC7FFF2E-8428-F30C-6EF9-663170A5526E}"/>
              </a:ext>
            </a:extLst>
          </p:cNvPr>
          <p:cNvSpPr/>
          <p:nvPr/>
        </p:nvSpPr>
        <p:spPr>
          <a:xfrm>
            <a:off x="3823425" y="1256612"/>
            <a:ext cx="133135" cy="15301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6E5A40FB-EE86-A180-2384-46025D792821}"/>
              </a:ext>
            </a:extLst>
          </p:cNvPr>
          <p:cNvSpPr/>
          <p:nvPr/>
        </p:nvSpPr>
        <p:spPr>
          <a:xfrm>
            <a:off x="3830496" y="1409625"/>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60B693E4-F85D-40E5-0A61-1AC82BA8C76F}"/>
              </a:ext>
            </a:extLst>
          </p:cNvPr>
          <p:cNvSpPr/>
          <p:nvPr/>
        </p:nvSpPr>
        <p:spPr>
          <a:xfrm>
            <a:off x="5444353" y="1407940"/>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TextBox 753">
            <a:extLst>
              <a:ext uri="{FF2B5EF4-FFF2-40B4-BE49-F238E27FC236}">
                <a16:creationId xmlns:a16="http://schemas.microsoft.com/office/drawing/2014/main" id="{66C76BB4-B06D-2CDD-6368-527961DDCF4B}"/>
              </a:ext>
            </a:extLst>
          </p:cNvPr>
          <p:cNvSpPr txBox="1"/>
          <p:nvPr/>
        </p:nvSpPr>
        <p:spPr>
          <a:xfrm>
            <a:off x="4460286" y="860665"/>
            <a:ext cx="85729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spTree>
    <p:extLst>
      <p:ext uri="{BB962C8B-B14F-4D97-AF65-F5344CB8AC3E}">
        <p14:creationId xmlns:p14="http://schemas.microsoft.com/office/powerpoint/2010/main" val="1301025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6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8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2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5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3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61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2"/>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60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11"/>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8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2"/>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27"/>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3"/>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08"/>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70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9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94"/>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42"/>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7"/>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66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74"/>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57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79"/>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607"/>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43"/>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581"/>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681"/>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8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6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4" grpId="0"/>
      <p:bldP spid="670" grpId="0" animBg="1"/>
      <p:bldP spid="4" grpId="0"/>
      <p:bldP spid="602" grpId="0"/>
      <p:bldP spid="611" grpId="0"/>
      <p:bldP spid="674" grpId="0"/>
      <p:bldP spid="679" grpId="0"/>
      <p:bldP spid="680" grpId="0"/>
      <p:bldP spid="681" grpId="0"/>
      <p:bldP spid="695" grpId="0"/>
      <p:bldP spid="707" grpId="0"/>
      <p:bldP spid="75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9F6F1C5-4FCA-226F-B7D5-DE7394DD994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Continuous Integration with GitHub Actions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AC68D044-7BCA-2620-6CB7-E9CE4CD03D37}"/>
              </a:ext>
            </a:extLst>
          </p:cNvPr>
          <p:cNvSpPr txBox="1"/>
          <p:nvPr/>
        </p:nvSpPr>
        <p:spPr>
          <a:xfrm>
            <a:off x="1671288" y="2366403"/>
            <a:ext cx="418289" cy="246221"/>
          </a:xfrm>
          <a:prstGeom prst="rect">
            <a:avLst/>
          </a:prstGeom>
          <a:noFill/>
        </p:spPr>
        <p:txBody>
          <a:bodyPr wrap="square" rtlCol="0">
            <a:spAutoFit/>
          </a:bodyPr>
          <a:lstStyle/>
          <a:p>
            <a:r>
              <a:rPr lang="en-US" sz="1000" dirty="0"/>
              <a:t>no</a:t>
            </a:r>
          </a:p>
        </p:txBody>
      </p:sp>
      <p:sp>
        <p:nvSpPr>
          <p:cNvPr id="5" name="Diamond 4">
            <a:extLst>
              <a:ext uri="{FF2B5EF4-FFF2-40B4-BE49-F238E27FC236}">
                <a16:creationId xmlns:a16="http://schemas.microsoft.com/office/drawing/2014/main" id="{F5CCFBEF-FB87-3D5D-53BD-C15A74B0E2A1}"/>
              </a:ext>
            </a:extLst>
          </p:cNvPr>
          <p:cNvSpPr/>
          <p:nvPr/>
        </p:nvSpPr>
        <p:spPr>
          <a:xfrm>
            <a:off x="1106649" y="1214697"/>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Push event?</a:t>
            </a:r>
          </a:p>
        </p:txBody>
      </p:sp>
      <p:sp>
        <p:nvSpPr>
          <p:cNvPr id="6" name="TextBox 5">
            <a:extLst>
              <a:ext uri="{FF2B5EF4-FFF2-40B4-BE49-F238E27FC236}">
                <a16:creationId xmlns:a16="http://schemas.microsoft.com/office/drawing/2014/main" id="{43C696E6-FB30-02B4-653B-70DE5F4B05FD}"/>
              </a:ext>
            </a:extLst>
          </p:cNvPr>
          <p:cNvSpPr txBox="1"/>
          <p:nvPr/>
        </p:nvSpPr>
        <p:spPr>
          <a:xfrm>
            <a:off x="1671288" y="962834"/>
            <a:ext cx="418289" cy="246221"/>
          </a:xfrm>
          <a:prstGeom prst="rect">
            <a:avLst/>
          </a:prstGeom>
          <a:noFill/>
        </p:spPr>
        <p:txBody>
          <a:bodyPr wrap="square" rtlCol="0">
            <a:spAutoFit/>
          </a:bodyPr>
          <a:lstStyle/>
          <a:p>
            <a:r>
              <a:rPr lang="en-US" sz="1000" dirty="0"/>
              <a:t>yes</a:t>
            </a:r>
          </a:p>
        </p:txBody>
      </p:sp>
      <p:cxnSp>
        <p:nvCxnSpPr>
          <p:cNvPr id="10" name="Connector: Elbow 9">
            <a:extLst>
              <a:ext uri="{FF2B5EF4-FFF2-40B4-BE49-F238E27FC236}">
                <a16:creationId xmlns:a16="http://schemas.microsoft.com/office/drawing/2014/main" id="{108DBB25-0D5F-69D0-3BE7-E8E531EED91C}"/>
              </a:ext>
            </a:extLst>
          </p:cNvPr>
          <p:cNvCxnSpPr>
            <a:cxnSpLocks/>
            <a:stCxn id="5" idx="0"/>
            <a:endCxn id="13" idx="0"/>
          </p:cNvCxnSpPr>
          <p:nvPr/>
        </p:nvCxnSpPr>
        <p:spPr>
          <a:xfrm rot="16200000" flipH="1">
            <a:off x="2602814" y="283170"/>
            <a:ext cx="105161" cy="1968214"/>
          </a:xfrm>
          <a:prstGeom prst="bentConnector3">
            <a:avLst>
              <a:gd name="adj1" fmla="val -21738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36D478F9-F166-49F8-5F10-44FE33E4B2FA}"/>
              </a:ext>
            </a:extLst>
          </p:cNvPr>
          <p:cNvCxnSpPr>
            <a:cxnSpLocks/>
            <a:stCxn id="26" idx="3"/>
            <a:endCxn id="13" idx="1"/>
          </p:cNvCxnSpPr>
          <p:nvPr/>
        </p:nvCxnSpPr>
        <p:spPr>
          <a:xfrm flipV="1">
            <a:off x="2235927" y="1739034"/>
            <a:ext cx="616863" cy="1598379"/>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5C21F40-9276-2978-B905-9C7299C11BB1}"/>
              </a:ext>
            </a:extLst>
          </p:cNvPr>
          <p:cNvCxnSpPr>
            <a:cxnSpLocks/>
            <a:stCxn id="21" idx="6"/>
            <a:endCxn id="5" idx="1"/>
          </p:cNvCxnSpPr>
          <p:nvPr/>
        </p:nvCxnSpPr>
        <p:spPr>
          <a:xfrm>
            <a:off x="821012" y="1736952"/>
            <a:ext cx="285637"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1442CA3-3992-7868-A5D7-0B0523723778}"/>
              </a:ext>
            </a:extLst>
          </p:cNvPr>
          <p:cNvSpPr txBox="1"/>
          <p:nvPr/>
        </p:nvSpPr>
        <p:spPr>
          <a:xfrm rot="16200000">
            <a:off x="-32425" y="2428104"/>
            <a:ext cx="1460656" cy="246221"/>
          </a:xfrm>
          <a:prstGeom prst="rect">
            <a:avLst/>
          </a:prstGeom>
          <a:noFill/>
        </p:spPr>
        <p:txBody>
          <a:bodyPr wrap="none" rtlCol="0">
            <a:spAutoFit/>
          </a:bodyPr>
          <a:lstStyle/>
          <a:p>
            <a:r>
              <a:rPr lang="en-US" sz="1000" dirty="0"/>
              <a:t>GitHub event occurred</a:t>
            </a:r>
          </a:p>
        </p:txBody>
      </p:sp>
      <p:sp>
        <p:nvSpPr>
          <p:cNvPr id="21" name="Oval 20">
            <a:extLst>
              <a:ext uri="{FF2B5EF4-FFF2-40B4-BE49-F238E27FC236}">
                <a16:creationId xmlns:a16="http://schemas.microsoft.com/office/drawing/2014/main" id="{5A6F1E7E-FEC3-7C1D-9142-737848DCD692}"/>
              </a:ext>
            </a:extLst>
          </p:cNvPr>
          <p:cNvSpPr/>
          <p:nvPr/>
        </p:nvSpPr>
        <p:spPr>
          <a:xfrm>
            <a:off x="609862" y="163137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Diamond 25">
            <a:extLst>
              <a:ext uri="{FF2B5EF4-FFF2-40B4-BE49-F238E27FC236}">
                <a16:creationId xmlns:a16="http://schemas.microsoft.com/office/drawing/2014/main" id="{267BAC69-8630-922A-B4D1-6C56EB598D34}"/>
              </a:ext>
            </a:extLst>
          </p:cNvPr>
          <p:cNvSpPr/>
          <p:nvPr/>
        </p:nvSpPr>
        <p:spPr>
          <a:xfrm>
            <a:off x="1106649" y="2815158"/>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PR targeting</a:t>
            </a:r>
          </a:p>
          <a:p>
            <a:pPr algn="ctr"/>
            <a:r>
              <a:rPr lang="en-US" sz="1000" i="1" dirty="0">
                <a:solidFill>
                  <a:schemeClr val="tx1">
                    <a:lumMod val="85000"/>
                    <a:lumOff val="15000"/>
                  </a:schemeClr>
                </a:solidFill>
              </a:rPr>
              <a:t>main</a:t>
            </a:r>
            <a:r>
              <a:rPr lang="en-US" sz="1000" dirty="0">
                <a:solidFill>
                  <a:schemeClr val="tx1">
                    <a:lumMod val="85000"/>
                    <a:lumOff val="15000"/>
                  </a:schemeClr>
                </a:solidFill>
              </a:rPr>
              <a:t> or </a:t>
            </a:r>
            <a:r>
              <a:rPr lang="en-US" sz="1000" i="1" dirty="0">
                <a:solidFill>
                  <a:schemeClr val="tx1">
                    <a:lumMod val="85000"/>
                    <a:lumOff val="15000"/>
                  </a:schemeClr>
                </a:solidFill>
              </a:rPr>
              <a:t>master</a:t>
            </a:r>
            <a:r>
              <a:rPr lang="en-US" sz="1000" dirty="0">
                <a:solidFill>
                  <a:schemeClr val="tx1">
                    <a:lumMod val="85000"/>
                    <a:lumOff val="15000"/>
                  </a:schemeClr>
                </a:solidFill>
              </a:rPr>
              <a:t>?</a:t>
            </a:r>
          </a:p>
        </p:txBody>
      </p:sp>
      <p:sp>
        <p:nvSpPr>
          <p:cNvPr id="30" name="Rectangle: Rounded Corners 29">
            <a:extLst>
              <a:ext uri="{FF2B5EF4-FFF2-40B4-BE49-F238E27FC236}">
                <a16:creationId xmlns:a16="http://schemas.microsoft.com/office/drawing/2014/main" id="{275BF14B-8BD1-3C66-CBF6-A208C017AFC9}"/>
              </a:ext>
            </a:extLst>
          </p:cNvPr>
          <p:cNvSpPr/>
          <p:nvPr/>
        </p:nvSpPr>
        <p:spPr>
          <a:xfrm>
            <a:off x="4763375"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Set up Python 3.12</a:t>
            </a:r>
          </a:p>
          <a:p>
            <a:pPr algn="ctr"/>
            <a:r>
              <a:rPr lang="en-US" sz="1000" i="1" dirty="0">
                <a:solidFill>
                  <a:schemeClr val="tx1">
                    <a:lumMod val="50000"/>
                    <a:lumOff val="50000"/>
                  </a:schemeClr>
                </a:solidFill>
              </a:rPr>
              <a:t>actions/setup-python@v5</a:t>
            </a:r>
          </a:p>
        </p:txBody>
      </p:sp>
      <p:pic>
        <p:nvPicPr>
          <p:cNvPr id="41" name="Picture 40">
            <a:extLst>
              <a:ext uri="{FF2B5EF4-FFF2-40B4-BE49-F238E27FC236}">
                <a16:creationId xmlns:a16="http://schemas.microsoft.com/office/drawing/2014/main" id="{30899798-4412-74B0-D669-05E4382BB1B9}"/>
              </a:ext>
            </a:extLst>
          </p:cNvPr>
          <p:cNvPicPr>
            <a:picLocks noChangeAspect="1"/>
          </p:cNvPicPr>
          <p:nvPr/>
        </p:nvPicPr>
        <p:blipFill>
          <a:blip r:embed="rId4"/>
          <a:srcRect/>
          <a:stretch/>
        </p:blipFill>
        <p:spPr>
          <a:xfrm>
            <a:off x="4853127" y="1384826"/>
            <a:ext cx="174948" cy="176673"/>
          </a:xfrm>
          <a:prstGeom prst="rect">
            <a:avLst/>
          </a:prstGeom>
        </p:spPr>
      </p:pic>
      <p:sp>
        <p:nvSpPr>
          <p:cNvPr id="33" name="Rectangle: Rounded Corners 32">
            <a:extLst>
              <a:ext uri="{FF2B5EF4-FFF2-40B4-BE49-F238E27FC236}">
                <a16:creationId xmlns:a16="http://schemas.microsoft.com/office/drawing/2014/main" id="{43542257-E2EB-AE5C-0EAC-3F3DEC22FF5F}"/>
              </a:ext>
            </a:extLst>
          </p:cNvPr>
          <p:cNvSpPr/>
          <p:nvPr/>
        </p:nvSpPr>
        <p:spPr>
          <a:xfrm>
            <a:off x="667396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Install Python dependencies</a:t>
            </a:r>
            <a:endParaRPr lang="en-US" sz="1000" i="1" dirty="0">
              <a:solidFill>
                <a:schemeClr val="tx1">
                  <a:lumMod val="50000"/>
                  <a:lumOff val="50000"/>
                </a:schemeClr>
              </a:solidFill>
            </a:endParaRPr>
          </a:p>
        </p:txBody>
      </p:sp>
      <p:pic>
        <p:nvPicPr>
          <p:cNvPr id="43" name="Picture 42">
            <a:extLst>
              <a:ext uri="{FF2B5EF4-FFF2-40B4-BE49-F238E27FC236}">
                <a16:creationId xmlns:a16="http://schemas.microsoft.com/office/drawing/2014/main" id="{9BEA496E-DFCF-FC71-B1F2-8E76D7E8CB63}"/>
              </a:ext>
            </a:extLst>
          </p:cNvPr>
          <p:cNvPicPr>
            <a:picLocks noChangeAspect="1"/>
          </p:cNvPicPr>
          <p:nvPr/>
        </p:nvPicPr>
        <p:blipFill>
          <a:blip r:embed="rId4"/>
          <a:srcRect/>
          <a:stretch/>
        </p:blipFill>
        <p:spPr>
          <a:xfrm>
            <a:off x="6765407" y="1384826"/>
            <a:ext cx="174948" cy="176673"/>
          </a:xfrm>
          <a:prstGeom prst="rect">
            <a:avLst/>
          </a:prstGeom>
        </p:spPr>
      </p:pic>
      <p:sp>
        <p:nvSpPr>
          <p:cNvPr id="35" name="Rectangle: Rounded Corners 34">
            <a:extLst>
              <a:ext uri="{FF2B5EF4-FFF2-40B4-BE49-F238E27FC236}">
                <a16:creationId xmlns:a16="http://schemas.microsoft.com/office/drawing/2014/main" id="{C494D4D7-30C3-34EF-4DA7-FA1BA45A1015}"/>
              </a:ext>
            </a:extLst>
          </p:cNvPr>
          <p:cNvSpPr/>
          <p:nvPr/>
        </p:nvSpPr>
        <p:spPr>
          <a:xfrm>
            <a:off x="6675659" y="2928221"/>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code formatting</a:t>
            </a:r>
          </a:p>
          <a:p>
            <a:pPr algn="ctr"/>
            <a:r>
              <a:rPr lang="en-US" sz="1000" dirty="0">
                <a:solidFill>
                  <a:schemeClr val="tx1">
                    <a:lumMod val="85000"/>
                    <a:lumOff val="15000"/>
                  </a:schemeClr>
                </a:solidFill>
              </a:rPr>
              <a:t>with Black</a:t>
            </a:r>
            <a:endParaRPr lang="en-US" sz="1000" i="1" dirty="0">
              <a:solidFill>
                <a:schemeClr val="tx1">
                  <a:lumMod val="50000"/>
                  <a:lumOff val="50000"/>
                </a:schemeClr>
              </a:solidFill>
            </a:endParaRPr>
          </a:p>
        </p:txBody>
      </p:sp>
      <p:pic>
        <p:nvPicPr>
          <p:cNvPr id="45" name="Picture 44">
            <a:extLst>
              <a:ext uri="{FF2B5EF4-FFF2-40B4-BE49-F238E27FC236}">
                <a16:creationId xmlns:a16="http://schemas.microsoft.com/office/drawing/2014/main" id="{AE76B202-193A-1054-D060-301E72ABB37B}"/>
              </a:ext>
            </a:extLst>
          </p:cNvPr>
          <p:cNvPicPr>
            <a:picLocks noChangeAspect="1"/>
          </p:cNvPicPr>
          <p:nvPr/>
        </p:nvPicPr>
        <p:blipFill>
          <a:blip r:embed="rId4"/>
          <a:srcRect/>
          <a:stretch/>
        </p:blipFill>
        <p:spPr>
          <a:xfrm>
            <a:off x="6774722" y="2991023"/>
            <a:ext cx="174948" cy="176673"/>
          </a:xfrm>
          <a:prstGeom prst="rect">
            <a:avLst/>
          </a:prstGeom>
        </p:spPr>
      </p:pic>
      <p:sp>
        <p:nvSpPr>
          <p:cNvPr id="37" name="Rectangle: Rounded Corners 36">
            <a:extLst>
              <a:ext uri="{FF2B5EF4-FFF2-40B4-BE49-F238E27FC236}">
                <a16:creationId xmlns:a16="http://schemas.microsoft.com/office/drawing/2014/main" id="{92F6267E-DADA-9189-E027-B7F517C59585}"/>
              </a:ext>
            </a:extLst>
          </p:cNvPr>
          <p:cNvSpPr/>
          <p:nvPr/>
        </p:nvSpPr>
        <p:spPr>
          <a:xfrm>
            <a:off x="4763375"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Run tests with </a:t>
            </a:r>
            <a:r>
              <a:rPr lang="en-US" sz="1000" dirty="0" err="1">
                <a:solidFill>
                  <a:schemeClr val="tx1">
                    <a:lumMod val="85000"/>
                    <a:lumOff val="15000"/>
                  </a:schemeClr>
                </a:solidFill>
              </a:rPr>
              <a:t>pytest</a:t>
            </a:r>
            <a:endParaRPr lang="en-US" sz="1000" i="1" dirty="0">
              <a:solidFill>
                <a:schemeClr val="tx1">
                  <a:lumMod val="50000"/>
                  <a:lumOff val="50000"/>
                </a:schemeClr>
              </a:solidFill>
            </a:endParaRPr>
          </a:p>
        </p:txBody>
      </p:sp>
      <p:pic>
        <p:nvPicPr>
          <p:cNvPr id="47" name="Picture 46">
            <a:extLst>
              <a:ext uri="{FF2B5EF4-FFF2-40B4-BE49-F238E27FC236}">
                <a16:creationId xmlns:a16="http://schemas.microsoft.com/office/drawing/2014/main" id="{8EF1EEE1-F8D8-0D3C-6C36-41CE2161EFB9}"/>
              </a:ext>
            </a:extLst>
          </p:cNvPr>
          <p:cNvPicPr>
            <a:picLocks noChangeAspect="1"/>
          </p:cNvPicPr>
          <p:nvPr/>
        </p:nvPicPr>
        <p:blipFill>
          <a:blip r:embed="rId4"/>
          <a:srcRect/>
          <a:stretch/>
        </p:blipFill>
        <p:spPr>
          <a:xfrm>
            <a:off x="4853127" y="2982113"/>
            <a:ext cx="174948" cy="176673"/>
          </a:xfrm>
          <a:prstGeom prst="rect">
            <a:avLst/>
          </a:prstGeom>
        </p:spPr>
      </p:pic>
      <p:sp>
        <p:nvSpPr>
          <p:cNvPr id="13" name="Rectangle: Rounded Corners 12">
            <a:extLst>
              <a:ext uri="{FF2B5EF4-FFF2-40B4-BE49-F238E27FC236}">
                <a16:creationId xmlns:a16="http://schemas.microsoft.com/office/drawing/2014/main" id="{F0F5DB92-CBA9-3ECE-F455-8C2041CDC3C6}"/>
              </a:ext>
            </a:extLst>
          </p:cNvPr>
          <p:cNvSpPr/>
          <p:nvPr/>
        </p:nvSpPr>
        <p:spPr>
          <a:xfrm>
            <a:off x="285279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out repository</a:t>
            </a:r>
          </a:p>
          <a:p>
            <a:pPr algn="ctr"/>
            <a:r>
              <a:rPr lang="en-US" sz="1000" i="1" dirty="0">
                <a:solidFill>
                  <a:schemeClr val="tx1">
                    <a:lumMod val="50000"/>
                    <a:lumOff val="50000"/>
                  </a:schemeClr>
                </a:solidFill>
              </a:rPr>
              <a:t>actions/checkout@v4</a:t>
            </a:r>
          </a:p>
        </p:txBody>
      </p:sp>
      <p:pic>
        <p:nvPicPr>
          <p:cNvPr id="49" name="Picture 48">
            <a:extLst>
              <a:ext uri="{FF2B5EF4-FFF2-40B4-BE49-F238E27FC236}">
                <a16:creationId xmlns:a16="http://schemas.microsoft.com/office/drawing/2014/main" id="{40E338FC-CC71-3B25-012B-AD5BA156FE8C}"/>
              </a:ext>
            </a:extLst>
          </p:cNvPr>
          <p:cNvPicPr>
            <a:picLocks noChangeAspect="1"/>
          </p:cNvPicPr>
          <p:nvPr/>
        </p:nvPicPr>
        <p:blipFill>
          <a:blip r:embed="rId5"/>
          <a:srcRect/>
          <a:stretch/>
        </p:blipFill>
        <p:spPr>
          <a:xfrm>
            <a:off x="2940320" y="1390122"/>
            <a:ext cx="174948" cy="171377"/>
          </a:xfrm>
          <a:prstGeom prst="rect">
            <a:avLst/>
          </a:prstGeom>
        </p:spPr>
      </p:pic>
      <p:sp>
        <p:nvSpPr>
          <p:cNvPr id="39" name="Rectangle: Rounded Corners 38">
            <a:extLst>
              <a:ext uri="{FF2B5EF4-FFF2-40B4-BE49-F238E27FC236}">
                <a16:creationId xmlns:a16="http://schemas.microsoft.com/office/drawing/2014/main" id="{507F7427-6CC2-CFB3-5EED-A59943EFD09A}"/>
              </a:ext>
            </a:extLst>
          </p:cNvPr>
          <p:cNvSpPr/>
          <p:nvPr/>
        </p:nvSpPr>
        <p:spPr>
          <a:xfrm>
            <a:off x="2852790"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Build Docker image</a:t>
            </a:r>
            <a:endParaRPr lang="en-US" sz="1000" i="1" dirty="0">
              <a:solidFill>
                <a:schemeClr val="tx1">
                  <a:lumMod val="50000"/>
                  <a:lumOff val="50000"/>
                </a:schemeClr>
              </a:solidFill>
            </a:endParaRPr>
          </a:p>
        </p:txBody>
      </p:sp>
      <p:pic>
        <p:nvPicPr>
          <p:cNvPr id="51" name="Picture 50">
            <a:extLst>
              <a:ext uri="{FF2B5EF4-FFF2-40B4-BE49-F238E27FC236}">
                <a16:creationId xmlns:a16="http://schemas.microsoft.com/office/drawing/2014/main" id="{4EBC6562-74C1-5E54-29B7-26469E9BC3B0}"/>
              </a:ext>
            </a:extLst>
          </p:cNvPr>
          <p:cNvPicPr>
            <a:picLocks noChangeAspect="1"/>
          </p:cNvPicPr>
          <p:nvPr/>
        </p:nvPicPr>
        <p:blipFill>
          <a:blip r:embed="rId6"/>
          <a:srcRect/>
          <a:stretch/>
        </p:blipFill>
        <p:spPr>
          <a:xfrm>
            <a:off x="2940320" y="2982113"/>
            <a:ext cx="174948" cy="174948"/>
          </a:xfrm>
          <a:prstGeom prst="rect">
            <a:avLst/>
          </a:prstGeom>
        </p:spPr>
      </p:pic>
      <p:cxnSp>
        <p:nvCxnSpPr>
          <p:cNvPr id="52" name="Straight Arrow Connector 51">
            <a:extLst>
              <a:ext uri="{FF2B5EF4-FFF2-40B4-BE49-F238E27FC236}">
                <a16:creationId xmlns:a16="http://schemas.microsoft.com/office/drawing/2014/main" id="{C46DB732-DB22-C54F-DC51-B82CC8E84832}"/>
              </a:ext>
            </a:extLst>
          </p:cNvPr>
          <p:cNvCxnSpPr>
            <a:cxnSpLocks/>
            <a:stCxn id="5" idx="2"/>
            <a:endCxn id="26" idx="0"/>
          </p:cNvCxnSpPr>
          <p:nvPr/>
        </p:nvCxnSpPr>
        <p:spPr>
          <a:xfrm>
            <a:off x="1671288" y="2259207"/>
            <a:ext cx="0" cy="555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95" name="Group 594">
            <a:extLst>
              <a:ext uri="{FF2B5EF4-FFF2-40B4-BE49-F238E27FC236}">
                <a16:creationId xmlns:a16="http://schemas.microsoft.com/office/drawing/2014/main" id="{AB665E3B-18FF-AD49-6679-E8091B18D8FB}"/>
              </a:ext>
            </a:extLst>
          </p:cNvPr>
          <p:cNvGrpSpPr/>
          <p:nvPr/>
        </p:nvGrpSpPr>
        <p:grpSpPr>
          <a:xfrm>
            <a:off x="1527239" y="4176828"/>
            <a:ext cx="291356" cy="291356"/>
            <a:chOff x="7069437" y="3218381"/>
            <a:chExt cx="367665" cy="367665"/>
          </a:xfrm>
        </p:grpSpPr>
        <p:sp>
          <p:nvSpPr>
            <p:cNvPr id="596" name="Oval 595">
              <a:extLst>
                <a:ext uri="{FF2B5EF4-FFF2-40B4-BE49-F238E27FC236}">
                  <a16:creationId xmlns:a16="http://schemas.microsoft.com/office/drawing/2014/main" id="{8C7A613A-0B9F-E6E8-00E2-DA4CF5E7BD9A}"/>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7" name="Oval 596">
              <a:extLst>
                <a:ext uri="{FF2B5EF4-FFF2-40B4-BE49-F238E27FC236}">
                  <a16:creationId xmlns:a16="http://schemas.microsoft.com/office/drawing/2014/main" id="{83D7EFCA-5831-4B2C-6CA3-7F52A3B939D5}"/>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598" name="Straight Arrow Connector 597">
            <a:extLst>
              <a:ext uri="{FF2B5EF4-FFF2-40B4-BE49-F238E27FC236}">
                <a16:creationId xmlns:a16="http://schemas.microsoft.com/office/drawing/2014/main" id="{44F356C8-5E38-7FD5-6F09-81C95C03E4BD}"/>
              </a:ext>
            </a:extLst>
          </p:cNvPr>
          <p:cNvCxnSpPr>
            <a:cxnSpLocks/>
            <a:stCxn id="26" idx="2"/>
            <a:endCxn id="596" idx="0"/>
          </p:cNvCxnSpPr>
          <p:nvPr/>
        </p:nvCxnSpPr>
        <p:spPr>
          <a:xfrm>
            <a:off x="1671288" y="3859668"/>
            <a:ext cx="1629" cy="31716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3BE76B6E-4D75-3EC9-24F4-BFEA25FC001B}"/>
              </a:ext>
            </a:extLst>
          </p:cNvPr>
          <p:cNvCxnSpPr>
            <a:cxnSpLocks/>
            <a:stCxn id="13" idx="3"/>
            <a:endCxn id="30" idx="1"/>
          </p:cNvCxnSpPr>
          <p:nvPr/>
        </p:nvCxnSpPr>
        <p:spPr>
          <a:xfrm>
            <a:off x="4426214"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3444F69B-89EE-F078-992C-5748F2137173}"/>
              </a:ext>
            </a:extLst>
          </p:cNvPr>
          <p:cNvCxnSpPr>
            <a:cxnSpLocks/>
            <a:stCxn id="30" idx="3"/>
            <a:endCxn id="33" idx="1"/>
          </p:cNvCxnSpPr>
          <p:nvPr/>
        </p:nvCxnSpPr>
        <p:spPr>
          <a:xfrm>
            <a:off x="6336799"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5C58C3CC-5E7F-315D-2C9D-012F9EF4346C}"/>
              </a:ext>
            </a:extLst>
          </p:cNvPr>
          <p:cNvCxnSpPr>
            <a:cxnSpLocks/>
            <a:stCxn id="35" idx="1"/>
            <a:endCxn id="37" idx="3"/>
          </p:cNvCxnSpPr>
          <p:nvPr/>
        </p:nvCxnSpPr>
        <p:spPr>
          <a:xfrm flipH="1" flipV="1">
            <a:off x="6336799" y="3344565"/>
            <a:ext cx="338860" cy="283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5DAA1182-CD9F-F661-5FC9-C30E03AE5471}"/>
              </a:ext>
            </a:extLst>
          </p:cNvPr>
          <p:cNvCxnSpPr>
            <a:cxnSpLocks/>
            <a:stCxn id="37" idx="1"/>
            <a:endCxn id="39" idx="3"/>
          </p:cNvCxnSpPr>
          <p:nvPr/>
        </p:nvCxnSpPr>
        <p:spPr>
          <a:xfrm flipH="1">
            <a:off x="4426214" y="3344565"/>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4" name="Straight Arrow Connector 613">
            <a:extLst>
              <a:ext uri="{FF2B5EF4-FFF2-40B4-BE49-F238E27FC236}">
                <a16:creationId xmlns:a16="http://schemas.microsoft.com/office/drawing/2014/main" id="{32C4A26E-8875-EBEE-737C-B0419CC82464}"/>
              </a:ext>
            </a:extLst>
          </p:cNvPr>
          <p:cNvCxnSpPr>
            <a:cxnSpLocks/>
            <a:stCxn id="33" idx="2"/>
            <a:endCxn id="35" idx="0"/>
          </p:cNvCxnSpPr>
          <p:nvPr/>
        </p:nvCxnSpPr>
        <p:spPr>
          <a:xfrm>
            <a:off x="7460672" y="2158210"/>
            <a:ext cx="1699" cy="770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9" name="TextBox 638">
            <a:extLst>
              <a:ext uri="{FF2B5EF4-FFF2-40B4-BE49-F238E27FC236}">
                <a16:creationId xmlns:a16="http://schemas.microsoft.com/office/drawing/2014/main" id="{A5BDE464-33F9-059D-28E5-062FC439AAFC}"/>
              </a:ext>
            </a:extLst>
          </p:cNvPr>
          <p:cNvSpPr txBox="1"/>
          <p:nvPr/>
        </p:nvSpPr>
        <p:spPr>
          <a:xfrm>
            <a:off x="2503588" y="2416490"/>
            <a:ext cx="418289" cy="246221"/>
          </a:xfrm>
          <a:prstGeom prst="rect">
            <a:avLst/>
          </a:prstGeom>
          <a:noFill/>
        </p:spPr>
        <p:txBody>
          <a:bodyPr wrap="square" rtlCol="0">
            <a:spAutoFit/>
          </a:bodyPr>
          <a:lstStyle/>
          <a:p>
            <a:r>
              <a:rPr lang="en-US" sz="1000" dirty="0"/>
              <a:t>yes</a:t>
            </a:r>
          </a:p>
        </p:txBody>
      </p:sp>
      <p:sp>
        <p:nvSpPr>
          <p:cNvPr id="643" name="TextBox 642">
            <a:extLst>
              <a:ext uri="{FF2B5EF4-FFF2-40B4-BE49-F238E27FC236}">
                <a16:creationId xmlns:a16="http://schemas.microsoft.com/office/drawing/2014/main" id="{A649F39E-DF3F-D031-90E1-AFF223C3E2DE}"/>
              </a:ext>
            </a:extLst>
          </p:cNvPr>
          <p:cNvSpPr txBox="1"/>
          <p:nvPr/>
        </p:nvSpPr>
        <p:spPr>
          <a:xfrm>
            <a:off x="1666797" y="3864965"/>
            <a:ext cx="418289" cy="246221"/>
          </a:xfrm>
          <a:prstGeom prst="rect">
            <a:avLst/>
          </a:prstGeom>
          <a:noFill/>
        </p:spPr>
        <p:txBody>
          <a:bodyPr wrap="square" rtlCol="0">
            <a:spAutoFit/>
          </a:bodyPr>
          <a:lstStyle/>
          <a:p>
            <a:r>
              <a:rPr lang="en-US" sz="1000" dirty="0"/>
              <a:t>no</a:t>
            </a:r>
          </a:p>
        </p:txBody>
      </p:sp>
      <p:grpSp>
        <p:nvGrpSpPr>
          <p:cNvPr id="644" name="Group 643">
            <a:extLst>
              <a:ext uri="{FF2B5EF4-FFF2-40B4-BE49-F238E27FC236}">
                <a16:creationId xmlns:a16="http://schemas.microsoft.com/office/drawing/2014/main" id="{51B3612F-7075-EA25-95EF-8EC1D284C400}"/>
              </a:ext>
            </a:extLst>
          </p:cNvPr>
          <p:cNvGrpSpPr/>
          <p:nvPr/>
        </p:nvGrpSpPr>
        <p:grpSpPr>
          <a:xfrm>
            <a:off x="3493824" y="4176828"/>
            <a:ext cx="291356" cy="291356"/>
            <a:chOff x="7069437" y="3218381"/>
            <a:chExt cx="367665" cy="367665"/>
          </a:xfrm>
        </p:grpSpPr>
        <p:sp>
          <p:nvSpPr>
            <p:cNvPr id="645" name="Oval 644">
              <a:extLst>
                <a:ext uri="{FF2B5EF4-FFF2-40B4-BE49-F238E27FC236}">
                  <a16:creationId xmlns:a16="http://schemas.microsoft.com/office/drawing/2014/main" id="{00C0CCC7-65D7-EDDE-6190-F0DAD8A28ADB}"/>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6" name="Oval 645">
              <a:extLst>
                <a:ext uri="{FF2B5EF4-FFF2-40B4-BE49-F238E27FC236}">
                  <a16:creationId xmlns:a16="http://schemas.microsoft.com/office/drawing/2014/main" id="{0BAEA12F-32CC-166B-BF3D-31A962D89BCE}"/>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7" name="Straight Arrow Connector 646">
            <a:extLst>
              <a:ext uri="{FF2B5EF4-FFF2-40B4-BE49-F238E27FC236}">
                <a16:creationId xmlns:a16="http://schemas.microsoft.com/office/drawing/2014/main" id="{2EAFDB82-C5BB-9209-B57F-ACB53A8B5902}"/>
              </a:ext>
            </a:extLst>
          </p:cNvPr>
          <p:cNvCxnSpPr>
            <a:cxnSpLocks/>
            <a:stCxn id="39" idx="2"/>
            <a:endCxn id="645" idx="0"/>
          </p:cNvCxnSpPr>
          <p:nvPr/>
        </p:nvCxnSpPr>
        <p:spPr>
          <a:xfrm>
            <a:off x="3639502" y="3763741"/>
            <a:ext cx="0" cy="41308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3" name="TextBox 652">
            <a:extLst>
              <a:ext uri="{FF2B5EF4-FFF2-40B4-BE49-F238E27FC236}">
                <a16:creationId xmlns:a16="http://schemas.microsoft.com/office/drawing/2014/main" id="{F4B761E4-ABC9-4D63-C51A-68F7BF585B1E}"/>
              </a:ext>
            </a:extLst>
          </p:cNvPr>
          <p:cNvSpPr txBox="1"/>
          <p:nvPr/>
        </p:nvSpPr>
        <p:spPr>
          <a:xfrm>
            <a:off x="4426215" y="1461732"/>
            <a:ext cx="324999" cy="307777"/>
          </a:xfrm>
          <a:prstGeom prst="rect">
            <a:avLst/>
          </a:prstGeom>
          <a:noFill/>
        </p:spPr>
        <p:txBody>
          <a:bodyPr wrap="square" rtlCol="0">
            <a:spAutoFit/>
          </a:bodyPr>
          <a:lstStyle/>
          <a:p>
            <a:r>
              <a:rPr lang="en-US" dirty="0">
                <a:solidFill>
                  <a:srgbClr val="00B050"/>
                </a:solidFill>
              </a:rPr>
              <a:t>✔</a:t>
            </a:r>
          </a:p>
        </p:txBody>
      </p:sp>
      <p:sp>
        <p:nvSpPr>
          <p:cNvPr id="655" name="TextBox 654">
            <a:extLst>
              <a:ext uri="{FF2B5EF4-FFF2-40B4-BE49-F238E27FC236}">
                <a16:creationId xmlns:a16="http://schemas.microsoft.com/office/drawing/2014/main" id="{247E97F8-5EC3-E930-BC33-9DC689B3413F}"/>
              </a:ext>
            </a:extLst>
          </p:cNvPr>
          <p:cNvSpPr txBox="1"/>
          <p:nvPr/>
        </p:nvSpPr>
        <p:spPr>
          <a:xfrm>
            <a:off x="6348960" y="1461731"/>
            <a:ext cx="325000" cy="307777"/>
          </a:xfrm>
          <a:prstGeom prst="rect">
            <a:avLst/>
          </a:prstGeom>
          <a:noFill/>
        </p:spPr>
        <p:txBody>
          <a:bodyPr wrap="square" rtlCol="0">
            <a:spAutoFit/>
          </a:bodyPr>
          <a:lstStyle/>
          <a:p>
            <a:r>
              <a:rPr lang="en-US" dirty="0">
                <a:solidFill>
                  <a:srgbClr val="00B050"/>
                </a:solidFill>
              </a:rPr>
              <a:t>✔</a:t>
            </a:r>
          </a:p>
        </p:txBody>
      </p:sp>
      <p:sp>
        <p:nvSpPr>
          <p:cNvPr id="657" name="TextBox 656">
            <a:extLst>
              <a:ext uri="{FF2B5EF4-FFF2-40B4-BE49-F238E27FC236}">
                <a16:creationId xmlns:a16="http://schemas.microsoft.com/office/drawing/2014/main" id="{735854B6-028F-2586-415F-C7C8AD1639D1}"/>
              </a:ext>
            </a:extLst>
          </p:cNvPr>
          <p:cNvSpPr txBox="1"/>
          <p:nvPr/>
        </p:nvSpPr>
        <p:spPr>
          <a:xfrm>
            <a:off x="4423992" y="3075089"/>
            <a:ext cx="337162" cy="307777"/>
          </a:xfrm>
          <a:prstGeom prst="rect">
            <a:avLst/>
          </a:prstGeom>
          <a:noFill/>
        </p:spPr>
        <p:txBody>
          <a:bodyPr wrap="square" rtlCol="0">
            <a:spAutoFit/>
          </a:bodyPr>
          <a:lstStyle/>
          <a:p>
            <a:r>
              <a:rPr lang="en-US" dirty="0">
                <a:solidFill>
                  <a:srgbClr val="00B050"/>
                </a:solidFill>
              </a:rPr>
              <a:t>✔</a:t>
            </a:r>
          </a:p>
        </p:txBody>
      </p:sp>
      <p:sp>
        <p:nvSpPr>
          <p:cNvPr id="659" name="TextBox 658">
            <a:extLst>
              <a:ext uri="{FF2B5EF4-FFF2-40B4-BE49-F238E27FC236}">
                <a16:creationId xmlns:a16="http://schemas.microsoft.com/office/drawing/2014/main" id="{C4CF6664-5523-A8BB-8526-05F6A9D701C5}"/>
              </a:ext>
            </a:extLst>
          </p:cNvPr>
          <p:cNvSpPr txBox="1"/>
          <p:nvPr/>
        </p:nvSpPr>
        <p:spPr>
          <a:xfrm>
            <a:off x="6336799" y="3067437"/>
            <a:ext cx="337161" cy="307777"/>
          </a:xfrm>
          <a:prstGeom prst="rect">
            <a:avLst/>
          </a:prstGeom>
          <a:noFill/>
        </p:spPr>
        <p:txBody>
          <a:bodyPr wrap="square" rtlCol="0">
            <a:spAutoFit/>
          </a:bodyPr>
          <a:lstStyle/>
          <a:p>
            <a:r>
              <a:rPr lang="en-US" dirty="0">
                <a:solidFill>
                  <a:srgbClr val="00B050"/>
                </a:solidFill>
              </a:rPr>
              <a:t>✔</a:t>
            </a:r>
          </a:p>
        </p:txBody>
      </p:sp>
      <p:sp>
        <p:nvSpPr>
          <p:cNvPr id="661" name="TextBox 660">
            <a:extLst>
              <a:ext uri="{FF2B5EF4-FFF2-40B4-BE49-F238E27FC236}">
                <a16:creationId xmlns:a16="http://schemas.microsoft.com/office/drawing/2014/main" id="{0B69F080-C92D-D1A2-5B91-360935CE9CDF}"/>
              </a:ext>
            </a:extLst>
          </p:cNvPr>
          <p:cNvSpPr txBox="1"/>
          <p:nvPr/>
        </p:nvSpPr>
        <p:spPr>
          <a:xfrm>
            <a:off x="7409220" y="2386960"/>
            <a:ext cx="382905" cy="307777"/>
          </a:xfrm>
          <a:prstGeom prst="rect">
            <a:avLst/>
          </a:prstGeom>
          <a:noFill/>
        </p:spPr>
        <p:txBody>
          <a:bodyPr wrap="square" rtlCol="0">
            <a:spAutoFit/>
          </a:bodyPr>
          <a:lstStyle/>
          <a:p>
            <a:r>
              <a:rPr lang="en-US" dirty="0">
                <a:solidFill>
                  <a:srgbClr val="00B050"/>
                </a:solidFill>
              </a:rPr>
              <a:t>✔</a:t>
            </a:r>
          </a:p>
        </p:txBody>
      </p:sp>
    </p:spTree>
    <p:extLst>
      <p:ext uri="{BB962C8B-B14F-4D97-AF65-F5344CB8AC3E}">
        <p14:creationId xmlns:p14="http://schemas.microsoft.com/office/powerpoint/2010/main" val="40227769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1159045"/>
            <a:ext cx="6756076" cy="2462213"/>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err="1"/>
              <a:t>Arbeitsagentur</a:t>
            </a:r>
            <a:r>
              <a:rPr lang="en-US" dirty="0"/>
              <a:t>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a:t>
            </a:r>
            <a:br>
              <a:rPr lang="en-US" b="1" dirty="0"/>
            </a:br>
            <a:r>
              <a:rPr lang="en-US" dirty="0"/>
              <a:t>Airflow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Reproducible</a:t>
            </a:r>
            <a:br>
              <a:rPr lang="en-US" b="1" dirty="0"/>
            </a:br>
            <a:r>
              <a:rPr lang="en-US" dirty="0"/>
              <a:t>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Tree>
    <p:extLst>
      <p:ext uri="{BB962C8B-B14F-4D97-AF65-F5344CB8AC3E}">
        <p14:creationId xmlns:p14="http://schemas.microsoft.com/office/powerpoint/2010/main" val="308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641661321"/>
              </p:ext>
            </p:extLst>
          </p:nvPr>
        </p:nvGraphicFramePr>
        <p:xfrm>
          <a:off x="611541" y="1256612"/>
          <a:ext cx="7920917" cy="256967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F0AAE9E-1295-E879-B412-9C84573A24B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31" name="Straight Arrow Connector 30">
            <a:extLst>
              <a:ext uri="{FF2B5EF4-FFF2-40B4-BE49-F238E27FC236}">
                <a16:creationId xmlns:a16="http://schemas.microsoft.com/office/drawing/2014/main" id="{3F0F6E1F-1C79-C899-3E44-16B8A4F4905B}"/>
              </a:ext>
            </a:extLst>
          </p:cNvPr>
          <p:cNvCxnSpPr>
            <a:cxnSpLocks/>
            <a:stCxn id="19" idx="1"/>
            <a:endCxn id="14" idx="3"/>
          </p:cNvCxnSpPr>
          <p:nvPr/>
        </p:nvCxnSpPr>
        <p:spPr>
          <a:xfrm flipH="1">
            <a:off x="5408472" y="3968947"/>
            <a:ext cx="1097306" cy="992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523164"/>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3" name="Group 2">
            <a:extLst>
              <a:ext uri="{FF2B5EF4-FFF2-40B4-BE49-F238E27FC236}">
                <a16:creationId xmlns:a16="http://schemas.microsoft.com/office/drawing/2014/main" id="{C6A71018-B446-67B2-A798-7A1648DE4303}"/>
              </a:ext>
            </a:extLst>
          </p:cNvPr>
          <p:cNvGrpSpPr/>
          <p:nvPr/>
        </p:nvGrpSpPr>
        <p:grpSpPr>
          <a:xfrm>
            <a:off x="3613013" y="2370660"/>
            <a:ext cx="1722064" cy="652280"/>
            <a:chOff x="3613013" y="2463717"/>
            <a:chExt cx="1722064" cy="652280"/>
          </a:xfrm>
        </p:grpSpPr>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4"/>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grpSp>
      <p:grpSp>
        <p:nvGrpSpPr>
          <p:cNvPr id="2" name="Group 1">
            <a:extLst>
              <a:ext uri="{FF2B5EF4-FFF2-40B4-BE49-F238E27FC236}">
                <a16:creationId xmlns:a16="http://schemas.microsoft.com/office/drawing/2014/main" id="{DD389659-626D-FE91-D7DA-8B768CD2125D}"/>
              </a:ext>
            </a:extLst>
          </p:cNvPr>
          <p:cNvGrpSpPr/>
          <p:nvPr/>
        </p:nvGrpSpPr>
        <p:grpSpPr>
          <a:xfrm>
            <a:off x="851790" y="2369275"/>
            <a:ext cx="1372322" cy="651134"/>
            <a:chOff x="851790" y="2462332"/>
            <a:chExt cx="1372322" cy="651134"/>
          </a:xfrm>
        </p:grpSpPr>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5"/>
            <a:stretch>
              <a:fillRect/>
            </a:stretch>
          </p:blipFill>
          <p:spPr>
            <a:xfrm>
              <a:off x="1371379" y="2751773"/>
              <a:ext cx="333670" cy="361693"/>
            </a:xfrm>
            <a:prstGeom prst="rect">
              <a:avLst/>
            </a:prstGeom>
          </p:spPr>
        </p:pic>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grpSp>
      <p:grpSp>
        <p:nvGrpSpPr>
          <p:cNvPr id="5" name="Group 4">
            <a:extLst>
              <a:ext uri="{FF2B5EF4-FFF2-40B4-BE49-F238E27FC236}">
                <a16:creationId xmlns:a16="http://schemas.microsoft.com/office/drawing/2014/main" id="{C8EABDA6-EC39-04AE-AE88-70D73DF21BFE}"/>
              </a:ext>
            </a:extLst>
          </p:cNvPr>
          <p:cNvGrpSpPr/>
          <p:nvPr/>
        </p:nvGrpSpPr>
        <p:grpSpPr>
          <a:xfrm>
            <a:off x="3539618" y="3824981"/>
            <a:ext cx="1868854" cy="538825"/>
            <a:chOff x="3539618" y="3918038"/>
            <a:chExt cx="1868854" cy="538825"/>
          </a:xfrm>
        </p:grpSpPr>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4"/>
            <a:stretch>
              <a:fillRect/>
            </a:stretch>
          </p:blipFill>
          <p:spPr>
            <a:xfrm>
              <a:off x="4362087" y="4246383"/>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grpSp>
      <p:grpSp>
        <p:nvGrpSpPr>
          <p:cNvPr id="6" name="Group 5">
            <a:extLst>
              <a:ext uri="{FF2B5EF4-FFF2-40B4-BE49-F238E27FC236}">
                <a16:creationId xmlns:a16="http://schemas.microsoft.com/office/drawing/2014/main" id="{AD2AE589-50A5-E387-B40C-FC8E362F3FE6}"/>
              </a:ext>
            </a:extLst>
          </p:cNvPr>
          <p:cNvGrpSpPr/>
          <p:nvPr/>
        </p:nvGrpSpPr>
        <p:grpSpPr>
          <a:xfrm>
            <a:off x="5987323" y="2369275"/>
            <a:ext cx="1853732" cy="536025"/>
            <a:chOff x="5987323" y="2462332"/>
            <a:chExt cx="1853732" cy="536025"/>
          </a:xfrm>
        </p:grpSpPr>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4"/>
            <a:stretch>
              <a:fillRect/>
            </a:stretch>
          </p:blipFill>
          <p:spPr>
            <a:xfrm>
              <a:off x="6809093" y="2789663"/>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grpSp>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099837"/>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4" name="TextBox 53">
            <a:extLst>
              <a:ext uri="{FF2B5EF4-FFF2-40B4-BE49-F238E27FC236}">
                <a16:creationId xmlns:a16="http://schemas.microsoft.com/office/drawing/2014/main" id="{582F2ECC-9AE3-BAE2-99AB-EE673C1C414B}"/>
              </a:ext>
            </a:extLst>
          </p:cNvPr>
          <p:cNvSpPr txBox="1"/>
          <p:nvPr/>
        </p:nvSpPr>
        <p:spPr>
          <a:xfrm>
            <a:off x="5576952" y="370187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523164"/>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239358"/>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sp>
        <p:nvSpPr>
          <p:cNvPr id="592" name="TextBox 591">
            <a:extLst>
              <a:ext uri="{FF2B5EF4-FFF2-40B4-BE49-F238E27FC236}">
                <a16:creationId xmlns:a16="http://schemas.microsoft.com/office/drawing/2014/main" id="{6F1FF3A5-25ED-0909-E98D-0D2F2BEB54A9}"/>
              </a:ext>
            </a:extLst>
          </p:cNvPr>
          <p:cNvSpPr txBox="1"/>
          <p:nvPr/>
        </p:nvSpPr>
        <p:spPr>
          <a:xfrm>
            <a:off x="2523071" y="2248129"/>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566121"/>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4" name="Group 3">
            <a:extLst>
              <a:ext uri="{FF2B5EF4-FFF2-40B4-BE49-F238E27FC236}">
                <a16:creationId xmlns:a16="http://schemas.microsoft.com/office/drawing/2014/main" id="{A3804CAE-BBBF-207E-C350-1F9B3B7F06FE}"/>
              </a:ext>
            </a:extLst>
          </p:cNvPr>
          <p:cNvGrpSpPr/>
          <p:nvPr/>
        </p:nvGrpSpPr>
        <p:grpSpPr>
          <a:xfrm>
            <a:off x="3638564" y="781215"/>
            <a:ext cx="1657526" cy="784906"/>
            <a:chOff x="3638564" y="874272"/>
            <a:chExt cx="1657526" cy="784906"/>
          </a:xfrm>
        </p:grpSpPr>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grpSp>
      <p:grpSp>
        <p:nvGrpSpPr>
          <p:cNvPr id="15" name="Group 14">
            <a:extLst>
              <a:ext uri="{FF2B5EF4-FFF2-40B4-BE49-F238E27FC236}">
                <a16:creationId xmlns:a16="http://schemas.microsoft.com/office/drawing/2014/main" id="{9B1335F4-923A-AEBB-1CFB-3383B0FB65A6}"/>
              </a:ext>
            </a:extLst>
          </p:cNvPr>
          <p:cNvGrpSpPr/>
          <p:nvPr/>
        </p:nvGrpSpPr>
        <p:grpSpPr>
          <a:xfrm>
            <a:off x="4038297" y="1811423"/>
            <a:ext cx="1193685" cy="284969"/>
            <a:chOff x="4038297" y="1904480"/>
            <a:chExt cx="1193685" cy="284969"/>
          </a:xfrm>
        </p:grpSpPr>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grpSp>
        <p:nvGrpSpPr>
          <p:cNvPr id="17" name="Group 16">
            <a:extLst>
              <a:ext uri="{FF2B5EF4-FFF2-40B4-BE49-F238E27FC236}">
                <a16:creationId xmlns:a16="http://schemas.microsoft.com/office/drawing/2014/main" id="{BD9B8BC1-CF92-3E86-DE2C-8A315AC9E9BD}"/>
              </a:ext>
            </a:extLst>
          </p:cNvPr>
          <p:cNvGrpSpPr/>
          <p:nvPr/>
        </p:nvGrpSpPr>
        <p:grpSpPr>
          <a:xfrm>
            <a:off x="4024304" y="3334576"/>
            <a:ext cx="1207678" cy="283007"/>
            <a:chOff x="4024304" y="3427633"/>
            <a:chExt cx="1207678" cy="283007"/>
          </a:xfrm>
        </p:grpSpPr>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sp>
        <p:nvSpPr>
          <p:cNvPr id="649" name="Rectangle 648">
            <a:extLst>
              <a:ext uri="{FF2B5EF4-FFF2-40B4-BE49-F238E27FC236}">
                <a16:creationId xmlns:a16="http://schemas.microsoft.com/office/drawing/2014/main" id="{1332BD09-E8E1-3666-B811-349B98DA9565}"/>
              </a:ext>
            </a:extLst>
          </p:cNvPr>
          <p:cNvSpPr/>
          <p:nvPr/>
        </p:nvSpPr>
        <p:spPr>
          <a:xfrm>
            <a:off x="2348086" y="283000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01475"/>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77625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747600"/>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 </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22237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69715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grpSp>
        <p:nvGrpSpPr>
          <p:cNvPr id="12" name="Group 11">
            <a:extLst>
              <a:ext uri="{FF2B5EF4-FFF2-40B4-BE49-F238E27FC236}">
                <a16:creationId xmlns:a16="http://schemas.microsoft.com/office/drawing/2014/main" id="{891F6BC1-3A20-C7B8-D834-22A7F97A46A3}"/>
              </a:ext>
            </a:extLst>
          </p:cNvPr>
          <p:cNvGrpSpPr/>
          <p:nvPr/>
        </p:nvGrpSpPr>
        <p:grpSpPr>
          <a:xfrm>
            <a:off x="6505778" y="3830447"/>
            <a:ext cx="1117866" cy="584223"/>
            <a:chOff x="4815562" y="3589705"/>
            <a:chExt cx="1117866" cy="584223"/>
          </a:xfrm>
        </p:grpSpPr>
        <p:pic>
          <p:nvPicPr>
            <p:cNvPr id="13" name="Picture 12">
              <a:extLst>
                <a:ext uri="{FF2B5EF4-FFF2-40B4-BE49-F238E27FC236}">
                  <a16:creationId xmlns:a16="http://schemas.microsoft.com/office/drawing/2014/main" id="{F36D6828-C771-3E9A-F197-54312ABAAED3}"/>
                </a:ext>
              </a:extLst>
            </p:cNvPr>
            <p:cNvPicPr>
              <a:picLocks noChangeAspect="1"/>
            </p:cNvPicPr>
            <p:nvPr/>
          </p:nvPicPr>
          <p:blipFill>
            <a:blip r:embed="rId9"/>
            <a:stretch>
              <a:fillRect/>
            </a:stretch>
          </p:blipFill>
          <p:spPr>
            <a:xfrm>
              <a:off x="4949947" y="3878036"/>
              <a:ext cx="762608" cy="295892"/>
            </a:xfrm>
            <a:prstGeom prst="rect">
              <a:avLst/>
            </a:prstGeom>
          </p:spPr>
        </p:pic>
        <p:sp>
          <p:nvSpPr>
            <p:cNvPr id="19" name="TextBox 18">
              <a:extLst>
                <a:ext uri="{FF2B5EF4-FFF2-40B4-BE49-F238E27FC236}">
                  <a16:creationId xmlns:a16="http://schemas.microsoft.com/office/drawing/2014/main" id="{0017A69D-788F-616D-C35F-5D2AE9C09DEC}"/>
                </a:ext>
              </a:extLst>
            </p:cNvPr>
            <p:cNvSpPr txBox="1"/>
            <p:nvPr/>
          </p:nvSpPr>
          <p:spPr>
            <a:xfrm>
              <a:off x="4815562" y="3589705"/>
              <a:ext cx="1117866"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grpSp>
      <p:pic>
        <p:nvPicPr>
          <p:cNvPr id="21" name="Picture 20">
            <a:extLst>
              <a:ext uri="{FF2B5EF4-FFF2-40B4-BE49-F238E27FC236}">
                <a16:creationId xmlns:a16="http://schemas.microsoft.com/office/drawing/2014/main" id="{4B714E99-D304-964F-8521-DAFE5FA80388}"/>
              </a:ext>
            </a:extLst>
          </p:cNvPr>
          <p:cNvPicPr>
            <a:picLocks noChangeAspect="1"/>
          </p:cNvPicPr>
          <p:nvPr/>
        </p:nvPicPr>
        <p:blipFill>
          <a:blip r:embed="rId10"/>
          <a:stretch>
            <a:fillRect/>
          </a:stretch>
        </p:blipFill>
        <p:spPr>
          <a:xfrm>
            <a:off x="6744130" y="4450806"/>
            <a:ext cx="545832" cy="211698"/>
          </a:xfrm>
          <a:prstGeom prst="rect">
            <a:avLst/>
          </a:prstGeom>
        </p:spPr>
      </p:pic>
      <p:sp>
        <p:nvSpPr>
          <p:cNvPr id="26" name="TextBox 25">
            <a:extLst>
              <a:ext uri="{FF2B5EF4-FFF2-40B4-BE49-F238E27FC236}">
                <a16:creationId xmlns:a16="http://schemas.microsoft.com/office/drawing/2014/main" id="{6DC4635B-CE5B-9EEF-0F84-8BD3BBE0CBE6}"/>
              </a:ext>
            </a:extLst>
          </p:cNvPr>
          <p:cNvSpPr txBox="1"/>
          <p:nvPr/>
        </p:nvSpPr>
        <p:spPr>
          <a:xfrm>
            <a:off x="5198557" y="2568433"/>
            <a:ext cx="973083" cy="246221"/>
          </a:xfrm>
          <a:prstGeom prst="rect">
            <a:avLst/>
          </a:prstGeom>
          <a:noFill/>
        </p:spPr>
        <p:txBody>
          <a:bodyPr wrap="square" rtlCol="0">
            <a:spAutoFit/>
          </a:bodyPr>
          <a:lstStyle/>
          <a:p>
            <a:pPr algn="ctr"/>
            <a:r>
              <a:rPr lang="en-US" sz="1000" dirty="0">
                <a:solidFill>
                  <a:schemeClr val="tx1">
                    <a:lumMod val="75000"/>
                    <a:lumOff val="25000"/>
                  </a:schemeClr>
                </a:solidFill>
              </a:rPr>
              <a:t>[ETL &gt; 26h ?]</a:t>
            </a:r>
          </a:p>
        </p:txBody>
      </p:sp>
    </p:spTree>
    <p:extLst>
      <p:ext uri="{BB962C8B-B14F-4D97-AF65-F5344CB8AC3E}">
        <p14:creationId xmlns:p14="http://schemas.microsoft.com/office/powerpoint/2010/main" val="6576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8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5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5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65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60" grpId="0"/>
      <p:bldP spid="592" grpId="0"/>
      <p:bldP spid="649" grpId="0" animBg="1"/>
      <p:bldP spid="651" grpId="0" animBg="1"/>
      <p:bldP spid="653" grpId="0" animBg="1"/>
      <p:bldP spid="655" grpId="0" animBg="1"/>
      <p:bldP spid="657" grpId="0" animBg="1"/>
      <p:bldP spid="659" grpId="0" animBg="1"/>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CD1EEC0-E421-FCDA-233F-4B7861618822}"/>
              </a:ext>
            </a:extLst>
          </p:cNvPr>
          <p:cNvSpPr>
            <a:spLocks noGrp="1"/>
          </p:cNvSpPr>
          <p:nvPr>
            <p:ph type="subTitle" idx="1"/>
          </p:nvPr>
        </p:nvSpPr>
        <p:spPr/>
        <p:txBody>
          <a:bodyPr/>
          <a:lstStyle/>
          <a:p>
            <a:endParaRPr lang="en-US"/>
          </a:p>
        </p:txBody>
      </p:sp>
      <p:pic>
        <p:nvPicPr>
          <p:cNvPr id="4" name="Picture 3">
            <a:extLst>
              <a:ext uri="{FF2B5EF4-FFF2-40B4-BE49-F238E27FC236}">
                <a16:creationId xmlns:a16="http://schemas.microsoft.com/office/drawing/2014/main" id="{06AD2C60-0080-F20F-325F-E882E374DD6E}"/>
              </a:ext>
            </a:extLst>
          </p:cNvPr>
          <p:cNvPicPr>
            <a:picLocks noChangeAspect="1"/>
          </p:cNvPicPr>
          <p:nvPr/>
        </p:nvPicPr>
        <p:blipFill>
          <a:blip r:embed="rId2"/>
          <a:stretch>
            <a:fillRect/>
          </a:stretch>
        </p:blipFill>
        <p:spPr>
          <a:xfrm>
            <a:off x="1423987" y="704850"/>
            <a:ext cx="6296025" cy="3733800"/>
          </a:xfrm>
          <a:prstGeom prst="rect">
            <a:avLst/>
          </a:prstGeom>
        </p:spPr>
      </p:pic>
    </p:spTree>
    <p:extLst>
      <p:ext uri="{BB962C8B-B14F-4D97-AF65-F5344CB8AC3E}">
        <p14:creationId xmlns:p14="http://schemas.microsoft.com/office/powerpoint/2010/main" val="30873104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19A1C1-802A-A27A-B9BD-9EF8540CE01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E826EAD-44B4-3C2C-8B5C-775A604B487B}"/>
              </a:ext>
            </a:extLst>
          </p:cNvPr>
          <p:cNvSpPr/>
          <p:nvPr/>
        </p:nvSpPr>
        <p:spPr>
          <a:xfrm>
            <a:off x="752149"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B44EB1EB-8BC5-9519-55C8-B24B5A29DFA9}"/>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9994A49D-4AF5-C44A-0171-7744E5A6B78E}"/>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9D66E9E-C46E-CEAD-531D-078446270490}"/>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5DC60717-660F-16BB-5B8D-07FFE3A251C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Free-Text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3C526D74-495C-3B1C-06B1-01FB26647F4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F48B629-57F5-36F3-EE71-EE42839673AC}"/>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FCD488A4-3DD8-FAAB-9692-30AE9811C2C1}"/>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006CC68-8C60-9CF7-DC4B-F59EA2DAB5B1}"/>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1F5441EF-A5DC-39D8-2B56-12453F92DD64}"/>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C9E7DB8-62E9-FC00-3F1C-FCEE96942726}"/>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ACAF8A33-D06A-6067-6BF1-C9664CD93B66}"/>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BC84ADAC-82B5-0015-8B28-EC3D6A437596}"/>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D530A4F8-E0FE-6DF4-F701-76DB13458589}"/>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4A418E7E-2F89-779E-A1AB-F853A6DC23A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E72C58B7-D43D-124C-CDAF-E34361524BA4}"/>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237EE0D-F0DC-D5AD-D748-F033DF630782}"/>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DD61D400-A10B-5717-E6F6-EDEF17F9E13D}"/>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620B6F15-6ADB-6FEF-3D73-E25C31F70988}"/>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AA12F0C1-6DCC-193D-ADC3-247A2D17D68F}"/>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38669F74-8A87-F81F-D52E-4017E08CEB32}"/>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58B88135-6E76-3F58-109E-52D345802E51}"/>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DBC2BF93-0872-E464-1AC5-B0BBC89E4A71}"/>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B4640D4-9438-F360-6000-AABF41B358D6}"/>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0A4E9E3D-71F1-2D78-617C-96F4D8A785B4}"/>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job IDs</a:t>
            </a:r>
          </a:p>
        </p:txBody>
      </p:sp>
      <p:sp>
        <p:nvSpPr>
          <p:cNvPr id="651" name="TextBox 650">
            <a:extLst>
              <a:ext uri="{FF2B5EF4-FFF2-40B4-BE49-F238E27FC236}">
                <a16:creationId xmlns:a16="http://schemas.microsoft.com/office/drawing/2014/main" id="{6DC1002C-B912-4057-017C-3BD0D84CC7E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ID</a:t>
            </a:r>
          </a:p>
        </p:txBody>
      </p:sp>
      <p:sp>
        <p:nvSpPr>
          <p:cNvPr id="653" name="TextBox 652">
            <a:extLst>
              <a:ext uri="{FF2B5EF4-FFF2-40B4-BE49-F238E27FC236}">
                <a16:creationId xmlns:a16="http://schemas.microsoft.com/office/drawing/2014/main" id="{543438F1-6CA0-81AA-ED3D-8074F4DF2214}"/>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413EA670-5BFA-C42F-6321-286BCE5BF057}"/>
              </a:ext>
            </a:extLst>
          </p:cNvPr>
          <p:cNvSpPr/>
          <p:nvPr/>
        </p:nvSpPr>
        <p:spPr>
          <a:xfrm>
            <a:off x="6116854" y="3598735"/>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25A3DE8-B12E-A214-D75C-3526922FC740}"/>
              </a:ext>
            </a:extLst>
          </p:cNvPr>
          <p:cNvSpPr txBox="1"/>
          <p:nvPr/>
        </p:nvSpPr>
        <p:spPr>
          <a:xfrm>
            <a:off x="1409339" y="1914264"/>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5A2F8DB7-AF2F-1A43-510E-F339A11E574B}"/>
              </a:ext>
            </a:extLst>
          </p:cNvPr>
          <p:cNvSpPr/>
          <p:nvPr/>
        </p:nvSpPr>
        <p:spPr>
          <a:xfrm>
            <a:off x="1713077" y="1645903"/>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7719B71A-5FE6-BE61-1597-AB6357913CC5}"/>
              </a:ext>
            </a:extLst>
          </p:cNvPr>
          <p:cNvSpPr txBox="1"/>
          <p:nvPr/>
        </p:nvSpPr>
        <p:spPr>
          <a:xfrm>
            <a:off x="2823354" y="1914886"/>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F6668AC2-A750-129B-A99F-7FC5EABA95AF}"/>
              </a:ext>
            </a:extLst>
          </p:cNvPr>
          <p:cNvGrpSpPr/>
          <p:nvPr/>
        </p:nvGrpSpPr>
        <p:grpSpPr>
          <a:xfrm>
            <a:off x="766229" y="2751574"/>
            <a:ext cx="1443854" cy="838350"/>
            <a:chOff x="5661388" y="2978068"/>
            <a:chExt cx="1443854" cy="838350"/>
          </a:xfrm>
        </p:grpSpPr>
        <p:sp>
          <p:nvSpPr>
            <p:cNvPr id="728" name="Rectangle: Rounded Corners 727">
              <a:extLst>
                <a:ext uri="{FF2B5EF4-FFF2-40B4-BE49-F238E27FC236}">
                  <a16:creationId xmlns:a16="http://schemas.microsoft.com/office/drawing/2014/main" id="{0010E042-E2A8-B31F-D330-2730808E50B8}"/>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9DBEB480-84FA-3301-CB5D-AD1949CA162A}"/>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8012EFE0-8AED-B043-BD55-9C772416C98D}"/>
              </a:ext>
            </a:extLst>
          </p:cNvPr>
          <p:cNvCxnSpPr>
            <a:cxnSpLocks/>
            <a:stCxn id="725" idx="1"/>
            <a:endCxn id="728" idx="0"/>
          </p:cNvCxnSpPr>
          <p:nvPr/>
        </p:nvCxnSpPr>
        <p:spPr>
          <a:xfrm rot="10800000" flipV="1">
            <a:off x="1488157" y="2168158"/>
            <a:ext cx="224921" cy="583416"/>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FAAF2AAF-8479-F05D-1CD0-F32C3DD1845A}"/>
              </a:ext>
            </a:extLst>
          </p:cNvPr>
          <p:cNvCxnSpPr>
            <a:cxnSpLocks/>
            <a:stCxn id="725" idx="3"/>
            <a:endCxn id="733" idx="0"/>
          </p:cNvCxnSpPr>
          <p:nvPr/>
        </p:nvCxnSpPr>
        <p:spPr>
          <a:xfrm>
            <a:off x="2842355" y="2168158"/>
            <a:ext cx="258786" cy="58113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F5C4449-69BD-C124-A1C4-3BE38D1DE507}"/>
              </a:ext>
            </a:extLst>
          </p:cNvPr>
          <p:cNvGrpSpPr/>
          <p:nvPr/>
        </p:nvGrpSpPr>
        <p:grpSpPr>
          <a:xfrm>
            <a:off x="2379214" y="2749290"/>
            <a:ext cx="1443854" cy="838352"/>
            <a:chOff x="7371477" y="2971818"/>
            <a:chExt cx="1443854" cy="838352"/>
          </a:xfrm>
        </p:grpSpPr>
        <p:sp>
          <p:nvSpPr>
            <p:cNvPr id="733" name="Rectangle: Rounded Corners 732">
              <a:extLst>
                <a:ext uri="{FF2B5EF4-FFF2-40B4-BE49-F238E27FC236}">
                  <a16:creationId xmlns:a16="http://schemas.microsoft.com/office/drawing/2014/main" id="{795F1DE9-E3C8-3D9F-C3F9-00F002D42292}"/>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A4DDAD0B-99A0-BD92-655A-A497877A058B}"/>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E624DDC-DA75-3E48-9D7F-596EA8F56AD2}"/>
              </a:ext>
            </a:extLst>
          </p:cNvPr>
          <p:cNvCxnSpPr>
            <a:cxnSpLocks/>
            <a:stCxn id="9" idx="4"/>
            <a:endCxn id="725" idx="0"/>
          </p:cNvCxnSpPr>
          <p:nvPr/>
        </p:nvCxnSpPr>
        <p:spPr>
          <a:xfrm flipH="1">
            <a:off x="2277716" y="1416020"/>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4EFBECD8-EA51-D123-B8A5-D1E8EEBEA910}"/>
              </a:ext>
            </a:extLst>
          </p:cNvPr>
          <p:cNvSpPr txBox="1"/>
          <p:nvPr/>
        </p:nvSpPr>
        <p:spPr>
          <a:xfrm>
            <a:off x="2404264" y="1173476"/>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3934A795-02E6-463C-6900-EACC6FAAEC9F}"/>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48E4D587-9919-F718-5080-2E8326E2369D}"/>
              </a:ext>
            </a:extLst>
          </p:cNvPr>
          <p:cNvCxnSpPr>
            <a:cxnSpLocks/>
            <a:stCxn id="733" idx="2"/>
            <a:endCxn id="749" idx="0"/>
          </p:cNvCxnSpPr>
          <p:nvPr/>
        </p:nvCxnSpPr>
        <p:spPr>
          <a:xfrm>
            <a:off x="3101141" y="3587642"/>
            <a:ext cx="0" cy="20373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932A75D7-BA44-BF15-147F-5C71BCB9722A}"/>
              </a:ext>
            </a:extLst>
          </p:cNvPr>
          <p:cNvGrpSpPr/>
          <p:nvPr/>
        </p:nvGrpSpPr>
        <p:grpSpPr>
          <a:xfrm>
            <a:off x="2379214" y="3791372"/>
            <a:ext cx="1443854" cy="838350"/>
            <a:chOff x="5661388" y="2891695"/>
            <a:chExt cx="1443854" cy="838350"/>
          </a:xfrm>
        </p:grpSpPr>
        <p:sp>
          <p:nvSpPr>
            <p:cNvPr id="749" name="Rectangle: Rounded Corners 748">
              <a:extLst>
                <a:ext uri="{FF2B5EF4-FFF2-40B4-BE49-F238E27FC236}">
                  <a16:creationId xmlns:a16="http://schemas.microsoft.com/office/drawing/2014/main" id="{419D55AE-513E-C85E-5E43-A871632AB814}"/>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8CEA2C01-DA82-F0AB-1AC0-12B921A9AA56}"/>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368F1108-E443-CB3B-F440-AF25B94C0028}"/>
              </a:ext>
            </a:extLst>
          </p:cNvPr>
          <p:cNvSpPr/>
          <p:nvPr/>
        </p:nvSpPr>
        <p:spPr>
          <a:xfrm>
            <a:off x="6141515" y="2661219"/>
            <a:ext cx="1633451"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e.g. "Python Kubernetes"</a:t>
            </a:r>
          </a:p>
        </p:txBody>
      </p:sp>
      <p:cxnSp>
        <p:nvCxnSpPr>
          <p:cNvPr id="5" name="Straight Connector 4">
            <a:extLst>
              <a:ext uri="{FF2B5EF4-FFF2-40B4-BE49-F238E27FC236}">
                <a16:creationId xmlns:a16="http://schemas.microsoft.com/office/drawing/2014/main" id="{28B8D06C-AF5E-36D6-F922-24E31796FC82}"/>
              </a:ext>
            </a:extLst>
          </p:cNvPr>
          <p:cNvCxnSpPr>
            <a:cxnSpLocks/>
          </p:cNvCxnSpPr>
          <p:nvPr/>
        </p:nvCxnSpPr>
        <p:spPr>
          <a:xfrm>
            <a:off x="40920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FD164076-742B-804D-54CE-42E779A2D205}"/>
              </a:ext>
            </a:extLst>
          </p:cNvPr>
          <p:cNvSpPr/>
          <p:nvPr/>
        </p:nvSpPr>
        <p:spPr>
          <a:xfrm>
            <a:off x="2175656" y="1204870"/>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5CC16F5E-301D-40BB-5720-4E2D5C6DF51C}"/>
              </a:ext>
            </a:extLst>
          </p:cNvPr>
          <p:cNvPicPr>
            <a:picLocks noChangeAspect="1"/>
          </p:cNvPicPr>
          <p:nvPr/>
        </p:nvPicPr>
        <p:blipFill>
          <a:blip r:embed="rId11"/>
          <a:stretch>
            <a:fillRect/>
          </a:stretch>
        </p:blipFill>
        <p:spPr>
          <a:xfrm>
            <a:off x="350654" y="695433"/>
            <a:ext cx="4419677" cy="380479"/>
          </a:xfrm>
          <a:prstGeom prst="rect">
            <a:avLst/>
          </a:prstGeom>
        </p:spPr>
      </p:pic>
    </p:spTree>
    <p:extLst>
      <p:ext uri="{BB962C8B-B14F-4D97-AF65-F5344CB8AC3E}">
        <p14:creationId xmlns:p14="http://schemas.microsoft.com/office/powerpoint/2010/main" val="50724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3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8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4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4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3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51"/>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3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19"/>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65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73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8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647" grpId="0"/>
      <p:bldP spid="649" grpId="0"/>
      <p:bldP spid="651" grpId="0"/>
      <p:bldP spid="653" grpId="0"/>
      <p:bldP spid="659" grpId="0" animBg="1"/>
      <p:bldP spid="724" grpId="0"/>
      <p:bldP spid="725" grpId="0" animBg="1"/>
      <p:bldP spid="726" grpId="0"/>
      <p:bldP spid="737" grpId="0"/>
      <p:bldP spid="753"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8" name="Rectangle 7">
            <a:extLst>
              <a:ext uri="{FF2B5EF4-FFF2-40B4-BE49-F238E27FC236}">
                <a16:creationId xmlns:a16="http://schemas.microsoft.com/office/drawing/2014/main" id="{D1C6A085-9504-8E91-8454-C69F19D256F2}"/>
              </a:ext>
            </a:extLst>
          </p:cNvPr>
          <p:cNvSpPr/>
          <p:nvPr/>
        </p:nvSpPr>
        <p:spPr>
          <a:xfrm>
            <a:off x="705946" y="564948"/>
            <a:ext cx="7555738" cy="399635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a:t>
            </a:r>
            <a:endParaRPr sz="1500" dirty="0">
              <a:solidFill>
                <a:schemeClr val="dk2"/>
              </a:solidFill>
            </a:endParaRPr>
          </a:p>
        </p:txBody>
      </p:sp>
      <p:pic>
        <p:nvPicPr>
          <p:cNvPr id="640" name="Google Shape;640;p91" title="Fichier 20.png"/>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398B0777-E877-D93E-BD92-C04A16A920FE}"/>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0DC02452-9375-CBE7-83E6-04F974B56B92}"/>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82223FD1-8496-6C81-F2F1-F0D840AF50B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A5A0CC1E-9DDB-6C92-FB4E-EF480D1C78F1}"/>
              </a:ext>
            </a:extLst>
          </p:cNvPr>
          <p:cNvGrpSpPr/>
          <p:nvPr/>
        </p:nvGrpSpPr>
        <p:grpSpPr>
          <a:xfrm>
            <a:off x="3436362" y="756895"/>
            <a:ext cx="863446" cy="423153"/>
            <a:chOff x="1457875" y="2258330"/>
            <a:chExt cx="863446" cy="423153"/>
          </a:xfrm>
          <a:solidFill>
            <a:schemeClr val="bg2">
              <a:lumMod val="50000"/>
              <a:lumOff val="50000"/>
            </a:schemeClr>
          </a:solidFill>
        </p:grpSpPr>
        <p:sp>
          <p:nvSpPr>
            <p:cNvPr id="35" name="Rectangle 34">
              <a:extLst>
                <a:ext uri="{FF2B5EF4-FFF2-40B4-BE49-F238E27FC236}">
                  <a16:creationId xmlns:a16="http://schemas.microsoft.com/office/drawing/2014/main" id="{C81B1997-A097-3A4C-BF2A-B6366A474C25}"/>
                </a:ext>
              </a:extLst>
            </p:cNvPr>
            <p:cNvSpPr/>
            <p:nvPr/>
          </p:nvSpPr>
          <p:spPr>
            <a:xfrm>
              <a:off x="1457875" y="2258330"/>
              <a:ext cx="863446"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API</a:t>
              </a:r>
            </a:p>
          </p:txBody>
        </p:sp>
        <p:pic>
          <p:nvPicPr>
            <p:cNvPr id="3" name="Picture 2">
              <a:extLst>
                <a:ext uri="{FF2B5EF4-FFF2-40B4-BE49-F238E27FC236}">
                  <a16:creationId xmlns:a16="http://schemas.microsoft.com/office/drawing/2014/main" id="{32C43E67-FADA-3F37-4E20-971537F7D9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1416" y="2310153"/>
              <a:ext cx="326543" cy="326543"/>
            </a:xfrm>
            <a:prstGeom prst="rect">
              <a:avLst/>
            </a:prstGeom>
            <a:grpFill/>
            <a:ln>
              <a:noFill/>
            </a:ln>
          </p:spPr>
        </p:pic>
      </p:grpSp>
      <p:pic>
        <p:nvPicPr>
          <p:cNvPr id="44" name="Picture 43">
            <a:extLst>
              <a:ext uri="{FF2B5EF4-FFF2-40B4-BE49-F238E27FC236}">
                <a16:creationId xmlns:a16="http://schemas.microsoft.com/office/drawing/2014/main" id="{83D93FB8-C976-FD61-4A75-03ED41F49C72}"/>
              </a:ext>
            </a:extLst>
          </p:cNvPr>
          <p:cNvPicPr>
            <a:picLocks noChangeAspect="1"/>
          </p:cNvPicPr>
          <p:nvPr/>
        </p:nvPicPr>
        <p:blipFill>
          <a:blip r:embed="rId6"/>
          <a:stretch>
            <a:fillRect/>
          </a:stretch>
        </p:blipFill>
        <p:spPr>
          <a:xfrm>
            <a:off x="6147991" y="1750129"/>
            <a:ext cx="473331" cy="423153"/>
          </a:xfrm>
          <a:prstGeom prst="rect">
            <a:avLst/>
          </a:prstGeom>
        </p:spPr>
      </p:pic>
      <p:pic>
        <p:nvPicPr>
          <p:cNvPr id="46" name="Picture 45">
            <a:extLst>
              <a:ext uri="{FF2B5EF4-FFF2-40B4-BE49-F238E27FC236}">
                <a16:creationId xmlns:a16="http://schemas.microsoft.com/office/drawing/2014/main" id="{A444A515-4F48-6511-2111-3AE0A97D838F}"/>
              </a:ext>
            </a:extLst>
          </p:cNvPr>
          <p:cNvPicPr>
            <a:picLocks noChangeAspect="1"/>
          </p:cNvPicPr>
          <p:nvPr/>
        </p:nvPicPr>
        <p:blipFill>
          <a:blip r:embed="rId7"/>
          <a:stretch>
            <a:fillRect/>
          </a:stretch>
        </p:blipFill>
        <p:spPr>
          <a:xfrm>
            <a:off x="1115768" y="1748938"/>
            <a:ext cx="393496" cy="452741"/>
          </a:xfrm>
          <a:prstGeom prst="rect">
            <a:avLst/>
          </a:prstGeom>
        </p:spPr>
      </p:pic>
      <p:sp>
        <p:nvSpPr>
          <p:cNvPr id="630" name="TextBox 629">
            <a:extLst>
              <a:ext uri="{FF2B5EF4-FFF2-40B4-BE49-F238E27FC236}">
                <a16:creationId xmlns:a16="http://schemas.microsoft.com/office/drawing/2014/main" id="{7D7D51CE-BB6A-E548-BFE4-315091EE825B}"/>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pages (JSON)</a:t>
            </a:r>
          </a:p>
        </p:txBody>
      </p:sp>
      <p:pic>
        <p:nvPicPr>
          <p:cNvPr id="661" name="Picture 660">
            <a:extLst>
              <a:ext uri="{FF2B5EF4-FFF2-40B4-BE49-F238E27FC236}">
                <a16:creationId xmlns:a16="http://schemas.microsoft.com/office/drawing/2014/main" id="{07FF058C-1A44-770B-699A-FAD84F0BB73C}"/>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A38EAE7-6C33-11B7-E6A0-B58DA3CCA933}"/>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220A921E-3BED-CF0C-A6C8-5CD5F4DF1141}"/>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pages + cleaned data</a:t>
            </a:r>
          </a:p>
        </p:txBody>
      </p:sp>
      <p:sp>
        <p:nvSpPr>
          <p:cNvPr id="672" name="TextBox 671">
            <a:extLst>
              <a:ext uri="{FF2B5EF4-FFF2-40B4-BE49-F238E27FC236}">
                <a16:creationId xmlns:a16="http://schemas.microsoft.com/office/drawing/2014/main" id="{6F35D384-14C9-9240-4218-473451B1D645}"/>
              </a:ext>
            </a:extLst>
          </p:cNvPr>
          <p:cNvSpPr txBox="1"/>
          <p:nvPr/>
        </p:nvSpPr>
        <p:spPr>
          <a:xfrm>
            <a:off x="6612918" y="1519296"/>
            <a:ext cx="1113341" cy="461665"/>
          </a:xfrm>
          <a:prstGeom prst="rect">
            <a:avLst/>
          </a:prstGeom>
          <a:noFill/>
        </p:spPr>
        <p:txBody>
          <a:bodyPr wrap="square" rtlCol="0">
            <a:spAutoFit/>
          </a:bodyPr>
          <a:lstStyle/>
          <a:p>
            <a:pPr algn="ctr"/>
            <a:r>
              <a:rPr lang="en-US" sz="1200" dirty="0">
                <a:solidFill>
                  <a:schemeClr val="tx1">
                    <a:lumMod val="75000"/>
                    <a:lumOff val="25000"/>
                  </a:schemeClr>
                </a:solidFill>
              </a:rPr>
              <a:t>job data</a:t>
            </a:r>
          </a:p>
          <a:p>
            <a:pPr algn="ctr"/>
            <a:r>
              <a:rPr lang="en-US" sz="1200" dirty="0">
                <a:solidFill>
                  <a:schemeClr val="tx1">
                    <a:lumMod val="75000"/>
                    <a:lumOff val="25000"/>
                  </a:schemeClr>
                </a:solidFill>
              </a:rPr>
              <a:t>(for indexing)</a:t>
            </a:r>
          </a:p>
        </p:txBody>
      </p:sp>
      <p:sp>
        <p:nvSpPr>
          <p:cNvPr id="681" name="TextBox 680">
            <a:extLst>
              <a:ext uri="{FF2B5EF4-FFF2-40B4-BE49-F238E27FC236}">
                <a16:creationId xmlns:a16="http://schemas.microsoft.com/office/drawing/2014/main" id="{11355667-9E18-D083-460B-4CFD7B8F0CD5}"/>
              </a:ext>
            </a:extLst>
          </p:cNvPr>
          <p:cNvSpPr txBox="1"/>
          <p:nvPr/>
        </p:nvSpPr>
        <p:spPr>
          <a:xfrm>
            <a:off x="756203" y="2184533"/>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35AC9762-5AB8-847D-E042-C929950FA8D5}"/>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1D508615-F7DD-7779-19BA-0980A2B87756}"/>
              </a:ext>
            </a:extLst>
          </p:cNvPr>
          <p:cNvPicPr>
            <a:picLocks noChangeAspect="1"/>
          </p:cNvPicPr>
          <p:nvPr/>
        </p:nvPicPr>
        <p:blipFill>
          <a:blip r:embed="rId10"/>
          <a:stretch>
            <a:fillRect/>
          </a:stretch>
        </p:blipFill>
        <p:spPr>
          <a:xfrm>
            <a:off x="4741521" y="3423026"/>
            <a:ext cx="690489" cy="509775"/>
          </a:xfrm>
          <a:prstGeom prst="rect">
            <a:avLst/>
          </a:prstGeom>
        </p:spPr>
      </p:pic>
      <p:pic>
        <p:nvPicPr>
          <p:cNvPr id="721" name="Picture 720">
            <a:extLst>
              <a:ext uri="{FF2B5EF4-FFF2-40B4-BE49-F238E27FC236}">
                <a16:creationId xmlns:a16="http://schemas.microsoft.com/office/drawing/2014/main" id="{690CBB62-758B-2BC9-70D3-8F63BD4138C5}"/>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0AC96730-7A28-4752-CA99-E58F565EFE8F}"/>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FB64D3D1-413D-52A3-5DA2-B490982608E7}"/>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53619467-1B8B-23F0-54A3-86287FE183B8}"/>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94E5BC87-C648-21B8-3792-380F77D3D9B9}"/>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6E46181C-2FE8-4E34-2ABB-17A3297CCE1B}"/>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2260DACB-E59B-1BD8-43F9-0A3098A4B1B4}"/>
              </a:ext>
            </a:extLst>
          </p:cNvPr>
          <p:cNvCxnSpPr>
            <a:cxnSpLocks/>
            <a:stCxn id="11" idx="3"/>
            <a:endCxn id="44" idx="1"/>
          </p:cNvCxnSpPr>
          <p:nvPr/>
        </p:nvCxnSpPr>
        <p:spPr>
          <a:xfrm>
            <a:off x="4297300" y="1960515"/>
            <a:ext cx="1850691"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A729F841-F7C4-39BB-E88B-CF0626736FA0}"/>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D41D5D3-B3F8-6607-2DE3-689101A959A6}"/>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B1286058-816B-B65D-F947-CD976A3C30CA}"/>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4517D947-891A-BA7B-AB6F-E8AB3BAA2B62}"/>
              </a:ext>
            </a:extLst>
          </p:cNvPr>
          <p:cNvCxnSpPr>
            <a:cxnSpLocks/>
            <a:stCxn id="11" idx="1"/>
            <a:endCxn id="46" idx="3"/>
          </p:cNvCxnSpPr>
          <p:nvPr/>
        </p:nvCxnSpPr>
        <p:spPr>
          <a:xfrm flipH="1">
            <a:off x="1509264" y="1960515"/>
            <a:ext cx="1929612" cy="14794"/>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6" name="Group 5">
            <a:extLst>
              <a:ext uri="{FF2B5EF4-FFF2-40B4-BE49-F238E27FC236}">
                <a16:creationId xmlns:a16="http://schemas.microsoft.com/office/drawing/2014/main" id="{02AB8232-238F-5F89-B109-26400E1CE2C1}"/>
              </a:ext>
            </a:extLst>
          </p:cNvPr>
          <p:cNvGrpSpPr/>
          <p:nvPr/>
        </p:nvGrpSpPr>
        <p:grpSpPr>
          <a:xfrm>
            <a:off x="756203" y="620303"/>
            <a:ext cx="5119894" cy="1883507"/>
            <a:chOff x="756203" y="620303"/>
            <a:chExt cx="5119894" cy="1883507"/>
          </a:xfrm>
        </p:grpSpPr>
        <p:sp>
          <p:nvSpPr>
            <p:cNvPr id="29" name="Rectangle 28">
              <a:extLst>
                <a:ext uri="{FF2B5EF4-FFF2-40B4-BE49-F238E27FC236}">
                  <a16:creationId xmlns:a16="http://schemas.microsoft.com/office/drawing/2014/main" id="{C1B20CA4-062A-C0D9-CA7B-D7D3E29C9972}"/>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D96F168-5B4B-E39E-0A23-4DE5C0FCB69D}"/>
                </a:ext>
              </a:extLst>
            </p:cNvPr>
            <p:cNvSpPr txBox="1"/>
            <p:nvPr/>
          </p:nvSpPr>
          <p:spPr>
            <a:xfrm>
              <a:off x="756203" y="620303"/>
              <a:ext cx="914400"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a:t>
              </a:r>
            </a:p>
          </p:txBody>
        </p:sp>
      </p:grpSp>
      <p:grpSp>
        <p:nvGrpSpPr>
          <p:cNvPr id="12" name="Group 11">
            <a:extLst>
              <a:ext uri="{FF2B5EF4-FFF2-40B4-BE49-F238E27FC236}">
                <a16:creationId xmlns:a16="http://schemas.microsoft.com/office/drawing/2014/main" id="{A88A6252-6421-4A57-414B-ADEB3F70E455}"/>
              </a:ext>
            </a:extLst>
          </p:cNvPr>
          <p:cNvGrpSpPr/>
          <p:nvPr/>
        </p:nvGrpSpPr>
        <p:grpSpPr>
          <a:xfrm>
            <a:off x="756203" y="2740982"/>
            <a:ext cx="5119894" cy="1782826"/>
            <a:chOff x="756203" y="2740982"/>
            <a:chExt cx="5119894" cy="1782826"/>
          </a:xfrm>
        </p:grpSpPr>
        <p:sp>
          <p:nvSpPr>
            <p:cNvPr id="31" name="Rectangle 30">
              <a:extLst>
                <a:ext uri="{FF2B5EF4-FFF2-40B4-BE49-F238E27FC236}">
                  <a16:creationId xmlns:a16="http://schemas.microsoft.com/office/drawing/2014/main" id="{30D7693D-30AC-7B09-48A7-3238EA5C6CB7}"/>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6D4082A1-593C-B160-4449-6305DC10DA77}"/>
                </a:ext>
              </a:extLst>
            </p:cNvPr>
            <p:cNvSpPr txBox="1"/>
            <p:nvPr/>
          </p:nvSpPr>
          <p:spPr>
            <a:xfrm>
              <a:off x="766079" y="2754037"/>
              <a:ext cx="891051"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Runtime</a:t>
              </a:r>
            </a:p>
          </p:txBody>
        </p:sp>
      </p:grpSp>
      <p:pic>
        <p:nvPicPr>
          <p:cNvPr id="2" name="Picture 1" descr="File:PostgreSQL logo.3colors.540x557.png">
            <a:extLst>
              <a:ext uri="{FF2B5EF4-FFF2-40B4-BE49-F238E27FC236}">
                <a16:creationId xmlns:a16="http://schemas.microsoft.com/office/drawing/2014/main" id="{1DDD42E8-14EE-E62B-0B2E-C5C00F50B77B}"/>
              </a:ext>
            </a:extLst>
          </p:cNvPr>
          <p:cNvPicPr>
            <a:picLocks noChangeAspect="1"/>
          </p:cNvPicPr>
          <p:nvPr/>
        </p:nvPicPr>
        <p:blipFill>
          <a:blip r:embed="rId15"/>
          <a:stretch>
            <a:fillRect/>
          </a:stretch>
        </p:blipFill>
        <p:spPr>
          <a:xfrm>
            <a:off x="6253646" y="1432798"/>
            <a:ext cx="274086" cy="282715"/>
          </a:xfrm>
          <a:prstGeom prst="rect">
            <a:avLst/>
          </a:prstGeom>
        </p:spPr>
      </p:pic>
      <p:pic>
        <p:nvPicPr>
          <p:cNvPr id="7" name="Picture 6">
            <a:extLst>
              <a:ext uri="{FF2B5EF4-FFF2-40B4-BE49-F238E27FC236}">
                <a16:creationId xmlns:a16="http://schemas.microsoft.com/office/drawing/2014/main" id="{1C491A15-024F-79E0-69DD-445DCED9C515}"/>
              </a:ext>
            </a:extLst>
          </p:cNvPr>
          <p:cNvPicPr>
            <a:picLocks noChangeAspect="1"/>
          </p:cNvPicPr>
          <p:nvPr/>
        </p:nvPicPr>
        <p:blipFill>
          <a:blip r:embed="rId16"/>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0142F1A4-C140-4460-3CA0-48A6F4C18476}"/>
              </a:ext>
            </a:extLst>
          </p:cNvPr>
          <p:cNvPicPr>
            <a:picLocks noChangeAspect="1"/>
          </p:cNvPicPr>
          <p:nvPr/>
        </p:nvPicPr>
        <p:blipFill>
          <a:blip r:embed="rId17"/>
          <a:stretch>
            <a:fillRect/>
          </a:stretch>
        </p:blipFill>
        <p:spPr>
          <a:xfrm>
            <a:off x="1192724" y="1435563"/>
            <a:ext cx="253705" cy="279950"/>
          </a:xfrm>
          <a:prstGeom prst="rect">
            <a:avLst/>
          </a:prstGeom>
        </p:spPr>
      </p:pic>
      <p:pic>
        <p:nvPicPr>
          <p:cNvPr id="18" name="Picture 17">
            <a:extLst>
              <a:ext uri="{FF2B5EF4-FFF2-40B4-BE49-F238E27FC236}">
                <a16:creationId xmlns:a16="http://schemas.microsoft.com/office/drawing/2014/main" id="{73A23106-2A25-7B27-978E-FD3725DB8FBC}"/>
              </a:ext>
            </a:extLst>
          </p:cNvPr>
          <p:cNvPicPr>
            <a:picLocks noChangeAspect="1"/>
          </p:cNvPicPr>
          <p:nvPr/>
        </p:nvPicPr>
        <p:blipFill>
          <a:blip r:embed="rId6"/>
          <a:stretch>
            <a:fillRect/>
          </a:stretch>
        </p:blipFill>
        <p:spPr>
          <a:xfrm>
            <a:off x="7742435" y="1748938"/>
            <a:ext cx="473331" cy="423153"/>
          </a:xfrm>
          <a:prstGeom prst="rect">
            <a:avLst/>
          </a:prstGeom>
        </p:spPr>
      </p:pic>
      <p:cxnSp>
        <p:nvCxnSpPr>
          <p:cNvPr id="23" name="Straight Arrow Connector 22">
            <a:extLst>
              <a:ext uri="{FF2B5EF4-FFF2-40B4-BE49-F238E27FC236}">
                <a16:creationId xmlns:a16="http://schemas.microsoft.com/office/drawing/2014/main" id="{4F793FD6-EB05-0FC5-0AE0-D969175F3D22}"/>
              </a:ext>
            </a:extLst>
          </p:cNvPr>
          <p:cNvCxnSpPr>
            <a:cxnSpLocks/>
            <a:stCxn id="44" idx="3"/>
            <a:endCxn id="18" idx="1"/>
          </p:cNvCxnSpPr>
          <p:nvPr/>
        </p:nvCxnSpPr>
        <p:spPr>
          <a:xfrm flipV="1">
            <a:off x="6621322" y="1960515"/>
            <a:ext cx="1121113"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3" name="Picture 32">
            <a:extLst>
              <a:ext uri="{FF2B5EF4-FFF2-40B4-BE49-F238E27FC236}">
                <a16:creationId xmlns:a16="http://schemas.microsoft.com/office/drawing/2014/main" id="{9DE97DCC-3122-A5DE-835F-1CCBF7C99D76}"/>
              </a:ext>
            </a:extLst>
          </p:cNvPr>
          <p:cNvPicPr>
            <a:picLocks noChangeAspect="1"/>
          </p:cNvPicPr>
          <p:nvPr/>
        </p:nvPicPr>
        <p:blipFill>
          <a:blip r:embed="rId18"/>
          <a:stretch>
            <a:fillRect/>
          </a:stretch>
        </p:blipFill>
        <p:spPr>
          <a:xfrm>
            <a:off x="7837742" y="1439158"/>
            <a:ext cx="282715" cy="282715"/>
          </a:xfrm>
          <a:prstGeom prst="rect">
            <a:avLst/>
          </a:prstGeom>
        </p:spPr>
      </p:pic>
      <p:cxnSp>
        <p:nvCxnSpPr>
          <p:cNvPr id="588" name="Straight Arrow Connector 587">
            <a:extLst>
              <a:ext uri="{FF2B5EF4-FFF2-40B4-BE49-F238E27FC236}">
                <a16:creationId xmlns:a16="http://schemas.microsoft.com/office/drawing/2014/main" id="{184FC1D6-6717-58A9-46F8-8C3C86B99327}"/>
              </a:ext>
            </a:extLst>
          </p:cNvPr>
          <p:cNvCxnSpPr>
            <a:cxnSpLocks/>
            <a:stCxn id="715" idx="1"/>
            <a:endCxn id="661" idx="3"/>
          </p:cNvCxnSpPr>
          <p:nvPr/>
        </p:nvCxnSpPr>
        <p:spPr>
          <a:xfrm flipH="1">
            <a:off x="3436362" y="3677914"/>
            <a:ext cx="1305159" cy="1627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05" name="Rectangle 604">
            <a:extLst>
              <a:ext uri="{FF2B5EF4-FFF2-40B4-BE49-F238E27FC236}">
                <a16:creationId xmlns:a16="http://schemas.microsoft.com/office/drawing/2014/main" id="{BB537319-88C9-3161-B33D-8543292F34CA}"/>
              </a:ext>
            </a:extLst>
          </p:cNvPr>
          <p:cNvSpPr/>
          <p:nvPr/>
        </p:nvSpPr>
        <p:spPr>
          <a:xfrm>
            <a:off x="5275518" y="3423025"/>
            <a:ext cx="156492" cy="287438"/>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608">
            <a:extLst>
              <a:ext uri="{FF2B5EF4-FFF2-40B4-BE49-F238E27FC236}">
                <a16:creationId xmlns:a16="http://schemas.microsoft.com/office/drawing/2014/main" id="{C5B58E3C-8158-F84D-D865-BA372312EAA2}"/>
              </a:ext>
            </a:extLst>
          </p:cNvPr>
          <p:cNvSpPr/>
          <p:nvPr/>
        </p:nvSpPr>
        <p:spPr>
          <a:xfrm>
            <a:off x="5275518" y="3677914"/>
            <a:ext cx="156492" cy="318880"/>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1" name="Connector: Elbow 610">
            <a:extLst>
              <a:ext uri="{FF2B5EF4-FFF2-40B4-BE49-F238E27FC236}">
                <a16:creationId xmlns:a16="http://schemas.microsoft.com/office/drawing/2014/main" id="{1BBD5613-37FE-E1FD-8160-109F1F602399}"/>
              </a:ext>
            </a:extLst>
          </p:cNvPr>
          <p:cNvCxnSpPr>
            <a:cxnSpLocks/>
            <a:stCxn id="44" idx="2"/>
            <a:endCxn id="605" idx="3"/>
          </p:cNvCxnSpPr>
          <p:nvPr/>
        </p:nvCxnSpPr>
        <p:spPr>
          <a:xfrm rot="5400000">
            <a:off x="5211603" y="2393690"/>
            <a:ext cx="1393462" cy="95264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Connector: Elbow 633">
            <a:extLst>
              <a:ext uri="{FF2B5EF4-FFF2-40B4-BE49-F238E27FC236}">
                <a16:creationId xmlns:a16="http://schemas.microsoft.com/office/drawing/2014/main" id="{B2EDC0BF-AFC2-0DCD-5B2E-9F9DFBB09E6B}"/>
              </a:ext>
            </a:extLst>
          </p:cNvPr>
          <p:cNvCxnSpPr>
            <a:cxnSpLocks/>
            <a:stCxn id="18" idx="2"/>
            <a:endCxn id="609" idx="3"/>
          </p:cNvCxnSpPr>
          <p:nvPr/>
        </p:nvCxnSpPr>
        <p:spPr>
          <a:xfrm rot="5400000">
            <a:off x="5872925" y="1731177"/>
            <a:ext cx="1665263" cy="2547091"/>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B6EFF458-9E48-A793-431D-50C56334DC54}"/>
              </a:ext>
            </a:extLst>
          </p:cNvPr>
          <p:cNvSpPr txBox="1"/>
          <p:nvPr/>
        </p:nvSpPr>
        <p:spPr>
          <a:xfrm>
            <a:off x="4445402" y="1693939"/>
            <a:ext cx="1446870" cy="276999"/>
          </a:xfrm>
          <a:prstGeom prst="rect">
            <a:avLst/>
          </a:prstGeom>
          <a:noFill/>
        </p:spPr>
        <p:txBody>
          <a:bodyPr wrap="square" rtlCol="0">
            <a:spAutoFit/>
          </a:bodyPr>
          <a:lstStyle/>
          <a:p>
            <a:pPr algn="ctr"/>
            <a:r>
              <a:rPr lang="en-US" sz="1200" dirty="0">
                <a:solidFill>
                  <a:schemeClr val="tx1">
                    <a:lumMod val="75000"/>
                    <a:lumOff val="25000"/>
                  </a:schemeClr>
                </a:solidFill>
              </a:rPr>
              <a:t>structured job data</a:t>
            </a:r>
          </a:p>
        </p:txBody>
      </p:sp>
      <p:sp>
        <p:nvSpPr>
          <p:cNvPr id="677" name="TextBox 676">
            <a:extLst>
              <a:ext uri="{FF2B5EF4-FFF2-40B4-BE49-F238E27FC236}">
                <a16:creationId xmlns:a16="http://schemas.microsoft.com/office/drawing/2014/main" id="{360B69CB-B9B6-034D-EA88-83EE80188FF7}"/>
              </a:ext>
            </a:extLst>
          </p:cNvPr>
          <p:cNvSpPr txBox="1"/>
          <p:nvPr/>
        </p:nvSpPr>
        <p:spPr>
          <a:xfrm rot="16200000">
            <a:off x="5556076"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sp>
        <p:nvSpPr>
          <p:cNvPr id="682" name="TextBox 681">
            <a:extLst>
              <a:ext uri="{FF2B5EF4-FFF2-40B4-BE49-F238E27FC236}">
                <a16:creationId xmlns:a16="http://schemas.microsoft.com/office/drawing/2014/main" id="{D7776ED6-C7CE-73AE-5C84-FDC04C1FA984}"/>
              </a:ext>
            </a:extLst>
          </p:cNvPr>
          <p:cNvSpPr txBox="1"/>
          <p:nvPr/>
        </p:nvSpPr>
        <p:spPr>
          <a:xfrm rot="16200000">
            <a:off x="6979381" y="2865660"/>
            <a:ext cx="1675460" cy="276999"/>
          </a:xfrm>
          <a:prstGeom prst="rect">
            <a:avLst/>
          </a:prstGeom>
          <a:noFill/>
        </p:spPr>
        <p:txBody>
          <a:bodyPr wrap="square" rtlCol="0">
            <a:spAutoFit/>
          </a:bodyPr>
          <a:lstStyle/>
          <a:p>
            <a:pPr algn="ctr"/>
            <a:r>
              <a:rPr lang="en-US" sz="1200" dirty="0">
                <a:solidFill>
                  <a:schemeClr val="tx1">
                    <a:lumMod val="75000"/>
                    <a:lumOff val="25000"/>
                  </a:schemeClr>
                </a:solidFill>
              </a:rPr>
              <a:t>ranked job IDs</a:t>
            </a:r>
          </a:p>
        </p:txBody>
      </p:sp>
      <p:pic>
        <p:nvPicPr>
          <p:cNvPr id="14" name="Picture 13">
            <a:extLst>
              <a:ext uri="{FF2B5EF4-FFF2-40B4-BE49-F238E27FC236}">
                <a16:creationId xmlns:a16="http://schemas.microsoft.com/office/drawing/2014/main" id="{4DCBD0C8-1903-CBE8-C278-5B7A66AA2773}"/>
              </a:ext>
            </a:extLst>
          </p:cNvPr>
          <p:cNvPicPr>
            <a:picLocks noChangeAspect="1"/>
          </p:cNvPicPr>
          <p:nvPr/>
        </p:nvPicPr>
        <p:blipFill>
          <a:blip r:embed="rId19"/>
          <a:stretch>
            <a:fillRect/>
          </a:stretch>
        </p:blipFill>
        <p:spPr>
          <a:xfrm>
            <a:off x="3499903" y="2182628"/>
            <a:ext cx="736364" cy="285709"/>
          </a:xfrm>
          <a:prstGeom prst="rect">
            <a:avLst/>
          </a:prstGeom>
        </p:spPr>
      </p:pic>
      <p:pic>
        <p:nvPicPr>
          <p:cNvPr id="17" name="Picture 16">
            <a:extLst>
              <a:ext uri="{FF2B5EF4-FFF2-40B4-BE49-F238E27FC236}">
                <a16:creationId xmlns:a16="http://schemas.microsoft.com/office/drawing/2014/main" id="{A4D99F23-32A8-B17B-B2FC-3AE25FEEC1C4}"/>
              </a:ext>
            </a:extLst>
          </p:cNvPr>
          <p:cNvPicPr>
            <a:picLocks noChangeAspect="1"/>
          </p:cNvPicPr>
          <p:nvPr/>
        </p:nvPicPr>
        <p:blipFill>
          <a:blip r:embed="rId20"/>
          <a:srcRect/>
          <a:stretch/>
        </p:blipFill>
        <p:spPr>
          <a:xfrm>
            <a:off x="4297300" y="2230080"/>
            <a:ext cx="490256" cy="190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4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7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7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1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1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713"/>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68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6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72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723"/>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5"/>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2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2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37"/>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4"/>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0" grpId="0"/>
      <p:bldP spid="670" grpId="0"/>
      <p:bldP spid="672" grpId="0"/>
      <p:bldP spid="681" grpId="0"/>
      <p:bldP spid="4" grpId="0"/>
      <p:bldP spid="37" grpId="0" animBg="1"/>
      <p:bldP spid="647" grpId="0"/>
      <p:bldP spid="677" grpId="0"/>
      <p:bldP spid="682" grpId="0"/>
    </p:bldLst>
  </p:timing>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2357</Words>
  <Application>Microsoft Office PowerPoint</Application>
  <PresentationFormat>On-screen Show (16:9)</PresentationFormat>
  <Paragraphs>294</Paragraphs>
  <Slides>17</Slides>
  <Notes>16</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17</vt:i4>
      </vt:variant>
    </vt:vector>
  </HeadingPairs>
  <TitlesOfParts>
    <vt:vector size="29" baseType="lpstr">
      <vt:lpstr>Aptos</vt:lpstr>
      <vt:lpstr>Arial</vt:lpstr>
      <vt:lpstr>Consolas</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430</cp:revision>
  <dcterms:modified xsi:type="dcterms:W3CDTF">2026-09-16T18:56:54Z</dcterms:modified>
</cp:coreProperties>
</file>